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Chào mừng các bạn đến với bài giảng về Redis và NoSQL Database. Hôm nay chúng ta sẽ tìm hiểu lý thuyết nền tảng về NoSQL từ Chương 3, sau đó thực hành trực tiếp với Redis.</a:t>
            </a:r>
          </a:p>
          <a:p>
            <a:r>
              <a:rPr lang="zh-CN" dirty="0"/>
              <a:t>Yếu điểm: ① Giới thiệu bài giảng ② Mục tiêu buổi học</a:t>
            </a:r>
          </a:p>
          <a:p>
            <a:r>
              <a:rPr lang="zh-CN" dirty="0"/>
              <a:t>Thời lượng: 1 phút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Trước tiên, hãy xem tổng quan nội dung hôm nay. Bài giảng gồm 4 phần chính: lý thuyết NoSQL cơ bản, lý thuyết nâng cao, cài đặt phần mềm Redis, và demo thực hành.</a:t>
            </a:r>
          </a:p>
          <a:p>
            <a:r>
              <a:rPr lang="zh-CN" dirty="0"/>
              <a:t>Yếu điểm: ① 4 phần nội dung ② Thời lượng khoảng 60 phút</a:t>
            </a:r>
          </a:p>
          <a:p>
            <a:r>
              <a:rPr lang="zh-CN" dirty="0"/>
              <a:t>Thời lượng: 1 phút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Bắt đầu với phần 1 — NoSQL là gì? NoSQL không phải "No SQL" mà là "Not Only SQL". Đây là một lớp CSDL không theo mô hình quan hệ, thiết kế cho dữ liệu lớn và đa dạng. Có 4 loại chính, và Redis thuộc loại Key-Value Store — đơn giản nhất nhưng hiệu quả nhất.</a:t>
            </a:r>
          </a:p>
          <a:p>
            <a:r>
              <a:rPr lang="zh-CN" dirty="0"/>
              <a:t>Yếu điểm: ① NoSQL = Not Only SQL ② 4 loại: Key-Value, Column, Document, Graph ③ Redis = Key-Value + CP</a:t>
            </a:r>
          </a:p>
          <a:p>
            <a:r>
              <a:rPr lang="zh-CN" dirty="0"/>
              <a:t>Thời lượng: 3 phút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Vậy tại sao cần NoSQL? Hãy xem hạn chế của RDBMS truyền thống bên trái — chỉ xử lý dữ liệu có cấu trúc, mở rộng đắt đỏ, schema cứng nhắc. Bên phải là ưu điểm của NoSQL và đặc biệt là Redis — tốc độ cực nhanh do lưu trên RAM, độ trễ micro giây.</a:t>
            </a:r>
          </a:p>
          <a:p>
            <a:r>
              <a:rPr lang="zh-CN" dirty="0"/>
              <a:t>Yếu điểm: ① Hạn chế RDBMS ② Ưu điểm NoSQL ③ Lý do chọn Redis</a:t>
            </a:r>
          </a:p>
          <a:p>
            <a:r>
              <a:rPr lang="zh-CN" dirty="0"/>
              <a:t>Thời lượng: 3 phút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Bây giờ đến phần quan trọng — Định lý CAP. Do Eric Brewer đề xuất, định lý nói rằng một hệ phân tán chỉ có thể đạt 2 trong 3 tính chất: Consistency, Availability, và Partition Tolerance. Redis thuộc nhóm CP — ưu tiên nhất quán và chịu lỗi phân vùng.</a:t>
            </a:r>
          </a:p>
          <a:p>
            <a:r>
              <a:rPr lang="zh-CN" dirty="0"/>
              <a:t>Yếu điểm: ① C, A, P là gì ② Chỉ đạt 2/3 ③ Redis = CP</a:t>
            </a:r>
          </a:p>
          <a:p>
            <a:r>
              <a:rPr lang="zh-CN" dirty="0"/>
              <a:t>Thời lượng: 4 phút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Hãy xem cụ thể hơn — database nào thuộc nhóm nào. CA gồm các RDBMS truyền thống. CP có Redis, MongoDB, HBase. AP có Cassandra, DynamoDB — ưu tiên khả dụng. Lưu ý Redis được đánh dấu đỏ ở nhóm CP.</a:t>
            </a:r>
          </a:p>
          <a:p>
            <a:r>
              <a:rPr lang="zh-CN" dirty="0"/>
              <a:t>Yếu điểm: ① CA = RDBMS ② CP = Redis, MongoDB ③ AP = Cassandra</a:t>
            </a:r>
          </a:p>
          <a:p>
            <a:r>
              <a:rPr lang="zh-CN" dirty="0"/>
              <a:t>Thời lượng: 2 phút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Tiếp theo là ACID — 4 tính chất đảm bảo giao dịch tin cậy. Atomicity — tất cả hoặc không. Consistency — luôn nhất quán. Isolation — cô lập giữa các giao dịch. Durability — bền vững sau commit.</a:t>
            </a:r>
          </a:p>
          <a:p>
            <a:r>
              <a:rPr lang="zh-CN" dirty="0"/>
              <a:t>Yếu điểm: ① A-C-I-D giải thích ② Ví dụ cho mỗi tính chất</a:t>
            </a:r>
          </a:p>
          <a:p>
            <a:r>
              <a:rPr lang="zh-CN" dirty="0"/>
              <a:t>Thời lượng: 3 phút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So sánh ACID giữa RDBMS và Redis. RDBMS đảm bảo đầy đủ cả 4 tính chất. Redis hỗ trợ một phần — Atomicity qua MULTI/EXEC, Isolation tự nhiên nhờ single-threaded, Durability tùy chọn RDB/AOF. Redis theo mô hình BASE thay vì ACID.</a:t>
            </a:r>
          </a:p>
          <a:p>
            <a:r>
              <a:rPr lang="zh-CN" dirty="0"/>
              <a:t>Yếu điểm: ① RDBMS = full ACID ② Redis = partial ACID ③ Redis dùng BASE</a:t>
            </a:r>
          </a:p>
          <a:p>
            <a:r>
              <a:rPr lang="zh-CN" dirty="0"/>
              <a:t>Thời lượng: 3 phút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Và đây là BASE — mô hình đối lập với ACID. BA = Basically Available — luôn sẵn sàng. S = Soft State — dữ liệu có thể chưa đồng bộ ngay. E = Eventual Consistency — cuối cùng sẽ nhất quán. Mỗi tính chất đều có ví dụ cụ thể với Redis.</a:t>
            </a:r>
          </a:p>
          <a:p>
            <a:r>
              <a:rPr lang="zh-CN" dirty="0"/>
              <a:t>Yếu điểm: ① BA, S, E giải thích ② Ví dụ Redis cho mỗi tính chất</a:t>
            </a:r>
          </a:p>
          <a:p>
            <a:r>
              <a:rPr lang="zh-CN" dirty="0"/>
              <a:t>Thời lượng: 3 phút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So sánh trực tiếp ACID và BASE. ACID nhất quán ngay, bi quan, cứng nhắc, mở rộng dọc. BASE eventual consistency, lạc quan, linh hoạt, mở rộng ngang. Mỗi mô hình phù hợp cho các bài toán khác nhau.</a:t>
            </a:r>
          </a:p>
          <a:p>
            <a:r>
              <a:rPr lang="zh-CN" dirty="0"/>
              <a:t>Yếu điểm: ① 5 điểm so sánh ② Khi nào dùng ACID vs BASE</a:t>
            </a:r>
          </a:p>
          <a:p>
            <a:r>
              <a:rPr lang="zh-CN" dirty="0"/>
              <a:t>Thời lượng: 2 phút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Bảng so sánh chi tiết NoSQL vs RDBMS theo 7 tiêu chí. Đây là kiến thức nền tảng quan trọng — hãy ghi nhớ sự khác biệt về cấu trúc, transaction, và khả năng mở rộng.</a:t>
            </a:r>
          </a:p>
          <a:p>
            <a:r>
              <a:rPr lang="zh-CN" dirty="0"/>
              <a:t>Yếu điểm: ① 7 tiêu chí so sánh ② Điểm mạnh mỗi bên</a:t>
            </a:r>
          </a:p>
          <a:p>
            <a:r>
              <a:rPr lang="zh-CN" dirty="0"/>
              <a:t>Thời lượng: 2 phút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4 loại NoSQL — Key-Value (Redis), Column-Store (Cassandra), Document (MongoDB), Graph (Neo4J). Mỗi loại phù hợp cho bài toán khác nhau. Redis là Key-Value — đơn giản nhất, nhanh nhất, đa dụng nhất.</a:t>
            </a:r>
          </a:p>
          <a:p>
            <a:r>
              <a:rPr lang="zh-CN" dirty="0"/>
              <a:t>Yếu điểm: ① 4 loại NoSQL ② Redis = Key-Value Store ③ Ứng dụng mỗi loại</a:t>
            </a:r>
          </a:p>
          <a:p>
            <a:r>
              <a:rPr lang="zh-CN" dirty="0"/>
              <a:t>Thời lượng: 3 phút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Khi nào dùng Redis, khi nào dùng RDBMS? Redis phù hợp cho cache, session, real-time, ranking. RDBMS phù hợp cho giao dịch tài chính, dữ liệu quan hệ phức tạp, kiểm toán.</a:t>
            </a:r>
          </a:p>
          <a:p>
            <a:r>
              <a:rPr lang="zh-CN" dirty="0"/>
              <a:t>Yếu điểm: ① 6 trường hợp dùng Redis ② 5 trường hợp dùng RDBMS</a:t>
            </a:r>
          </a:p>
          <a:p>
            <a:r>
              <a:rPr lang="zh-CN" dirty="0"/>
              <a:t>Thời lượng: 2 phút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Sang phần 3 — Cài đặt Redis. Cách đơn giản nhất là dùng Docker. 3 bước: cài Docker Desktop, pull và run Redis container, kết nối bằng redis-cli. Khi thấy PONG là thành công.</a:t>
            </a:r>
          </a:p>
          <a:p>
            <a:r>
              <a:rPr lang="zh-CN" dirty="0"/>
              <a:t>Yếu điểm: ① 3 bước cài đặt ② docker run command ③ PING → PONG</a:t>
            </a:r>
          </a:p>
          <a:p>
            <a:r>
              <a:rPr lang="zh-CN" dirty="0"/>
              <a:t>Thời lượng: 3 phút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Ngoài Docker, các bạn có thể cài trực tiếp trên WSL2, macOS bằng Homebrew, hoặc Linux bằng apt. Lệnh đều đơn giản.</a:t>
            </a:r>
          </a:p>
          <a:p>
            <a:r>
              <a:rPr lang="zh-CN" dirty="0"/>
              <a:t>Yếu điểm: ① WSL2 cho Windows ② Homebrew cho macOS ③ apt cho Linux</a:t>
            </a:r>
          </a:p>
          <a:p>
            <a:r>
              <a:rPr lang="zh-CN" dirty="0"/>
              <a:t>Thời lượng: 2 phút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Để làm việc dễ dàng hơn, dùng GUI tools. RedisInsight là công cụ chính thức miễn phí. Bên phải là cấu hình redis.conf — port, mật khẩu, giới hạn RAM, persistence.</a:t>
            </a:r>
          </a:p>
          <a:p>
            <a:r>
              <a:rPr lang="zh-CN" dirty="0"/>
              <a:t>Yếu điểm: ① RedisInsight ② redis.conf cấu hình quan trọng</a:t>
            </a:r>
          </a:p>
          <a:p>
            <a:r>
              <a:rPr lang="zh-CN" dirty="0"/>
              <a:t>Thời lượng: 2 phút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Bây giờ sang phần demo! Redis hỗ trợ 5 kiểu dữ liệu chính: String, Hash, List, Set, và Sorted Set. Mỗi kiểu phù hợp cho bài toán khác nhau.</a:t>
            </a:r>
          </a:p>
          <a:p>
            <a:r>
              <a:rPr lang="zh-CN" dirty="0"/>
              <a:t>Yếu điểm: ① 5 kiểu dữ liệu ② Ứng dụng mỗi kiểu ③ Lệnh chính</a:t>
            </a:r>
          </a:p>
          <a:p>
            <a:r>
              <a:rPr lang="zh-CN" dirty="0"/>
              <a:t>Thời lượng: 2 phút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Demo String — kiểu cơ bản nhất. SET/GET để lưu và đọc. EX để đặt thời gian hết hạn. INCR/DECRBY để tăng giảm số. MSET/MGET để thao tác nhiều key cùng lúc.</a:t>
            </a:r>
          </a:p>
          <a:p>
            <a:r>
              <a:rPr lang="zh-CN" dirty="0"/>
              <a:t>Yếu điểm: ① SET/GET cơ bản ② TTL hết hạn ③ INCR đếm ④ MSET/MGET</a:t>
            </a:r>
          </a:p>
          <a:p>
            <a:r>
              <a:rPr lang="zh-CN" dirty="0"/>
              <a:t>Thời lượng: 3 phút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Demo Hash — lưu trữ object tương tự row trong RDBMS. HSET tạo nhiều field cùng lúc. HGETALL lấy tất cả. HINCRBY tăng giá trị số trong field. Rất hữu ích cho user profile, product info.</a:t>
            </a:r>
          </a:p>
          <a:p>
            <a:r>
              <a:rPr lang="zh-CN" dirty="0"/>
              <a:t>Yếu điểm: ① HSET/HGET/HGETALL ② So sánh với RDBMS row ③ HINCRBY</a:t>
            </a:r>
          </a:p>
          <a:p>
            <a:r>
              <a:rPr lang="zh-CN" dirty="0"/>
              <a:t>Thời lượng: 3 phút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Demo List — danh sách có thứ tự. LPUSH thêm đầu, RPUSH thêm cuối. LPOP/RPOP lấy và xóa. Ứng dụng quan trọng nhất là Message Queue — Producer RPUSH, Consumer LPOP.</a:t>
            </a:r>
          </a:p>
          <a:p>
            <a:r>
              <a:rPr lang="zh-CN" dirty="0"/>
              <a:t>Yếu điểm: ① LPUSH/RPUSH ② LPOP/RPOP ③ Message Queue FIFO</a:t>
            </a:r>
          </a:p>
          <a:p>
            <a:r>
              <a:rPr lang="zh-CN" dirty="0"/>
              <a:t>Thời lượng: 3 phút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Set không trùng lặp — dùng cho tags, unique visitors. Phép toán SINTER (giao), SUNION (hợp), SDIFF (hiệu). Sorted Set thêm điểm số — hoàn hảo cho leaderboard, bảng xếp hạng.</a:t>
            </a:r>
          </a:p>
          <a:p>
            <a:r>
              <a:rPr lang="zh-CN" dirty="0"/>
              <a:t>Yếu điểm: ① Set và phép toán tập hợp ② Sorted Set cho ranking ③ ZREVRANGE top N</a:t>
            </a:r>
          </a:p>
          <a:p>
            <a:r>
              <a:rPr lang="zh-CN" dirty="0"/>
              <a:t>Thời lượng: 3 phút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Pub/Sub — messaging real-time giữa publisher và subscriber. Transaction MULTI/EXEC — nhóm lệnh thực thi atomic, giống chuyển tiền từ A sang B.</a:t>
            </a:r>
          </a:p>
          <a:p>
            <a:r>
              <a:rPr lang="zh-CN" dirty="0"/>
              <a:t>Yếu điểm: ① Pub/Sub messaging ② MULTI/EXEC transaction ③ Atomic execution</a:t>
            </a:r>
          </a:p>
          <a:p>
            <a:r>
              <a:rPr lang="zh-CN" dirty="0"/>
              <a:t>Thời lượng: 3 phút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3 ứng dụng thực tế phổ biến nhất. Session Store — lưu session với TTL. Rate Limiting — giới hạn request bằng INCR + EXPIRE. Cache Query — giảm tải database bằng cache.</a:t>
            </a:r>
          </a:p>
          <a:p>
            <a:r>
              <a:rPr lang="zh-CN" dirty="0"/>
              <a:t>Yếu điểm: ① Session Store ② Rate Limiting ③ Cache Query</a:t>
            </a:r>
          </a:p>
          <a:p>
            <a:r>
              <a:rPr lang="zh-CN" dirty="0"/>
              <a:t>Thời lượng: 3 phút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Bảng tổng kết tất cả lệnh Redis quan trọng — 9 nhóm, hơn 40 lệnh. Đây là tài liệu tham khảo nhanh khi làm việc với Redis.</a:t>
            </a:r>
          </a:p>
          <a:p>
            <a:r>
              <a:rPr lang="zh-CN" dirty="0"/>
              <a:t>Yếu điểm: ① 9 nhóm lệnh ② Lệnh chính mỗi nhóm ③ Chức năng</a:t>
            </a:r>
          </a:p>
          <a:p>
            <a:r>
              <a:rPr lang="zh-CN" dirty="0"/>
              <a:t>Thời lượng: 2 phút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Cuối cùng là câu hỏi ôn tập. 7 câu hỏi bao phủ toàn bộ nội dung hôm nay. Cảm ơn các bạn đã tham gia buổi học!</a:t>
            </a:r>
          </a:p>
          <a:p>
            <a:r>
              <a:rPr lang="zh-CN" dirty="0"/>
              <a:t>Yếu điểm: ① 7 câu hỏi ôn tập ② Q&amp;A</a:t>
            </a:r>
          </a:p>
          <a:p>
            <a:r>
              <a:rPr lang="zh-CN" dirty="0"/>
              <a:t>Thời lượng: 2 phút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B4DA2"/>
              </a:gs>
              <a:gs pos="60000">
                <a:srgbClr val="093D82"/>
              </a:gs>
              <a:gs pos="100000">
                <a:srgbClr val="071F4A"/>
              </a:gs>
            </a:gsLst>
            <a:lin ang="2700000" scaled="1"/>
          </a:gradFill>
          <a:ln>
            <a:noFill/>
          </a:ln>
        </p:spPr>
      </p:sp>
      <p:sp>
        <p:nvSpPr>
          <p:cNvPr id="3" name="Ellipse 3"/>
          <p:cNvSpPr/>
          <p:nvPr/>
        </p:nvSpPr>
        <p:spPr>
          <a:xfrm>
            <a:off x="8572500" y="-476250"/>
            <a:ext cx="3810000" cy="3810000"/>
          </a:xfrm>
          <a:prstGeom prst="ellipse">
            <a:avLst/>
          </a:prstGeom>
          <a:solidFill>
            <a:srgbClr val="006AF9">
              <a:alpha val="8000"/>
            </a:srgbClr>
          </a:solidFill>
          <a:ln>
            <a:noFill/>
          </a:ln>
        </p:spPr>
      </p:sp>
      <p:sp>
        <p:nvSpPr>
          <p:cNvPr id="4" name="Ellipse 4"/>
          <p:cNvSpPr/>
          <p:nvPr/>
        </p:nvSpPr>
        <p:spPr>
          <a:xfrm>
            <a:off x="9810750" y="762000"/>
            <a:ext cx="2286000" cy="2286000"/>
          </a:xfrm>
          <a:prstGeom prst="ellipse">
            <a:avLst/>
          </a:prstGeom>
          <a:solidFill>
            <a:srgbClr val="006AF9">
              <a:alpha val="6000"/>
            </a:srgbClr>
          </a:solidFill>
          <a:ln>
            <a:noFill/>
          </a:ln>
        </p:spPr>
      </p:sp>
      <p:sp>
        <p:nvSpPr>
          <p:cNvPr id="5" name="Ellipse 5"/>
          <p:cNvSpPr/>
          <p:nvPr/>
        </p:nvSpPr>
        <p:spPr>
          <a:xfrm>
            <a:off x="190500" y="4191000"/>
            <a:ext cx="3048000" cy="3048000"/>
          </a:xfrm>
          <a:prstGeom prst="ellipse">
            <a:avLst/>
          </a:prstGeom>
          <a:solidFill>
            <a:srgbClr val="D12B1F">
              <a:alpha val="6000"/>
            </a:srgbClr>
          </a:solidFill>
          <a:ln>
            <a:noFill/>
          </a:ln>
        </p:spPr>
      </p:sp>
      <p:sp>
        <p:nvSpPr>
          <p:cNvPr id="6" name="Freeform 6"/>
          <p:cNvSpPr/>
          <p:nvPr/>
        </p:nvSpPr>
        <p:spPr>
          <a:xfrm>
            <a:off x="571500" y="2667000"/>
            <a:ext cx="762000" cy="38100"/>
          </a:xfrm>
          <a:custGeom>
            <a:avLst/>
            <a:gdLst/>
            <a:ahLst/>
            <a:cxnLst/>
            <a:rect l="l" t="t" r="r" b="b"/>
            <a:pathLst>
              <a:path w="762000" h="38100">
                <a:moveTo>
                  <a:pt x="19050" y="0"/>
                </a:moveTo>
                <a:lnTo>
                  <a:pt x="742950" y="0"/>
                </a:lnTo>
                <a:cubicBezTo>
                  <a:pt x="753471" y="0"/>
                  <a:pt x="762000" y="8529"/>
                  <a:pt x="762000" y="19050"/>
                </a:cubicBezTo>
                <a:lnTo>
                  <a:pt x="762000" y="19050"/>
                </a:lnTo>
                <a:cubicBezTo>
                  <a:pt x="762000" y="29571"/>
                  <a:pt x="753471" y="38100"/>
                  <a:pt x="742950" y="38100"/>
                </a:cubicBezTo>
                <a:lnTo>
                  <a:pt x="19050" y="38100"/>
                </a:lnTo>
                <a:cubicBezTo>
                  <a:pt x="8529" y="38100"/>
                  <a:pt x="0" y="29571"/>
                  <a:pt x="0" y="19050"/>
                </a:cubicBezTo>
                <a:lnTo>
                  <a:pt x="0" y="19050"/>
                </a:lnTo>
                <a:cubicBezTo>
                  <a:pt x="0" y="8529"/>
                  <a:pt x="8529" y="0"/>
                  <a:pt x="19050" y="0"/>
                </a:cubicBezTo>
                <a:close/>
              </a:path>
            </a:pathLst>
          </a:custGeom>
          <a:gradFill>
            <a:gsLst>
              <a:gs pos="0">
                <a:srgbClr val="D12B1F"/>
              </a:gs>
              <a:gs pos="100000">
                <a:srgbClr val="FF6B35"/>
              </a:gs>
            </a:gsLst>
            <a:lin ang="0" scaled="1"/>
          </a:gradFill>
          <a:ln>
            <a:noFill/>
          </a:ln>
        </p:spPr>
      </p:sp>
      <p:sp>
        <p:nvSpPr>
          <p:cNvPr id="7" name="TextBox 7"/>
          <p:cNvSpPr txBox="1"/>
          <p:nvPr/>
        </p:nvSpPr>
        <p:spPr>
          <a:xfrm>
            <a:off x="518160" y="2785110"/>
            <a:ext cx="1716881" cy="853440"/>
          </a:xfrm>
          <a:prstGeom prst="rect">
            <a:avLst/>
          </a:prstGeom>
          <a:noFill/>
          <a:ln>
            <a:noFill/>
          </a:ln>
          <a:effectLst>
            <a:glow rad="152400">
              <a:srgbClr val="006AF9">
                <a:alpha val="30000"/>
              </a:srgbClr>
            </a:glow>
          </a:effectLst>
        </p:spPr>
        <p:txBody>
          <a:bodyPr wrap="none" lIns="0" tIns="0" rIns="0" bIns="0" anchor="t" anchorCtr="0">
            <a:spAutoFit/>
          </a:bodyPr>
          <a:lstStyle/>
          <a:p>
            <a:pPr algn="l"/>
            <a:r>
              <a:rPr lang="zh-CN" sz="4200" b="1" dirty="0">
                <a:solidFill>
                  <a:srgbClr val="FFFFFF"/>
                </a:solidFill>
                <a:latin typeface="Arial"/>
                <a:ea typeface="Microsoft YaHei"/>
                <a:cs typeface="Arial"/>
              </a:rPr>
              <a:t>REDIS</a:t>
            </a:r>
          </a:p>
        </p:txBody>
      </p:sp>
      <p:sp>
        <p:nvSpPr>
          <p:cNvPr id="8" name="TextBox 8"/>
          <p:cNvSpPr txBox="1"/>
          <p:nvPr/>
        </p:nvSpPr>
        <p:spPr>
          <a:xfrm>
            <a:off x="2613660" y="2785110"/>
            <a:ext cx="5581364" cy="853440"/>
          </a:xfrm>
          <a:prstGeom prst="rect">
            <a:avLst/>
          </a:prstGeom>
          <a:noFill/>
          <a:ln>
            <a:noFill/>
          </a:ln>
        </p:spPr>
        <p:txBody>
          <a:bodyPr wrap="none" lIns="0" tIns="0" rIns="0" bIns="0" anchor="t" anchorCtr="0">
            <a:spAutoFit/>
          </a:bodyPr>
          <a:lstStyle/>
          <a:p>
            <a:pPr algn="l"/>
            <a:r>
              <a:rPr lang="zh-CN" sz="4200" b="1" dirty="0">
                <a:solidFill>
                  <a:srgbClr val="FFFFFF"/>
                </a:solidFill>
                <a:latin typeface="Arial"/>
                <a:ea typeface="Microsoft YaHei"/>
                <a:cs typeface="Arial"/>
              </a:rPr>
              <a:t>&amp; NoSQL Database</a:t>
            </a:r>
          </a:p>
        </p:txBody>
      </p:sp>
      <p:sp>
        <p:nvSpPr>
          <p:cNvPr id="9" name="TextBox 9"/>
          <p:cNvSpPr txBox="1"/>
          <p:nvPr/>
        </p:nvSpPr>
        <p:spPr>
          <a:xfrm>
            <a:off x="548640" y="3520440"/>
            <a:ext cx="4212526" cy="365760"/>
          </a:xfrm>
          <a:prstGeom prst="rect">
            <a:avLst/>
          </a:prstGeom>
          <a:noFill/>
          <a:ln>
            <a:noFill/>
          </a:ln>
        </p:spPr>
        <p:txBody>
          <a:bodyPr wrap="none" lIns="0" tIns="0" rIns="0" bIns="0" anchor="t" anchorCtr="0">
            <a:spAutoFit/>
          </a:bodyPr>
          <a:lstStyle/>
          <a:p>
            <a:pPr algn="l"/>
            <a:r>
              <a:rPr lang="zh-CN" sz="1800" dirty="0">
                <a:solidFill>
                  <a:srgbClr val="FFFFFF">
                    <a:alpha val="80000"/>
                  </a:srgbClr>
                </a:solidFill>
                <a:latin typeface="Arial"/>
                <a:ea typeface="Microsoft YaHei"/>
                <a:cs typeface="Arial"/>
              </a:rPr>
              <a:t>Chương 3 — Lý thuyết &amp; Thực hành</a:t>
            </a:r>
          </a:p>
        </p:txBody>
      </p:sp>
      <p:sp>
        <p:nvSpPr>
          <p:cNvPr id="10" name="Freeform 10"/>
          <p:cNvSpPr/>
          <p:nvPr/>
        </p:nvSpPr>
        <p:spPr>
          <a:xfrm>
            <a:off x="571500" y="4000500"/>
            <a:ext cx="4762500" cy="28575"/>
          </a:xfrm>
          <a:custGeom>
            <a:avLst/>
            <a:gdLst/>
            <a:ahLst/>
            <a:cxnLst/>
            <a:rect l="l" t="t" r="r" b="b"/>
            <a:pathLst>
              <a:path w="4762500" h="28575">
                <a:moveTo>
                  <a:pt x="14288" y="0"/>
                </a:moveTo>
                <a:lnTo>
                  <a:pt x="4748212" y="0"/>
                </a:lnTo>
                <a:cubicBezTo>
                  <a:pt x="4756103" y="0"/>
                  <a:pt x="4762500" y="6397"/>
                  <a:pt x="4762500" y="14288"/>
                </a:cubicBezTo>
                <a:lnTo>
                  <a:pt x="4762500" y="14288"/>
                </a:lnTo>
                <a:cubicBezTo>
                  <a:pt x="4762500" y="22178"/>
                  <a:pt x="4756103" y="28575"/>
                  <a:pt x="4748212" y="28575"/>
                </a:cubicBezTo>
                <a:lnTo>
                  <a:pt x="14288" y="28575"/>
                </a:lnTo>
                <a:cubicBezTo>
                  <a:pt x="6397" y="28575"/>
                  <a:pt x="0" y="22178"/>
                  <a:pt x="0" y="14288"/>
                </a:cubicBezTo>
                <a:lnTo>
                  <a:pt x="0" y="14288"/>
                </a:lnTo>
                <a:cubicBezTo>
                  <a:pt x="0" y="6397"/>
                  <a:pt x="6397" y="0"/>
                  <a:pt x="14288" y="0"/>
                </a:cubicBezTo>
                <a:close/>
              </a:path>
            </a:pathLst>
          </a:custGeom>
          <a:gradFill>
            <a:gsLst>
              <a:gs pos="0">
                <a:srgbClr val="D12B1F">
                  <a:alpha val="60000"/>
                </a:srgbClr>
              </a:gs>
              <a:gs pos="100000">
                <a:srgbClr val="FF6B35">
                  <a:alpha val="60000"/>
                </a:srgbClr>
              </a:gs>
            </a:gsLst>
            <a:lin ang="0" scaled="1"/>
          </a:gradFill>
          <a:ln>
            <a:noFill/>
          </a:ln>
        </p:spPr>
      </p:sp>
      <p:sp>
        <p:nvSpPr>
          <p:cNvPr id="11" name="TextBox 11"/>
          <p:cNvSpPr txBox="1"/>
          <p:nvPr/>
        </p:nvSpPr>
        <p:spPr>
          <a:xfrm>
            <a:off x="554355" y="4426268"/>
            <a:ext cx="3060811" cy="274320"/>
          </a:xfrm>
          <a:prstGeom prst="rect">
            <a:avLst/>
          </a:prstGeom>
          <a:noFill/>
          <a:ln>
            <a:noFill/>
          </a:ln>
        </p:spPr>
        <p:txBody>
          <a:bodyPr wrap="none" lIns="0" tIns="0" rIns="0" bIns="0" anchor="t" anchorCtr="0">
            <a:spAutoFit/>
          </a:bodyPr>
          <a:lstStyle/>
          <a:p>
            <a:pPr algn="l"/>
            <a:r>
              <a:rPr lang="zh-CN" sz="1350" dirty="0">
                <a:solidFill>
                  <a:srgbClr val="FFFFFF">
                    <a:alpha val="70000"/>
                  </a:srgbClr>
                </a:solidFill>
                <a:latin typeface="Arial"/>
                <a:ea typeface="Microsoft YaHei"/>
                <a:cs typeface="Arial"/>
              </a:rPr>
              <a:t>Đại học Giao thông Vận tải (UTC)</a:t>
            </a:r>
          </a:p>
        </p:txBody>
      </p:sp>
      <p:sp>
        <p:nvSpPr>
          <p:cNvPr id="12" name="TextBox 12"/>
          <p:cNvSpPr txBox="1"/>
          <p:nvPr/>
        </p:nvSpPr>
        <p:spPr>
          <a:xfrm>
            <a:off x="554355" y="4712018"/>
            <a:ext cx="2232708" cy="274320"/>
          </a:xfrm>
          <a:prstGeom prst="rect">
            <a:avLst/>
          </a:prstGeom>
          <a:noFill/>
          <a:ln>
            <a:noFill/>
          </a:ln>
        </p:spPr>
        <p:txBody>
          <a:bodyPr wrap="none" lIns="0" tIns="0" rIns="0" bIns="0" anchor="t" anchorCtr="0">
            <a:spAutoFit/>
          </a:bodyPr>
          <a:lstStyle/>
          <a:p>
            <a:pPr algn="l"/>
            <a:r>
              <a:rPr lang="zh-CN" sz="1350" dirty="0">
                <a:solidFill>
                  <a:srgbClr val="FFFFFF">
                    <a:alpha val="70000"/>
                  </a:srgbClr>
                </a:solidFill>
                <a:latin typeface="Arial"/>
                <a:ea typeface="Microsoft YaHei"/>
                <a:cs typeface="Arial"/>
              </a:rPr>
              <a:t>Cao học Big Data — 2026</a:t>
            </a:r>
          </a:p>
        </p:txBody>
      </p:sp>
      <p:grpSp>
        <p:nvGrpSpPr>
          <p:cNvPr id="25" name="Group 25"/>
          <p:cNvGrpSpPr/>
          <p:nvPr/>
        </p:nvGrpSpPr>
        <p:grpSpPr>
          <a:xfrm>
            <a:off x="8763000" y="3333750"/>
            <a:ext cx="2476500" cy="1238250"/>
            <a:chOff x="8763000" y="3333750"/>
            <a:chExt cx="2476500" cy="1238250"/>
          </a:xfrm>
        </p:grpSpPr>
        <p:sp>
          <p:nvSpPr>
            <p:cNvPr id="13" name="Freeform 13"/>
            <p:cNvSpPr/>
            <p:nvPr/>
          </p:nvSpPr>
          <p:spPr>
            <a:xfrm>
              <a:off x="8763000" y="3333750"/>
              <a:ext cx="2476500" cy="1238250"/>
            </a:xfrm>
            <a:custGeom>
              <a:avLst/>
              <a:gdLst/>
              <a:ahLst/>
              <a:cxnLst/>
              <a:rect l="l" t="t" r="r" b="b"/>
              <a:pathLst>
                <a:path w="2476500" h="1238250">
                  <a:moveTo>
                    <a:pt x="152400" y="0"/>
                  </a:moveTo>
                  <a:lnTo>
                    <a:pt x="2324100" y="0"/>
                  </a:lnTo>
                  <a:cubicBezTo>
                    <a:pt x="2408268" y="0"/>
                    <a:pt x="2476500" y="68232"/>
                    <a:pt x="2476500" y="152400"/>
                  </a:cubicBezTo>
                  <a:lnTo>
                    <a:pt x="2476500" y="1085850"/>
                  </a:lnTo>
                  <a:cubicBezTo>
                    <a:pt x="2476500" y="1170018"/>
                    <a:pt x="2408268" y="1238250"/>
                    <a:pt x="2324100" y="1238250"/>
                  </a:cubicBezTo>
                  <a:lnTo>
                    <a:pt x="152400" y="1238250"/>
                  </a:lnTo>
                  <a:cubicBezTo>
                    <a:pt x="68232" y="1238250"/>
                    <a:pt x="0" y="1170018"/>
                    <a:pt x="0" y="1085850"/>
                  </a:cubicBezTo>
                  <a:lnTo>
                    <a:pt x="0" y="152400"/>
                  </a:lnTo>
                  <a:cubicBezTo>
                    <a:pt x="0" y="68232"/>
                    <a:pt x="68232" y="0"/>
                    <a:pt x="152400" y="0"/>
                  </a:cubicBezTo>
                  <a:close/>
                </a:path>
              </a:pathLst>
            </a:custGeom>
            <a:solidFill>
              <a:srgbClr val="D12B1F">
                <a:alpha val="15000"/>
              </a:srgbClr>
            </a:solidFill>
            <a:ln>
              <a:noFill/>
            </a:ln>
          </p:spPr>
        </p:sp>
        <p:sp>
          <p:nvSpPr>
            <p:cNvPr id="14" name="Freeform 14"/>
            <p:cNvSpPr/>
            <p:nvPr/>
          </p:nvSpPr>
          <p:spPr>
            <a:xfrm>
              <a:off x="8763000" y="3333750"/>
              <a:ext cx="2476500" cy="1238250"/>
            </a:xfrm>
            <a:custGeom>
              <a:avLst/>
              <a:gdLst/>
              <a:ahLst/>
              <a:cxnLst/>
              <a:rect l="l" t="t" r="r" b="b"/>
              <a:pathLst>
                <a:path w="2476500" h="1238250">
                  <a:moveTo>
                    <a:pt x="152400" y="0"/>
                  </a:moveTo>
                  <a:lnTo>
                    <a:pt x="2324100" y="0"/>
                  </a:lnTo>
                  <a:cubicBezTo>
                    <a:pt x="2408268" y="0"/>
                    <a:pt x="2476500" y="68232"/>
                    <a:pt x="2476500" y="152400"/>
                  </a:cubicBezTo>
                  <a:lnTo>
                    <a:pt x="2476500" y="1085850"/>
                  </a:lnTo>
                  <a:cubicBezTo>
                    <a:pt x="2476500" y="1170018"/>
                    <a:pt x="2408268" y="1238250"/>
                    <a:pt x="2324100" y="1238250"/>
                  </a:cubicBezTo>
                  <a:lnTo>
                    <a:pt x="152400" y="1238250"/>
                  </a:lnTo>
                  <a:cubicBezTo>
                    <a:pt x="68232" y="1238250"/>
                    <a:pt x="0" y="1170018"/>
                    <a:pt x="0" y="1085850"/>
                  </a:cubicBezTo>
                  <a:lnTo>
                    <a:pt x="0" y="152400"/>
                  </a:lnTo>
                  <a:cubicBezTo>
                    <a:pt x="0" y="68232"/>
                    <a:pt x="68232" y="0"/>
                    <a:pt x="152400" y="0"/>
                  </a:cubicBezTo>
                  <a:close/>
                </a:path>
              </a:pathLst>
            </a:custGeom>
            <a:noFill/>
            <a:ln w="14288">
              <a:solidFill>
                <a:srgbClr val="D12B1F">
                  <a:alpha val="40000"/>
                </a:srgbClr>
              </a:solidFill>
            </a:ln>
          </p:spPr>
        </p:sp>
        <p:grpSp>
          <p:nvGrpSpPr>
            <p:cNvPr id="18" name="Group 18"/>
            <p:cNvGrpSpPr/>
            <p:nvPr/>
          </p:nvGrpSpPr>
          <p:grpSpPr>
            <a:xfrm>
              <a:off x="9353550" y="3619500"/>
              <a:ext cx="342900" cy="457200"/>
              <a:chOff x="9353550" y="3619500"/>
              <a:chExt cx="342900" cy="457200"/>
            </a:xfrm>
          </p:grpSpPr>
          <p:sp>
            <p:nvSpPr>
              <p:cNvPr id="15" name="Freeform 15"/>
              <p:cNvSpPr/>
              <p:nvPr/>
            </p:nvSpPr>
            <p:spPr>
              <a:xfrm>
                <a:off x="9353550" y="3802380"/>
                <a:ext cx="342900" cy="131445"/>
              </a:xfrm>
              <a:custGeom>
                <a:avLst/>
                <a:gdLst/>
                <a:ahLst/>
                <a:cxnLst/>
                <a:rect l="l" t="t" r="r" b="b"/>
                <a:pathLst>
                  <a:path w="342900" h="131445">
                    <a:moveTo>
                      <a:pt x="318243" y="14578"/>
                    </a:moveTo>
                    <a:cubicBezTo>
                      <a:pt x="326281" y="10558"/>
                      <a:pt x="334679" y="5709"/>
                      <a:pt x="342900" y="0"/>
                    </a:cubicBezTo>
                    <a:lnTo>
                      <a:pt x="342900" y="45720"/>
                    </a:lnTo>
                    <a:cubicBezTo>
                      <a:pt x="342900" y="93064"/>
                      <a:pt x="266139" y="131445"/>
                      <a:pt x="171450" y="131445"/>
                    </a:cubicBezTo>
                    <a:cubicBezTo>
                      <a:pt x="76761" y="131445"/>
                      <a:pt x="0" y="93064"/>
                      <a:pt x="0" y="45720"/>
                    </a:cubicBezTo>
                    <a:lnTo>
                      <a:pt x="0" y="0"/>
                    </a:lnTo>
                    <a:cubicBezTo>
                      <a:pt x="8222" y="5709"/>
                      <a:pt x="16619" y="10558"/>
                      <a:pt x="24658" y="14578"/>
                    </a:cubicBezTo>
                    <a:cubicBezTo>
                      <a:pt x="65178" y="34838"/>
                      <a:pt x="117157" y="45720"/>
                      <a:pt x="171450" y="45720"/>
                    </a:cubicBezTo>
                    <a:cubicBezTo>
                      <a:pt x="225743" y="45720"/>
                      <a:pt x="277720" y="34838"/>
                      <a:pt x="318243" y="14578"/>
                    </a:cubicBezTo>
                    <a:close/>
                  </a:path>
                </a:pathLst>
              </a:custGeom>
              <a:solidFill>
                <a:srgbClr val="D12B1F"/>
              </a:solidFill>
              <a:ln>
                <a:noFill/>
              </a:ln>
            </p:spPr>
          </p:sp>
          <p:sp>
            <p:nvSpPr>
              <p:cNvPr id="16" name="Freeform 16"/>
              <p:cNvSpPr/>
              <p:nvPr/>
            </p:nvSpPr>
            <p:spPr>
              <a:xfrm>
                <a:off x="9353550" y="3945255"/>
                <a:ext cx="342900" cy="131445"/>
              </a:xfrm>
              <a:custGeom>
                <a:avLst/>
                <a:gdLst/>
                <a:ahLst/>
                <a:cxnLst/>
                <a:rect l="l" t="t" r="r" b="b"/>
                <a:pathLst>
                  <a:path w="342900" h="131445">
                    <a:moveTo>
                      <a:pt x="0" y="0"/>
                    </a:moveTo>
                    <a:lnTo>
                      <a:pt x="0" y="45720"/>
                    </a:lnTo>
                    <a:cubicBezTo>
                      <a:pt x="0" y="93066"/>
                      <a:pt x="76761" y="131445"/>
                      <a:pt x="171450" y="131445"/>
                    </a:cubicBezTo>
                    <a:cubicBezTo>
                      <a:pt x="266139" y="131445"/>
                      <a:pt x="342900" y="93066"/>
                      <a:pt x="342900" y="45720"/>
                    </a:cubicBezTo>
                    <a:lnTo>
                      <a:pt x="342900" y="0"/>
                    </a:lnTo>
                    <a:cubicBezTo>
                      <a:pt x="334679" y="5709"/>
                      <a:pt x="326281" y="10558"/>
                      <a:pt x="318243" y="14579"/>
                    </a:cubicBezTo>
                    <a:cubicBezTo>
                      <a:pt x="277720" y="34839"/>
                      <a:pt x="225743" y="45720"/>
                      <a:pt x="171450" y="45720"/>
                    </a:cubicBezTo>
                    <a:cubicBezTo>
                      <a:pt x="117157" y="45720"/>
                      <a:pt x="65178" y="34839"/>
                      <a:pt x="24658" y="14579"/>
                    </a:cubicBezTo>
                    <a:cubicBezTo>
                      <a:pt x="16619" y="10558"/>
                      <a:pt x="8222" y="5709"/>
                      <a:pt x="0" y="0"/>
                    </a:cubicBezTo>
                    <a:close/>
                  </a:path>
                </a:pathLst>
              </a:custGeom>
              <a:solidFill>
                <a:srgbClr val="D12B1F"/>
              </a:solidFill>
              <a:ln>
                <a:noFill/>
              </a:ln>
            </p:spPr>
          </p:sp>
          <p:sp>
            <p:nvSpPr>
              <p:cNvPr id="17" name="Freeform 17"/>
              <p:cNvSpPr/>
              <p:nvPr/>
            </p:nvSpPr>
            <p:spPr>
              <a:xfrm>
                <a:off x="9353550" y="3619500"/>
                <a:ext cx="342900" cy="171450"/>
              </a:xfrm>
              <a:custGeom>
                <a:avLst/>
                <a:gdLst/>
                <a:ahLst/>
                <a:cxnLst/>
                <a:rect l="l" t="t" r="r" b="b"/>
                <a:pathLst>
                  <a:path w="342900" h="171450">
                    <a:moveTo>
                      <a:pt x="171450" y="0"/>
                    </a:moveTo>
                    <a:cubicBezTo>
                      <a:pt x="266139" y="0"/>
                      <a:pt x="342900" y="38381"/>
                      <a:pt x="342900" y="85725"/>
                    </a:cubicBezTo>
                    <a:cubicBezTo>
                      <a:pt x="342900" y="133069"/>
                      <a:pt x="266139" y="171450"/>
                      <a:pt x="171450" y="171450"/>
                    </a:cubicBezTo>
                    <a:cubicBezTo>
                      <a:pt x="76761" y="171450"/>
                      <a:pt x="0" y="133069"/>
                      <a:pt x="0" y="85725"/>
                    </a:cubicBezTo>
                    <a:cubicBezTo>
                      <a:pt x="0" y="38381"/>
                      <a:pt x="76761" y="0"/>
                      <a:pt x="171450" y="0"/>
                    </a:cubicBezTo>
                    <a:close/>
                  </a:path>
                </a:pathLst>
              </a:custGeom>
              <a:solidFill>
                <a:srgbClr val="D12B1F"/>
              </a:solidFill>
              <a:ln>
                <a:noFill/>
              </a:ln>
            </p:spPr>
          </p:sp>
        </p:grpSp>
        <p:sp>
          <p:nvSpPr>
            <p:cNvPr id="19" name="TextBox 19"/>
            <p:cNvSpPr txBox="1"/>
            <p:nvPr/>
          </p:nvSpPr>
          <p:spPr>
            <a:xfrm>
              <a:off x="9886950" y="3790950"/>
              <a:ext cx="291132" cy="304800"/>
            </a:xfrm>
            <a:prstGeom prst="rect">
              <a:avLst/>
            </a:prstGeom>
            <a:noFill/>
            <a:ln>
              <a:noFill/>
            </a:ln>
          </p:spPr>
          <p:txBody>
            <a:bodyPr wrap="none" lIns="0" tIns="0" rIns="0" bIns="0" anchor="t" anchorCtr="0">
              <a:spAutoFit/>
            </a:bodyPr>
            <a:lstStyle/>
            <a:p>
              <a:pPr algn="l"/>
              <a:r>
                <a:rPr lang="zh-CN" sz="1500" b="1" dirty="0">
                  <a:solidFill>
                    <a:srgbClr val="D12B1F"/>
                  </a:solidFill>
                  <a:latin typeface="Consolas"/>
                  <a:ea typeface="Microsoft YaHei"/>
                  <a:cs typeface="Consolas"/>
                </a:rPr>
                <a:t>RE</a:t>
              </a:r>
            </a:p>
          </p:txBody>
        </p:sp>
        <p:sp>
          <p:nvSpPr>
            <p:cNvPr id="20" name="TextBox 20"/>
            <p:cNvSpPr txBox="1"/>
            <p:nvPr/>
          </p:nvSpPr>
          <p:spPr>
            <a:xfrm>
              <a:off x="10210800" y="3790950"/>
              <a:ext cx="59016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onsolas"/>
                  <a:ea typeface="Microsoft YaHei"/>
                  <a:cs typeface="Consolas"/>
                </a:rPr>
                <a:t>mote</a:t>
              </a:r>
            </a:p>
          </p:txBody>
        </p:sp>
        <p:sp>
          <p:nvSpPr>
            <p:cNvPr id="21" name="TextBox 21"/>
            <p:cNvSpPr txBox="1"/>
            <p:nvPr/>
          </p:nvSpPr>
          <p:spPr>
            <a:xfrm>
              <a:off x="9886950" y="4029075"/>
              <a:ext cx="233624" cy="304800"/>
            </a:xfrm>
            <a:prstGeom prst="rect">
              <a:avLst/>
            </a:prstGeom>
            <a:noFill/>
            <a:ln>
              <a:noFill/>
            </a:ln>
          </p:spPr>
          <p:txBody>
            <a:bodyPr wrap="none" lIns="0" tIns="0" rIns="0" bIns="0" anchor="t" anchorCtr="0">
              <a:spAutoFit/>
            </a:bodyPr>
            <a:lstStyle/>
            <a:p>
              <a:pPr algn="l"/>
              <a:r>
                <a:rPr lang="zh-CN" sz="1500" b="1" dirty="0">
                  <a:solidFill>
                    <a:srgbClr val="D12B1F"/>
                  </a:solidFill>
                  <a:latin typeface="Consolas"/>
                  <a:ea typeface="Microsoft YaHei"/>
                  <a:cs typeface="Consolas"/>
                </a:rPr>
                <a:t>DI</a:t>
              </a:r>
            </a:p>
          </p:txBody>
        </p:sp>
        <p:sp>
          <p:nvSpPr>
            <p:cNvPr id="22" name="TextBox 22"/>
            <p:cNvSpPr txBox="1"/>
            <p:nvPr/>
          </p:nvSpPr>
          <p:spPr>
            <a:xfrm>
              <a:off x="10153650" y="4029075"/>
              <a:ext cx="99271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onsolas"/>
                  <a:ea typeface="Microsoft YaHei"/>
                  <a:cs typeface="Consolas"/>
                </a:rPr>
                <a:t>ctionary</a:t>
              </a:r>
            </a:p>
          </p:txBody>
        </p:sp>
        <p:sp>
          <p:nvSpPr>
            <p:cNvPr id="23" name="TextBox 23"/>
            <p:cNvSpPr txBox="1"/>
            <p:nvPr/>
          </p:nvSpPr>
          <p:spPr>
            <a:xfrm>
              <a:off x="9886950" y="4267200"/>
              <a:ext cx="164616" cy="304800"/>
            </a:xfrm>
            <a:prstGeom prst="rect">
              <a:avLst/>
            </a:prstGeom>
            <a:noFill/>
            <a:ln>
              <a:noFill/>
            </a:ln>
          </p:spPr>
          <p:txBody>
            <a:bodyPr wrap="none" lIns="0" tIns="0" rIns="0" bIns="0" anchor="t" anchorCtr="0">
              <a:spAutoFit/>
            </a:bodyPr>
            <a:lstStyle/>
            <a:p>
              <a:pPr algn="l"/>
              <a:r>
                <a:rPr lang="zh-CN" sz="1500" b="1" dirty="0">
                  <a:solidFill>
                    <a:srgbClr val="D12B1F"/>
                  </a:solidFill>
                  <a:latin typeface="Consolas"/>
                  <a:ea typeface="Microsoft YaHei"/>
                  <a:cs typeface="Consolas"/>
                </a:rPr>
                <a:t>S</a:t>
              </a:r>
            </a:p>
          </p:txBody>
        </p:sp>
        <p:sp>
          <p:nvSpPr>
            <p:cNvPr id="24" name="TextBox 24"/>
            <p:cNvSpPr txBox="1"/>
            <p:nvPr/>
          </p:nvSpPr>
          <p:spPr>
            <a:xfrm>
              <a:off x="10020300" y="4267200"/>
              <a:ext cx="67067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onsolas"/>
                  <a:ea typeface="Microsoft YaHei"/>
                  <a:cs typeface="Consolas"/>
                </a:rPr>
                <a:t>erver</a:t>
              </a:r>
            </a:p>
          </p:txBody>
        </p:sp>
      </p:grpSp>
      <p:sp>
        <p:nvSpPr>
          <p:cNvPr id="26" name="TextBox 26"/>
          <p:cNvSpPr txBox="1"/>
          <p:nvPr/>
        </p:nvSpPr>
        <p:spPr>
          <a:xfrm>
            <a:off x="5075730" y="6475095"/>
            <a:ext cx="2040541" cy="182880"/>
          </a:xfrm>
          <a:prstGeom prst="rect">
            <a:avLst/>
          </a:prstGeom>
          <a:noFill/>
          <a:ln>
            <a:noFill/>
          </a:ln>
        </p:spPr>
        <p:txBody>
          <a:bodyPr wrap="none" lIns="0" tIns="0" rIns="0" bIns="0" anchor="t" anchorCtr="0">
            <a:spAutoFit/>
          </a:bodyPr>
          <a:lstStyle/>
          <a:p>
            <a:pPr algn="ctr"/>
            <a:r>
              <a:rPr lang="zh-CN" sz="900" dirty="0">
                <a:solidFill>
                  <a:srgbClr val="FFFFFF">
                    <a:alpha val="40000"/>
                  </a:srgbClr>
                </a:solidFill>
                <a:latin typeface="Arial"/>
                <a:ea typeface="Microsoft YaHei"/>
                <a:cs typeface="Arial"/>
              </a:rPr>
              <a:t>Môn: Lưu trữ và Xử lý dữ liệu lớn</a:t>
            </a:r>
          </a:p>
        </p:txBody>
      </p:sp>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4219180" y="327660"/>
            <a:ext cx="3753641" cy="548640"/>
          </a:xfrm>
          <a:prstGeom prst="rect">
            <a:avLst/>
          </a:prstGeom>
          <a:noFill/>
          <a:ln>
            <a:noFill/>
          </a:ln>
        </p:spPr>
        <p:txBody>
          <a:bodyPr wrap="none" lIns="0" tIns="0" rIns="0" bIns="0" anchor="t" anchorCtr="0">
            <a:spAutoFit/>
          </a:bodyPr>
          <a:lstStyle/>
          <a:p>
            <a:pPr algn="ctr"/>
            <a:r>
              <a:rPr lang="zh-CN" sz="2700" b="1" dirty="0">
                <a:solidFill>
                  <a:srgbClr val="0B4DA2"/>
                </a:solidFill>
                <a:latin typeface="Arial"/>
                <a:ea typeface="Microsoft YaHei"/>
                <a:cs typeface="Arial"/>
              </a:rPr>
              <a:t>Nội dung trình bày</a:t>
            </a:r>
          </a:p>
        </p:txBody>
      </p:sp>
      <p:sp>
        <p:nvSpPr>
          <p:cNvPr id="5" name="Freeform 5"/>
          <p:cNvSpPr/>
          <p:nvPr/>
        </p:nvSpPr>
        <p:spPr>
          <a:xfrm>
            <a:off x="5429250" y="742950"/>
            <a:ext cx="1333500" cy="28575"/>
          </a:xfrm>
          <a:custGeom>
            <a:avLst/>
            <a:gdLst/>
            <a:ahLst/>
            <a:cxnLst/>
            <a:rect l="l" t="t" r="r" b="b"/>
            <a:pathLst>
              <a:path w="1333500" h="28575">
                <a:moveTo>
                  <a:pt x="14288" y="0"/>
                </a:moveTo>
                <a:lnTo>
                  <a:pt x="1319212" y="0"/>
                </a:lnTo>
                <a:cubicBezTo>
                  <a:pt x="1327103" y="0"/>
                  <a:pt x="1333500" y="6397"/>
                  <a:pt x="1333500" y="14288"/>
                </a:cubicBezTo>
                <a:lnTo>
                  <a:pt x="1333500" y="14288"/>
                </a:lnTo>
                <a:cubicBezTo>
                  <a:pt x="1333500" y="22178"/>
                  <a:pt x="1327103" y="28575"/>
                  <a:pt x="1319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grpSp>
        <p:nvGrpSpPr>
          <p:cNvPr id="19" name="Group 19"/>
          <p:cNvGrpSpPr/>
          <p:nvPr/>
        </p:nvGrpSpPr>
        <p:grpSpPr>
          <a:xfrm>
            <a:off x="571500" y="1143000"/>
            <a:ext cx="5334000" cy="2381250"/>
            <a:chOff x="571500" y="1143000"/>
            <a:chExt cx="5334000" cy="2381250"/>
          </a:xfrm>
          <a:effectLst>
            <a:outerShdw blurRad="190500" dist="38100" dir="10799140" algn="tl" rotWithShape="0">
              <a:srgbClr val="000000">
                <a:alpha val="12000"/>
              </a:srgbClr>
            </a:outerShdw>
          </a:effectLst>
        </p:grpSpPr>
        <p:sp>
          <p:nvSpPr>
            <p:cNvPr id="6" name="Freeform 6"/>
            <p:cNvSpPr/>
            <p:nvPr/>
          </p:nvSpPr>
          <p:spPr>
            <a:xfrm>
              <a:off x="571500" y="1143000"/>
              <a:ext cx="5334000" cy="2381250"/>
            </a:xfrm>
            <a:custGeom>
              <a:avLst/>
              <a:gdLst/>
              <a:ahLst/>
              <a:cxnLst/>
              <a:rect l="l" t="t" r="r" b="b"/>
              <a:pathLst>
                <a:path w="5334000" h="2381250">
                  <a:moveTo>
                    <a:pt x="114300" y="0"/>
                  </a:moveTo>
                  <a:lnTo>
                    <a:pt x="5219700" y="0"/>
                  </a:lnTo>
                  <a:cubicBezTo>
                    <a:pt x="5282826" y="0"/>
                    <a:pt x="5334000" y="51174"/>
                    <a:pt x="5334000" y="114300"/>
                  </a:cubicBezTo>
                  <a:lnTo>
                    <a:pt x="5334000" y="2266950"/>
                  </a:lnTo>
                  <a:cubicBezTo>
                    <a:pt x="5334000" y="2330076"/>
                    <a:pt x="5282826" y="2381250"/>
                    <a:pt x="5219700"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1143000"/>
              <a:ext cx="76200" cy="2381250"/>
            </a:xfrm>
            <a:custGeom>
              <a:avLst/>
              <a:gdLst/>
              <a:ahLst/>
              <a:cxnLst/>
              <a:rect l="l" t="t" r="r" b="b"/>
              <a:pathLst>
                <a:path w="76200" h="2381250">
                  <a:moveTo>
                    <a:pt x="38100" y="0"/>
                  </a:moveTo>
                  <a:lnTo>
                    <a:pt x="38100" y="0"/>
                  </a:lnTo>
                  <a:cubicBezTo>
                    <a:pt x="59142" y="0"/>
                    <a:pt x="76200" y="17058"/>
                    <a:pt x="76200" y="38100"/>
                  </a:cubicBezTo>
                  <a:lnTo>
                    <a:pt x="76200" y="2343150"/>
                  </a:lnTo>
                  <a:cubicBezTo>
                    <a:pt x="76200" y="2364192"/>
                    <a:pt x="59142" y="2381250"/>
                    <a:pt x="38100" y="2381250"/>
                  </a:cubicBezTo>
                  <a:lnTo>
                    <a:pt x="38100" y="2381250"/>
                  </a:lnTo>
                  <a:cubicBezTo>
                    <a:pt x="17058" y="2381250"/>
                    <a:pt x="0" y="2364192"/>
                    <a:pt x="0" y="2343150"/>
                  </a:cubicBezTo>
                  <a:lnTo>
                    <a:pt x="0" y="38100"/>
                  </a:lnTo>
                  <a:cubicBezTo>
                    <a:pt x="0" y="17058"/>
                    <a:pt x="17058" y="0"/>
                    <a:pt x="38100"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8" name="Ellipse 8"/>
            <p:cNvSpPr/>
            <p:nvPr/>
          </p:nvSpPr>
          <p:spPr>
            <a:xfrm>
              <a:off x="781050" y="1352550"/>
              <a:ext cx="533400" cy="533400"/>
            </a:xfrm>
            <a:prstGeom prst="ellipse">
              <a:avLst/>
            </a:prstGeom>
            <a:solidFill>
              <a:srgbClr val="0B4DA2">
                <a:alpha val="10000"/>
              </a:srgbClr>
            </a:solidFill>
            <a:ln>
              <a:noFill/>
            </a:ln>
            <a:effectLst>
              <a:outerShdw blurRad="190500" dist="38100" dir="10799140" algn="tl" rotWithShape="0">
                <a:srgbClr val="000000">
                  <a:alpha val="12000"/>
                </a:srgbClr>
              </a:outerShdw>
            </a:effectLst>
          </p:spPr>
        </p:sp>
        <p:sp>
          <p:nvSpPr>
            <p:cNvPr id="9" name="TextBox 9"/>
            <p:cNvSpPr txBox="1"/>
            <p:nvPr/>
          </p:nvSpPr>
          <p:spPr>
            <a:xfrm>
              <a:off x="983485" y="1501140"/>
              <a:ext cx="128530"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0B4DA2"/>
                  </a:solidFill>
                  <a:latin typeface="Arial"/>
                  <a:ea typeface="Microsoft YaHei"/>
                  <a:cs typeface="Arial"/>
                </a:rPr>
                <a:t>1</a:t>
              </a:r>
            </a:p>
          </p:txBody>
        </p:sp>
        <p:sp>
          <p:nvSpPr>
            <p:cNvPr id="10" name="TextBox 10"/>
            <p:cNvSpPr txBox="1"/>
            <p:nvPr/>
          </p:nvSpPr>
          <p:spPr>
            <a:xfrm>
              <a:off x="1455420" y="1517332"/>
              <a:ext cx="2369801"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D3748"/>
                  </a:solidFill>
                  <a:latin typeface="Arial"/>
                  <a:ea typeface="Microsoft YaHei"/>
                  <a:cs typeface="Arial"/>
                </a:rPr>
                <a:t>Lý thuyết 3.1 — 3.4</a:t>
              </a:r>
            </a:p>
          </p:txBody>
        </p:sp>
        <p:sp>
          <p:nvSpPr>
            <p:cNvPr id="11" name="TextBox 11"/>
            <p:cNvSpPr txBox="1"/>
            <p:nvPr/>
          </p:nvSpPr>
          <p:spPr>
            <a:xfrm>
              <a:off x="842010" y="1918335"/>
              <a:ext cx="1537716"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Giới thiệu NoSQL</a:t>
              </a:r>
            </a:p>
          </p:txBody>
        </p:sp>
        <p:sp>
          <p:nvSpPr>
            <p:cNvPr id="12" name="TextBox 12"/>
            <p:cNvSpPr txBox="1"/>
            <p:nvPr/>
          </p:nvSpPr>
          <p:spPr>
            <a:xfrm>
              <a:off x="842010" y="2185035"/>
              <a:ext cx="1774317"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Tại sao cần NoSQL?</a:t>
              </a:r>
            </a:p>
          </p:txBody>
        </p:sp>
        <p:sp>
          <p:nvSpPr>
            <p:cNvPr id="13" name="TextBox 13"/>
            <p:cNvSpPr txBox="1"/>
            <p:nvPr/>
          </p:nvSpPr>
          <p:spPr>
            <a:xfrm>
              <a:off x="842010" y="2451735"/>
              <a:ext cx="2405253"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Định lý CAP (CAP Theorem)</a:t>
              </a:r>
            </a:p>
          </p:txBody>
        </p:sp>
        <p:sp>
          <p:nvSpPr>
            <p:cNvPr id="14" name="TextBox 14"/>
            <p:cNvSpPr txBox="1"/>
            <p:nvPr/>
          </p:nvSpPr>
          <p:spPr>
            <a:xfrm>
              <a:off x="842010" y="2718435"/>
              <a:ext cx="1493901"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ACID Properties</a:t>
              </a:r>
            </a:p>
          </p:txBody>
        </p:sp>
        <p:grpSp>
          <p:nvGrpSpPr>
            <p:cNvPr id="18" name="Group 18"/>
            <p:cNvGrpSpPr/>
            <p:nvPr/>
          </p:nvGrpSpPr>
          <p:grpSpPr>
            <a:xfrm>
              <a:off x="5105400" y="2000250"/>
              <a:ext cx="342900" cy="457200"/>
              <a:chOff x="5105400" y="2000250"/>
              <a:chExt cx="342900" cy="457200"/>
            </a:xfrm>
          </p:grpSpPr>
          <p:sp>
            <p:nvSpPr>
              <p:cNvPr id="15" name="Freeform 15"/>
              <p:cNvSpPr/>
              <p:nvPr/>
            </p:nvSpPr>
            <p:spPr>
              <a:xfrm>
                <a:off x="5105400" y="2183130"/>
                <a:ext cx="342900" cy="131445"/>
              </a:xfrm>
              <a:custGeom>
                <a:avLst/>
                <a:gdLst/>
                <a:ahLst/>
                <a:cxnLst/>
                <a:rect l="l" t="t" r="r" b="b"/>
                <a:pathLst>
                  <a:path w="342900" h="131445">
                    <a:moveTo>
                      <a:pt x="318243" y="14578"/>
                    </a:moveTo>
                    <a:cubicBezTo>
                      <a:pt x="326281" y="10558"/>
                      <a:pt x="334679" y="5709"/>
                      <a:pt x="342900" y="0"/>
                    </a:cubicBezTo>
                    <a:lnTo>
                      <a:pt x="342900" y="45720"/>
                    </a:lnTo>
                    <a:cubicBezTo>
                      <a:pt x="342900" y="93064"/>
                      <a:pt x="266139" y="131445"/>
                      <a:pt x="171450" y="131445"/>
                    </a:cubicBezTo>
                    <a:cubicBezTo>
                      <a:pt x="76761" y="131445"/>
                      <a:pt x="0" y="93064"/>
                      <a:pt x="0" y="45720"/>
                    </a:cubicBezTo>
                    <a:lnTo>
                      <a:pt x="0" y="0"/>
                    </a:lnTo>
                    <a:cubicBezTo>
                      <a:pt x="8222" y="5709"/>
                      <a:pt x="16619" y="10558"/>
                      <a:pt x="24658" y="14578"/>
                    </a:cubicBezTo>
                    <a:cubicBezTo>
                      <a:pt x="65178" y="34838"/>
                      <a:pt x="117157" y="45720"/>
                      <a:pt x="171450" y="45720"/>
                    </a:cubicBezTo>
                    <a:cubicBezTo>
                      <a:pt x="225743" y="45720"/>
                      <a:pt x="277720" y="34838"/>
                      <a:pt x="318243" y="14578"/>
                    </a:cubicBezTo>
                    <a:close/>
                  </a:path>
                </a:pathLst>
              </a:custGeom>
              <a:solidFill>
                <a:srgbClr val="0B4DA2"/>
              </a:solidFill>
              <a:ln>
                <a:noFill/>
              </a:ln>
              <a:effectLst>
                <a:outerShdw blurRad="190500" dist="38100" dir="10799140" algn="tl" rotWithShape="0">
                  <a:srgbClr val="000000">
                    <a:alpha val="12000"/>
                  </a:srgbClr>
                </a:outerShdw>
              </a:effectLst>
            </p:spPr>
          </p:sp>
          <p:sp>
            <p:nvSpPr>
              <p:cNvPr id="16" name="Freeform 16"/>
              <p:cNvSpPr/>
              <p:nvPr/>
            </p:nvSpPr>
            <p:spPr>
              <a:xfrm>
                <a:off x="5105400" y="2326005"/>
                <a:ext cx="342900" cy="131445"/>
              </a:xfrm>
              <a:custGeom>
                <a:avLst/>
                <a:gdLst/>
                <a:ahLst/>
                <a:cxnLst/>
                <a:rect l="l" t="t" r="r" b="b"/>
                <a:pathLst>
                  <a:path w="342900" h="131445">
                    <a:moveTo>
                      <a:pt x="0" y="0"/>
                    </a:moveTo>
                    <a:lnTo>
                      <a:pt x="0" y="45720"/>
                    </a:lnTo>
                    <a:cubicBezTo>
                      <a:pt x="0" y="93066"/>
                      <a:pt x="76761" y="131445"/>
                      <a:pt x="171450" y="131445"/>
                    </a:cubicBezTo>
                    <a:cubicBezTo>
                      <a:pt x="266139" y="131445"/>
                      <a:pt x="342900" y="93066"/>
                      <a:pt x="342900" y="45720"/>
                    </a:cubicBezTo>
                    <a:lnTo>
                      <a:pt x="342900" y="0"/>
                    </a:lnTo>
                    <a:cubicBezTo>
                      <a:pt x="334679" y="5709"/>
                      <a:pt x="326281" y="10558"/>
                      <a:pt x="318243" y="14579"/>
                    </a:cubicBezTo>
                    <a:cubicBezTo>
                      <a:pt x="277720" y="34839"/>
                      <a:pt x="225743" y="45720"/>
                      <a:pt x="171450" y="45720"/>
                    </a:cubicBezTo>
                    <a:cubicBezTo>
                      <a:pt x="117157" y="45720"/>
                      <a:pt x="65178" y="34839"/>
                      <a:pt x="24658" y="14579"/>
                    </a:cubicBezTo>
                    <a:cubicBezTo>
                      <a:pt x="16619" y="10558"/>
                      <a:pt x="8222" y="5709"/>
                      <a:pt x="0"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17" name="Freeform 17"/>
              <p:cNvSpPr/>
              <p:nvPr/>
            </p:nvSpPr>
            <p:spPr>
              <a:xfrm>
                <a:off x="5105400" y="2000250"/>
                <a:ext cx="342900" cy="171450"/>
              </a:xfrm>
              <a:custGeom>
                <a:avLst/>
                <a:gdLst/>
                <a:ahLst/>
                <a:cxnLst/>
                <a:rect l="l" t="t" r="r" b="b"/>
                <a:pathLst>
                  <a:path w="342900" h="171450">
                    <a:moveTo>
                      <a:pt x="171450" y="0"/>
                    </a:moveTo>
                    <a:cubicBezTo>
                      <a:pt x="266139" y="0"/>
                      <a:pt x="342900" y="38381"/>
                      <a:pt x="342900" y="85725"/>
                    </a:cubicBezTo>
                    <a:cubicBezTo>
                      <a:pt x="342900" y="133069"/>
                      <a:pt x="266139" y="171450"/>
                      <a:pt x="171450" y="171450"/>
                    </a:cubicBezTo>
                    <a:cubicBezTo>
                      <a:pt x="76761" y="171450"/>
                      <a:pt x="0" y="133069"/>
                      <a:pt x="0" y="85725"/>
                    </a:cubicBezTo>
                    <a:cubicBezTo>
                      <a:pt x="0" y="38381"/>
                      <a:pt x="76761" y="0"/>
                      <a:pt x="171450" y="0"/>
                    </a:cubicBezTo>
                    <a:close/>
                  </a:path>
                </a:pathLst>
              </a:custGeom>
              <a:solidFill>
                <a:srgbClr val="0B4DA2"/>
              </a:solidFill>
              <a:ln>
                <a:noFill/>
              </a:ln>
              <a:effectLst>
                <a:outerShdw blurRad="190500" dist="38100" dir="10799140" algn="tl" rotWithShape="0">
                  <a:srgbClr val="000000">
                    <a:alpha val="12000"/>
                  </a:srgbClr>
                </a:outerShdw>
              </a:effectLst>
            </p:spPr>
          </p:sp>
        </p:grpSp>
      </p:grpSp>
      <p:grpSp>
        <p:nvGrpSpPr>
          <p:cNvPr id="33" name="Group 33"/>
          <p:cNvGrpSpPr/>
          <p:nvPr/>
        </p:nvGrpSpPr>
        <p:grpSpPr>
          <a:xfrm>
            <a:off x="6286500" y="1143000"/>
            <a:ext cx="5334000" cy="2381250"/>
            <a:chOff x="6286500" y="1143000"/>
            <a:chExt cx="5334000" cy="2381250"/>
          </a:xfrm>
          <a:effectLst>
            <a:outerShdw blurRad="190500" dist="38100" dir="10799140" algn="tl" rotWithShape="0">
              <a:srgbClr val="000000">
                <a:alpha val="12000"/>
              </a:srgbClr>
            </a:outerShdw>
          </a:effectLst>
        </p:grpSpPr>
        <p:sp>
          <p:nvSpPr>
            <p:cNvPr id="20" name="Freeform 20"/>
            <p:cNvSpPr/>
            <p:nvPr/>
          </p:nvSpPr>
          <p:spPr>
            <a:xfrm>
              <a:off x="6286500" y="1143000"/>
              <a:ext cx="5334000" cy="2381250"/>
            </a:xfrm>
            <a:custGeom>
              <a:avLst/>
              <a:gdLst/>
              <a:ahLst/>
              <a:cxnLst/>
              <a:rect l="l" t="t" r="r" b="b"/>
              <a:pathLst>
                <a:path w="5334000" h="2381250">
                  <a:moveTo>
                    <a:pt x="114300" y="0"/>
                  </a:moveTo>
                  <a:lnTo>
                    <a:pt x="5219700" y="0"/>
                  </a:lnTo>
                  <a:cubicBezTo>
                    <a:pt x="5282826" y="0"/>
                    <a:pt x="5334000" y="51174"/>
                    <a:pt x="5334000" y="114300"/>
                  </a:cubicBezTo>
                  <a:lnTo>
                    <a:pt x="5334000" y="2266950"/>
                  </a:lnTo>
                  <a:cubicBezTo>
                    <a:pt x="5334000" y="2330076"/>
                    <a:pt x="5282826" y="2381250"/>
                    <a:pt x="5219700"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1" name="Freeform 21"/>
            <p:cNvSpPr/>
            <p:nvPr/>
          </p:nvSpPr>
          <p:spPr>
            <a:xfrm>
              <a:off x="6286500" y="1143000"/>
              <a:ext cx="76200" cy="2381250"/>
            </a:xfrm>
            <a:custGeom>
              <a:avLst/>
              <a:gdLst/>
              <a:ahLst/>
              <a:cxnLst/>
              <a:rect l="l" t="t" r="r" b="b"/>
              <a:pathLst>
                <a:path w="76200" h="2381250">
                  <a:moveTo>
                    <a:pt x="38100" y="0"/>
                  </a:moveTo>
                  <a:lnTo>
                    <a:pt x="38100" y="0"/>
                  </a:lnTo>
                  <a:cubicBezTo>
                    <a:pt x="59142" y="0"/>
                    <a:pt x="76200" y="17058"/>
                    <a:pt x="76200" y="38100"/>
                  </a:cubicBezTo>
                  <a:lnTo>
                    <a:pt x="76200" y="2343150"/>
                  </a:lnTo>
                  <a:cubicBezTo>
                    <a:pt x="76200" y="2364192"/>
                    <a:pt x="59142" y="2381250"/>
                    <a:pt x="38100" y="2381250"/>
                  </a:cubicBezTo>
                  <a:lnTo>
                    <a:pt x="38100" y="2381250"/>
                  </a:lnTo>
                  <a:cubicBezTo>
                    <a:pt x="17058" y="2381250"/>
                    <a:pt x="0" y="2364192"/>
                    <a:pt x="0" y="2343150"/>
                  </a:cubicBezTo>
                  <a:lnTo>
                    <a:pt x="0" y="38100"/>
                  </a:lnTo>
                  <a:cubicBezTo>
                    <a:pt x="0" y="17058"/>
                    <a:pt x="17058" y="0"/>
                    <a:pt x="3810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22" name="Ellipse 22"/>
            <p:cNvSpPr/>
            <p:nvPr/>
          </p:nvSpPr>
          <p:spPr>
            <a:xfrm>
              <a:off x="6496050" y="1352550"/>
              <a:ext cx="533400" cy="533400"/>
            </a:xfrm>
            <a:prstGeom prst="ellipse">
              <a:avLst/>
            </a:prstGeom>
            <a:solidFill>
              <a:srgbClr val="D12B1F">
                <a:alpha val="10000"/>
              </a:srgbClr>
            </a:solidFill>
            <a:ln>
              <a:noFill/>
            </a:ln>
            <a:effectLst>
              <a:outerShdw blurRad="190500" dist="38100" dir="10799140" algn="tl" rotWithShape="0">
                <a:srgbClr val="000000">
                  <a:alpha val="12000"/>
                </a:srgbClr>
              </a:outerShdw>
            </a:effectLst>
          </p:spPr>
        </p:sp>
        <p:sp>
          <p:nvSpPr>
            <p:cNvPr id="23" name="TextBox 23"/>
            <p:cNvSpPr txBox="1"/>
            <p:nvPr/>
          </p:nvSpPr>
          <p:spPr>
            <a:xfrm>
              <a:off x="6663981" y="150114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D12B1F"/>
                  </a:solidFill>
                  <a:latin typeface="Arial"/>
                  <a:ea typeface="Microsoft YaHei"/>
                  <a:cs typeface="Arial"/>
                </a:rPr>
                <a:t>2</a:t>
              </a:r>
            </a:p>
          </p:txBody>
        </p:sp>
        <p:sp>
          <p:nvSpPr>
            <p:cNvPr id="24" name="TextBox 24"/>
            <p:cNvSpPr txBox="1"/>
            <p:nvPr/>
          </p:nvSpPr>
          <p:spPr>
            <a:xfrm>
              <a:off x="7170420" y="1517332"/>
              <a:ext cx="2433059"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D3748"/>
                  </a:solidFill>
                  <a:latin typeface="Arial"/>
                  <a:ea typeface="Microsoft YaHei"/>
                  <a:cs typeface="Arial"/>
                </a:rPr>
                <a:t>Lý thuyết 3.5 — 3.8</a:t>
              </a:r>
            </a:p>
          </p:txBody>
        </p:sp>
        <p:sp>
          <p:nvSpPr>
            <p:cNvPr id="25" name="TextBox 25"/>
            <p:cNvSpPr txBox="1"/>
            <p:nvPr/>
          </p:nvSpPr>
          <p:spPr>
            <a:xfrm>
              <a:off x="6557010" y="1918335"/>
              <a:ext cx="1537716"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BASE Properties</a:t>
              </a:r>
            </a:p>
          </p:txBody>
        </p:sp>
        <p:sp>
          <p:nvSpPr>
            <p:cNvPr id="26" name="TextBox 26"/>
            <p:cNvSpPr txBox="1"/>
            <p:nvPr/>
          </p:nvSpPr>
          <p:spPr>
            <a:xfrm>
              <a:off x="6557010" y="2185035"/>
              <a:ext cx="2054733"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Schemaless Databases</a:t>
              </a:r>
            </a:p>
          </p:txBody>
        </p:sp>
        <p:sp>
          <p:nvSpPr>
            <p:cNvPr id="27" name="TextBox 27"/>
            <p:cNvSpPr txBox="1"/>
            <p:nvPr/>
          </p:nvSpPr>
          <p:spPr>
            <a:xfrm>
              <a:off x="6557010" y="2451735"/>
              <a:ext cx="1511427"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NoSQL vs RDBMS</a:t>
              </a:r>
            </a:p>
          </p:txBody>
        </p:sp>
        <p:sp>
          <p:nvSpPr>
            <p:cNvPr id="28" name="TextBox 28"/>
            <p:cNvSpPr txBox="1"/>
            <p:nvPr/>
          </p:nvSpPr>
          <p:spPr>
            <a:xfrm>
              <a:off x="6557010" y="2718435"/>
              <a:ext cx="2343912"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Chuyển đổi RDBMS → NoSQL</a:t>
              </a:r>
            </a:p>
          </p:txBody>
        </p:sp>
        <p:grpSp>
          <p:nvGrpSpPr>
            <p:cNvPr id="32" name="Group 32"/>
            <p:cNvGrpSpPr/>
            <p:nvPr/>
          </p:nvGrpSpPr>
          <p:grpSpPr>
            <a:xfrm>
              <a:off x="10791825" y="2000250"/>
              <a:ext cx="400050" cy="457200"/>
              <a:chOff x="10791825" y="2000250"/>
              <a:chExt cx="400050" cy="457200"/>
            </a:xfrm>
          </p:grpSpPr>
          <p:sp>
            <p:nvSpPr>
              <p:cNvPr id="29" name="Freeform 29"/>
              <p:cNvSpPr/>
              <p:nvPr/>
            </p:nvSpPr>
            <p:spPr>
              <a:xfrm>
                <a:off x="10791825" y="2000250"/>
                <a:ext cx="400050" cy="228600"/>
              </a:xfrm>
              <a:custGeom>
                <a:avLst/>
                <a:gdLst/>
                <a:ahLst/>
                <a:cxnLst/>
                <a:rect l="l" t="t" r="r" b="b"/>
                <a:pathLst>
                  <a:path w="400050" h="228600">
                    <a:moveTo>
                      <a:pt x="0" y="142875"/>
                    </a:moveTo>
                    <a:lnTo>
                      <a:pt x="0" y="85725"/>
                    </a:lnTo>
                    <a:lnTo>
                      <a:pt x="200025" y="0"/>
                    </a:lnTo>
                    <a:lnTo>
                      <a:pt x="400050" y="85725"/>
                    </a:lnTo>
                    <a:lnTo>
                      <a:pt x="400050" y="142875"/>
                    </a:lnTo>
                    <a:lnTo>
                      <a:pt x="200025" y="228600"/>
                    </a:lnTo>
                    <a:lnTo>
                      <a:pt x="0" y="142875"/>
                    </a:lnTo>
                    <a:close/>
                  </a:path>
                </a:pathLst>
              </a:custGeom>
              <a:solidFill>
                <a:srgbClr val="D12B1F"/>
              </a:solidFill>
              <a:ln>
                <a:noFill/>
              </a:ln>
              <a:effectLst>
                <a:outerShdw blurRad="190500" dist="38100" dir="10799140" algn="tl" rotWithShape="0">
                  <a:srgbClr val="000000">
                    <a:alpha val="12000"/>
                  </a:srgbClr>
                </a:outerShdw>
              </a:effectLst>
            </p:spPr>
          </p:sp>
          <p:sp>
            <p:nvSpPr>
              <p:cNvPr id="30" name="Freeform 30"/>
              <p:cNvSpPr/>
              <p:nvPr/>
            </p:nvSpPr>
            <p:spPr>
              <a:xfrm>
                <a:off x="10791825" y="2314575"/>
                <a:ext cx="400050" cy="142875"/>
              </a:xfrm>
              <a:custGeom>
                <a:avLst/>
                <a:gdLst/>
                <a:ahLst/>
                <a:cxnLst/>
                <a:rect l="l" t="t" r="r" b="b"/>
                <a:pathLst>
                  <a:path w="400050" h="142875">
                    <a:moveTo>
                      <a:pt x="200025" y="142875"/>
                    </a:moveTo>
                    <a:lnTo>
                      <a:pt x="0" y="57150"/>
                    </a:lnTo>
                    <a:lnTo>
                      <a:pt x="0" y="0"/>
                    </a:lnTo>
                    <a:lnTo>
                      <a:pt x="200025" y="85725"/>
                    </a:lnTo>
                    <a:lnTo>
                      <a:pt x="400050" y="0"/>
                    </a:lnTo>
                    <a:lnTo>
                      <a:pt x="400050" y="57150"/>
                    </a:lnTo>
                    <a:lnTo>
                      <a:pt x="200025" y="142875"/>
                    </a:lnTo>
                    <a:close/>
                  </a:path>
                </a:pathLst>
              </a:custGeom>
              <a:solidFill>
                <a:srgbClr val="D12B1F"/>
              </a:solidFill>
              <a:ln>
                <a:noFill/>
              </a:ln>
              <a:effectLst>
                <a:outerShdw blurRad="190500" dist="38100" dir="10799140" algn="tl" rotWithShape="0">
                  <a:srgbClr val="000000">
                    <a:alpha val="12000"/>
                  </a:srgbClr>
                </a:outerShdw>
              </a:effectLst>
            </p:spPr>
          </p:sp>
          <p:sp>
            <p:nvSpPr>
              <p:cNvPr id="31" name="Freeform 31"/>
              <p:cNvSpPr/>
              <p:nvPr/>
            </p:nvSpPr>
            <p:spPr>
              <a:xfrm>
                <a:off x="10791825" y="2200275"/>
                <a:ext cx="400050" cy="142875"/>
              </a:xfrm>
              <a:custGeom>
                <a:avLst/>
                <a:gdLst/>
                <a:ahLst/>
                <a:cxnLst/>
                <a:rect l="l" t="t" r="r" b="b"/>
                <a:pathLst>
                  <a:path w="400050" h="142875">
                    <a:moveTo>
                      <a:pt x="0" y="57150"/>
                    </a:moveTo>
                    <a:lnTo>
                      <a:pt x="200025" y="142875"/>
                    </a:lnTo>
                    <a:lnTo>
                      <a:pt x="400050" y="57150"/>
                    </a:lnTo>
                    <a:lnTo>
                      <a:pt x="400050" y="0"/>
                    </a:lnTo>
                    <a:lnTo>
                      <a:pt x="200025" y="85725"/>
                    </a:lnTo>
                    <a:lnTo>
                      <a:pt x="0" y="0"/>
                    </a:lnTo>
                    <a:lnTo>
                      <a:pt x="0" y="57150"/>
                    </a:lnTo>
                    <a:close/>
                  </a:path>
                </a:pathLst>
              </a:custGeom>
              <a:solidFill>
                <a:srgbClr val="D12B1F"/>
              </a:solidFill>
              <a:ln>
                <a:noFill/>
              </a:ln>
              <a:effectLst>
                <a:outerShdw blurRad="190500" dist="38100" dir="10799140" algn="tl" rotWithShape="0">
                  <a:srgbClr val="000000">
                    <a:alpha val="12000"/>
                  </a:srgbClr>
                </a:outerShdw>
              </a:effectLst>
            </p:spPr>
          </p:sp>
        </p:grpSp>
      </p:grpSp>
      <p:grpSp>
        <p:nvGrpSpPr>
          <p:cNvPr id="46" name="Group 46"/>
          <p:cNvGrpSpPr/>
          <p:nvPr/>
        </p:nvGrpSpPr>
        <p:grpSpPr>
          <a:xfrm>
            <a:off x="571500" y="3810000"/>
            <a:ext cx="5334000" cy="2381250"/>
            <a:chOff x="571500" y="3810000"/>
            <a:chExt cx="5334000" cy="2381250"/>
          </a:xfrm>
          <a:effectLst>
            <a:outerShdw blurRad="190500" dist="38100" dir="10799140" algn="tl" rotWithShape="0">
              <a:srgbClr val="000000">
                <a:alpha val="12000"/>
              </a:srgbClr>
            </a:outerShdw>
          </a:effectLst>
        </p:grpSpPr>
        <p:sp>
          <p:nvSpPr>
            <p:cNvPr id="34" name="Freeform 34"/>
            <p:cNvSpPr/>
            <p:nvPr/>
          </p:nvSpPr>
          <p:spPr>
            <a:xfrm>
              <a:off x="571500" y="3810000"/>
              <a:ext cx="5334000" cy="2381250"/>
            </a:xfrm>
            <a:custGeom>
              <a:avLst/>
              <a:gdLst/>
              <a:ahLst/>
              <a:cxnLst/>
              <a:rect l="l" t="t" r="r" b="b"/>
              <a:pathLst>
                <a:path w="5334000" h="2381250">
                  <a:moveTo>
                    <a:pt x="114300" y="0"/>
                  </a:moveTo>
                  <a:lnTo>
                    <a:pt x="5219700" y="0"/>
                  </a:lnTo>
                  <a:cubicBezTo>
                    <a:pt x="5282826" y="0"/>
                    <a:pt x="5334000" y="51174"/>
                    <a:pt x="5334000" y="114300"/>
                  </a:cubicBezTo>
                  <a:lnTo>
                    <a:pt x="5334000" y="2266950"/>
                  </a:lnTo>
                  <a:cubicBezTo>
                    <a:pt x="5334000" y="2330076"/>
                    <a:pt x="5282826" y="2381250"/>
                    <a:pt x="5219700"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5" name="Freeform 35"/>
            <p:cNvSpPr/>
            <p:nvPr/>
          </p:nvSpPr>
          <p:spPr>
            <a:xfrm>
              <a:off x="571500" y="3810000"/>
              <a:ext cx="76200" cy="2381250"/>
            </a:xfrm>
            <a:custGeom>
              <a:avLst/>
              <a:gdLst/>
              <a:ahLst/>
              <a:cxnLst/>
              <a:rect l="l" t="t" r="r" b="b"/>
              <a:pathLst>
                <a:path w="76200" h="2381250">
                  <a:moveTo>
                    <a:pt x="38100" y="0"/>
                  </a:moveTo>
                  <a:lnTo>
                    <a:pt x="38100" y="0"/>
                  </a:lnTo>
                  <a:cubicBezTo>
                    <a:pt x="59142" y="0"/>
                    <a:pt x="76200" y="17058"/>
                    <a:pt x="76200" y="38100"/>
                  </a:cubicBezTo>
                  <a:lnTo>
                    <a:pt x="76200" y="2343150"/>
                  </a:lnTo>
                  <a:cubicBezTo>
                    <a:pt x="76200" y="2364192"/>
                    <a:pt x="59142" y="2381250"/>
                    <a:pt x="38100" y="2381250"/>
                  </a:cubicBezTo>
                  <a:lnTo>
                    <a:pt x="38100" y="2381250"/>
                  </a:lnTo>
                  <a:cubicBezTo>
                    <a:pt x="17058" y="2381250"/>
                    <a:pt x="0" y="2364192"/>
                    <a:pt x="0" y="2343150"/>
                  </a:cubicBezTo>
                  <a:lnTo>
                    <a:pt x="0" y="38100"/>
                  </a:lnTo>
                  <a:cubicBezTo>
                    <a:pt x="0" y="17058"/>
                    <a:pt x="17058" y="0"/>
                    <a:pt x="38100" y="0"/>
                  </a:cubicBezTo>
                  <a:close/>
                </a:path>
              </a:pathLst>
            </a:custGeom>
            <a:solidFill>
              <a:srgbClr val="006AF9"/>
            </a:solidFill>
            <a:ln>
              <a:noFill/>
            </a:ln>
            <a:effectLst>
              <a:outerShdw blurRad="190500" dist="38100" dir="10799140" algn="tl" rotWithShape="0">
                <a:srgbClr val="000000">
                  <a:alpha val="12000"/>
                </a:srgbClr>
              </a:outerShdw>
            </a:effectLst>
          </p:spPr>
        </p:sp>
        <p:sp>
          <p:nvSpPr>
            <p:cNvPr id="36" name="Ellipse 36"/>
            <p:cNvSpPr/>
            <p:nvPr/>
          </p:nvSpPr>
          <p:spPr>
            <a:xfrm>
              <a:off x="781050" y="4019550"/>
              <a:ext cx="533400" cy="533400"/>
            </a:xfrm>
            <a:prstGeom prst="ellipse">
              <a:avLst/>
            </a:prstGeom>
            <a:solidFill>
              <a:srgbClr val="006AF9">
                <a:alpha val="10000"/>
              </a:srgbClr>
            </a:solidFill>
            <a:ln>
              <a:noFill/>
            </a:ln>
            <a:effectLst>
              <a:outerShdw blurRad="190500" dist="38100" dir="10799140" algn="tl" rotWithShape="0">
                <a:srgbClr val="000000">
                  <a:alpha val="12000"/>
                </a:srgbClr>
              </a:outerShdw>
            </a:effectLst>
          </p:spPr>
        </p:sp>
        <p:sp>
          <p:nvSpPr>
            <p:cNvPr id="37" name="TextBox 37"/>
            <p:cNvSpPr txBox="1"/>
            <p:nvPr/>
          </p:nvSpPr>
          <p:spPr>
            <a:xfrm>
              <a:off x="948981" y="416814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006AF9"/>
                  </a:solidFill>
                  <a:latin typeface="Arial"/>
                  <a:ea typeface="Microsoft YaHei"/>
                  <a:cs typeface="Arial"/>
                </a:rPr>
                <a:t>3</a:t>
              </a:r>
            </a:p>
          </p:txBody>
        </p:sp>
        <p:sp>
          <p:nvSpPr>
            <p:cNvPr id="38" name="TextBox 38"/>
            <p:cNvSpPr txBox="1"/>
            <p:nvPr/>
          </p:nvSpPr>
          <p:spPr>
            <a:xfrm>
              <a:off x="1455420" y="4184332"/>
              <a:ext cx="2116769"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D3748"/>
                  </a:solidFill>
                  <a:latin typeface="Arial"/>
                  <a:ea typeface="Microsoft YaHei"/>
                  <a:cs typeface="Arial"/>
                </a:rPr>
                <a:t>Cài đặt phần mềm</a:t>
              </a:r>
            </a:p>
          </p:txBody>
        </p:sp>
        <p:sp>
          <p:nvSpPr>
            <p:cNvPr id="39" name="TextBox 39"/>
            <p:cNvSpPr txBox="1"/>
            <p:nvPr/>
          </p:nvSpPr>
          <p:spPr>
            <a:xfrm>
              <a:off x="842010" y="4585335"/>
              <a:ext cx="3246501"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Cài đặt Redis (Docker / WSL / Linux)</a:t>
              </a:r>
            </a:p>
          </p:txBody>
        </p:sp>
        <p:sp>
          <p:nvSpPr>
            <p:cNvPr id="40" name="TextBox 40"/>
            <p:cNvSpPr txBox="1"/>
            <p:nvPr/>
          </p:nvSpPr>
          <p:spPr>
            <a:xfrm>
              <a:off x="842010" y="4852035"/>
              <a:ext cx="2089785"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GUI Tools: RedisInsight</a:t>
              </a:r>
            </a:p>
          </p:txBody>
        </p:sp>
        <p:sp>
          <p:nvSpPr>
            <p:cNvPr id="41" name="TextBox 41"/>
            <p:cNvSpPr txBox="1"/>
            <p:nvPr/>
          </p:nvSpPr>
          <p:spPr>
            <a:xfrm>
              <a:off x="842010" y="5118735"/>
              <a:ext cx="2466594"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Cấu hình cơ bản redis.conf</a:t>
              </a:r>
            </a:p>
          </p:txBody>
        </p:sp>
        <p:sp>
          <p:nvSpPr>
            <p:cNvPr id="42" name="TextBox 42"/>
            <p:cNvSpPr txBox="1"/>
            <p:nvPr/>
          </p:nvSpPr>
          <p:spPr>
            <a:xfrm>
              <a:off x="842010" y="5385435"/>
              <a:ext cx="2037207"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Xử lý sự cố thường gặp</a:t>
              </a:r>
            </a:p>
          </p:txBody>
        </p:sp>
        <p:grpSp>
          <p:nvGrpSpPr>
            <p:cNvPr id="45" name="Group 45"/>
            <p:cNvGrpSpPr/>
            <p:nvPr/>
          </p:nvGrpSpPr>
          <p:grpSpPr>
            <a:xfrm>
              <a:off x="5070902" y="4732770"/>
              <a:ext cx="405976" cy="363105"/>
              <a:chOff x="5070902" y="4732770"/>
              <a:chExt cx="405976" cy="363105"/>
            </a:xfrm>
          </p:grpSpPr>
          <p:sp>
            <p:nvSpPr>
              <p:cNvPr id="43" name="Freeform 43"/>
              <p:cNvSpPr/>
              <p:nvPr/>
            </p:nvSpPr>
            <p:spPr>
              <a:xfrm>
                <a:off x="5070902" y="4732770"/>
                <a:ext cx="203492" cy="326160"/>
              </a:xfrm>
              <a:custGeom>
                <a:avLst/>
                <a:gdLst/>
                <a:ahLst/>
                <a:cxnLst/>
                <a:rect l="l" t="t" r="r" b="b"/>
                <a:pathLst>
                  <a:path w="203492" h="326160">
                    <a:moveTo>
                      <a:pt x="0" y="285750"/>
                    </a:moveTo>
                    <a:lnTo>
                      <a:pt x="122669" y="163081"/>
                    </a:lnTo>
                    <a:lnTo>
                      <a:pt x="0" y="40411"/>
                    </a:lnTo>
                    <a:lnTo>
                      <a:pt x="40411" y="0"/>
                    </a:lnTo>
                    <a:lnTo>
                      <a:pt x="203492" y="163081"/>
                    </a:lnTo>
                    <a:lnTo>
                      <a:pt x="40411" y="326160"/>
                    </a:lnTo>
                    <a:lnTo>
                      <a:pt x="0" y="285750"/>
                    </a:lnTo>
                    <a:close/>
                  </a:path>
                </a:pathLst>
              </a:custGeom>
              <a:solidFill>
                <a:srgbClr val="006AF9"/>
              </a:solidFill>
              <a:ln>
                <a:noFill/>
              </a:ln>
              <a:effectLst>
                <a:outerShdw blurRad="190500" dist="38100" dir="10799140" algn="tl" rotWithShape="0">
                  <a:srgbClr val="000000">
                    <a:alpha val="12000"/>
                  </a:srgbClr>
                </a:outerShdw>
              </a:effectLst>
            </p:spPr>
          </p:sp>
          <p:sp>
            <p:nvSpPr>
              <p:cNvPr id="44" name="Freeform 44"/>
              <p:cNvSpPr/>
              <p:nvPr/>
            </p:nvSpPr>
            <p:spPr>
              <a:xfrm>
                <a:off x="5248277" y="5038725"/>
                <a:ext cx="228601" cy="57150"/>
              </a:xfrm>
              <a:custGeom>
                <a:avLst/>
                <a:gdLst/>
                <a:ahLst/>
                <a:cxnLst/>
                <a:rect l="l" t="t" r="r" b="b"/>
                <a:pathLst>
                  <a:path w="228601" h="57150">
                    <a:moveTo>
                      <a:pt x="0" y="57150"/>
                    </a:moveTo>
                    <a:lnTo>
                      <a:pt x="228601" y="57150"/>
                    </a:lnTo>
                    <a:lnTo>
                      <a:pt x="228601" y="0"/>
                    </a:lnTo>
                    <a:lnTo>
                      <a:pt x="0" y="0"/>
                    </a:lnTo>
                    <a:lnTo>
                      <a:pt x="0" y="57150"/>
                    </a:lnTo>
                    <a:close/>
                  </a:path>
                </a:pathLst>
              </a:custGeom>
              <a:solidFill>
                <a:srgbClr val="006AF9"/>
              </a:solidFill>
              <a:ln>
                <a:noFill/>
              </a:ln>
              <a:effectLst>
                <a:outerShdw blurRad="190500" dist="38100" dir="10799140" algn="tl" rotWithShape="0">
                  <a:srgbClr val="000000">
                    <a:alpha val="12000"/>
                  </a:srgbClr>
                </a:outerShdw>
              </a:effectLst>
            </p:spPr>
          </p:sp>
        </p:grpSp>
      </p:grpSp>
      <p:grpSp>
        <p:nvGrpSpPr>
          <p:cNvPr id="60" name="Group 60"/>
          <p:cNvGrpSpPr/>
          <p:nvPr/>
        </p:nvGrpSpPr>
        <p:grpSpPr>
          <a:xfrm>
            <a:off x="6286500" y="3810000"/>
            <a:ext cx="5334000" cy="2381250"/>
            <a:chOff x="6286500" y="3810000"/>
            <a:chExt cx="5334000" cy="2381250"/>
          </a:xfrm>
          <a:effectLst>
            <a:outerShdw blurRad="190500" dist="38100" dir="10799140" algn="tl" rotWithShape="0">
              <a:srgbClr val="000000">
                <a:alpha val="12000"/>
              </a:srgbClr>
            </a:outerShdw>
          </a:effectLst>
        </p:grpSpPr>
        <p:sp>
          <p:nvSpPr>
            <p:cNvPr id="47" name="Freeform 47"/>
            <p:cNvSpPr/>
            <p:nvPr/>
          </p:nvSpPr>
          <p:spPr>
            <a:xfrm>
              <a:off x="6286500" y="3810000"/>
              <a:ext cx="5334000" cy="2381250"/>
            </a:xfrm>
            <a:custGeom>
              <a:avLst/>
              <a:gdLst/>
              <a:ahLst/>
              <a:cxnLst/>
              <a:rect l="l" t="t" r="r" b="b"/>
              <a:pathLst>
                <a:path w="5334000" h="2381250">
                  <a:moveTo>
                    <a:pt x="114300" y="0"/>
                  </a:moveTo>
                  <a:lnTo>
                    <a:pt x="5219700" y="0"/>
                  </a:lnTo>
                  <a:cubicBezTo>
                    <a:pt x="5282826" y="0"/>
                    <a:pt x="5334000" y="51174"/>
                    <a:pt x="5334000" y="114300"/>
                  </a:cubicBezTo>
                  <a:lnTo>
                    <a:pt x="5334000" y="2266950"/>
                  </a:lnTo>
                  <a:cubicBezTo>
                    <a:pt x="5334000" y="2330076"/>
                    <a:pt x="5282826" y="2381250"/>
                    <a:pt x="5219700"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48" name="Freeform 48"/>
            <p:cNvSpPr/>
            <p:nvPr/>
          </p:nvSpPr>
          <p:spPr>
            <a:xfrm>
              <a:off x="6286500" y="3810000"/>
              <a:ext cx="76200" cy="2381250"/>
            </a:xfrm>
            <a:custGeom>
              <a:avLst/>
              <a:gdLst/>
              <a:ahLst/>
              <a:cxnLst/>
              <a:rect l="l" t="t" r="r" b="b"/>
              <a:pathLst>
                <a:path w="76200" h="2381250">
                  <a:moveTo>
                    <a:pt x="38100" y="0"/>
                  </a:moveTo>
                  <a:lnTo>
                    <a:pt x="38100" y="0"/>
                  </a:lnTo>
                  <a:cubicBezTo>
                    <a:pt x="59142" y="0"/>
                    <a:pt x="76200" y="17058"/>
                    <a:pt x="76200" y="38100"/>
                  </a:cubicBezTo>
                  <a:lnTo>
                    <a:pt x="76200" y="2343150"/>
                  </a:lnTo>
                  <a:cubicBezTo>
                    <a:pt x="76200" y="2364192"/>
                    <a:pt x="59142" y="2381250"/>
                    <a:pt x="38100" y="2381250"/>
                  </a:cubicBezTo>
                  <a:lnTo>
                    <a:pt x="38100" y="2381250"/>
                  </a:lnTo>
                  <a:cubicBezTo>
                    <a:pt x="17058" y="2381250"/>
                    <a:pt x="0" y="2364192"/>
                    <a:pt x="0" y="2343150"/>
                  </a:cubicBezTo>
                  <a:lnTo>
                    <a:pt x="0" y="38100"/>
                  </a:lnTo>
                  <a:cubicBezTo>
                    <a:pt x="0" y="17058"/>
                    <a:pt x="17058" y="0"/>
                    <a:pt x="38100" y="0"/>
                  </a:cubicBezTo>
                  <a:close/>
                </a:path>
              </a:pathLst>
            </a:custGeom>
            <a:solidFill>
              <a:srgbClr val="2E7D32"/>
            </a:solidFill>
            <a:ln>
              <a:noFill/>
            </a:ln>
            <a:effectLst>
              <a:outerShdw blurRad="190500" dist="38100" dir="10799140" algn="tl" rotWithShape="0">
                <a:srgbClr val="000000">
                  <a:alpha val="12000"/>
                </a:srgbClr>
              </a:outerShdw>
            </a:effectLst>
          </p:spPr>
        </p:sp>
        <p:sp>
          <p:nvSpPr>
            <p:cNvPr id="49" name="Ellipse 49"/>
            <p:cNvSpPr/>
            <p:nvPr/>
          </p:nvSpPr>
          <p:spPr>
            <a:xfrm>
              <a:off x="6496050" y="4019550"/>
              <a:ext cx="533400" cy="533400"/>
            </a:xfrm>
            <a:prstGeom prst="ellipse">
              <a:avLst/>
            </a:prstGeom>
            <a:solidFill>
              <a:srgbClr val="2E7D32">
                <a:alpha val="10000"/>
              </a:srgbClr>
            </a:solidFill>
            <a:ln>
              <a:noFill/>
            </a:ln>
            <a:effectLst>
              <a:outerShdw blurRad="190500" dist="38100" dir="10799140" algn="tl" rotWithShape="0">
                <a:srgbClr val="000000">
                  <a:alpha val="12000"/>
                </a:srgbClr>
              </a:outerShdw>
            </a:effectLst>
          </p:spPr>
        </p:sp>
        <p:sp>
          <p:nvSpPr>
            <p:cNvPr id="50" name="TextBox 50"/>
            <p:cNvSpPr txBox="1"/>
            <p:nvPr/>
          </p:nvSpPr>
          <p:spPr>
            <a:xfrm>
              <a:off x="6663981" y="416814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2E7D32"/>
                  </a:solidFill>
                  <a:latin typeface="Arial"/>
                  <a:ea typeface="Microsoft YaHei"/>
                  <a:cs typeface="Arial"/>
                </a:rPr>
                <a:t>4</a:t>
              </a:r>
            </a:p>
          </p:txBody>
        </p:sp>
        <p:sp>
          <p:nvSpPr>
            <p:cNvPr id="51" name="TextBox 51"/>
            <p:cNvSpPr txBox="1"/>
            <p:nvPr/>
          </p:nvSpPr>
          <p:spPr>
            <a:xfrm>
              <a:off x="7170420" y="4184332"/>
              <a:ext cx="1914344"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D3748"/>
                  </a:solidFill>
                  <a:latin typeface="Arial"/>
                  <a:ea typeface="Microsoft YaHei"/>
                  <a:cs typeface="Arial"/>
                </a:rPr>
                <a:t>Demo hướng dẫn</a:t>
              </a:r>
            </a:p>
          </p:txBody>
        </p:sp>
        <p:sp>
          <p:nvSpPr>
            <p:cNvPr id="52" name="TextBox 52"/>
            <p:cNvSpPr txBox="1"/>
            <p:nvPr/>
          </p:nvSpPr>
          <p:spPr>
            <a:xfrm>
              <a:off x="6557010" y="4585335"/>
              <a:ext cx="3947541"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5 kiểu dữ liệu: String, Hash, List, Set, ZSet</a:t>
              </a:r>
            </a:p>
          </p:txBody>
        </p:sp>
        <p:sp>
          <p:nvSpPr>
            <p:cNvPr id="53" name="TextBox 53"/>
            <p:cNvSpPr txBox="1"/>
            <p:nvPr/>
          </p:nvSpPr>
          <p:spPr>
            <a:xfrm>
              <a:off x="6557010" y="4852035"/>
              <a:ext cx="2072259"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Pub/Sub &amp; Transaction</a:t>
              </a:r>
            </a:p>
          </p:txBody>
        </p:sp>
        <p:sp>
          <p:nvSpPr>
            <p:cNvPr id="54" name="TextBox 54"/>
            <p:cNvSpPr txBox="1"/>
            <p:nvPr/>
          </p:nvSpPr>
          <p:spPr>
            <a:xfrm>
              <a:off x="6557010" y="5118735"/>
              <a:ext cx="4017645"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Ứng dụng thực tế: Cache, Session, Rate Limit</a:t>
              </a:r>
            </a:p>
          </p:txBody>
        </p:sp>
        <p:sp>
          <p:nvSpPr>
            <p:cNvPr id="55" name="TextBox 55"/>
            <p:cNvSpPr txBox="1"/>
            <p:nvPr/>
          </p:nvSpPr>
          <p:spPr>
            <a:xfrm>
              <a:off x="6557010" y="5385435"/>
              <a:ext cx="1791843"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Tổng kết lệnh Redis</a:t>
              </a:r>
            </a:p>
          </p:txBody>
        </p:sp>
        <p:grpSp>
          <p:nvGrpSpPr>
            <p:cNvPr id="59" name="Group 59"/>
            <p:cNvGrpSpPr/>
            <p:nvPr/>
          </p:nvGrpSpPr>
          <p:grpSpPr>
            <a:xfrm>
              <a:off x="10763250" y="4691784"/>
              <a:ext cx="457200" cy="408132"/>
              <a:chOff x="10763250" y="4691784"/>
              <a:chExt cx="457200" cy="408132"/>
            </a:xfrm>
          </p:grpSpPr>
          <p:sp>
            <p:nvSpPr>
              <p:cNvPr id="56" name="Freeform 56"/>
              <p:cNvSpPr/>
              <p:nvPr/>
            </p:nvSpPr>
            <p:spPr>
              <a:xfrm>
                <a:off x="10934987" y="4691784"/>
                <a:ext cx="113726" cy="408132"/>
              </a:xfrm>
              <a:custGeom>
                <a:avLst/>
                <a:gdLst/>
                <a:ahLst/>
                <a:cxnLst/>
                <a:rect l="l" t="t" r="r" b="b"/>
                <a:pathLst>
                  <a:path w="113726" h="408132">
                    <a:moveTo>
                      <a:pt x="57150" y="0"/>
                    </a:moveTo>
                    <a:lnTo>
                      <a:pt x="0" y="400051"/>
                    </a:lnTo>
                    <a:lnTo>
                      <a:pt x="56576" y="408132"/>
                    </a:lnTo>
                    <a:lnTo>
                      <a:pt x="113726" y="8082"/>
                    </a:lnTo>
                    <a:lnTo>
                      <a:pt x="57150" y="0"/>
                    </a:lnTo>
                    <a:close/>
                  </a:path>
                </a:pathLst>
              </a:custGeom>
              <a:solidFill>
                <a:srgbClr val="2E7D32"/>
              </a:solidFill>
              <a:ln>
                <a:noFill/>
              </a:ln>
              <a:effectLst>
                <a:outerShdw blurRad="190500" dist="38100" dir="10799140" algn="tl" rotWithShape="0">
                  <a:srgbClr val="000000">
                    <a:alpha val="12000"/>
                  </a:srgbClr>
                </a:outerShdw>
              </a:effectLst>
            </p:spPr>
          </p:sp>
          <p:sp>
            <p:nvSpPr>
              <p:cNvPr id="57" name="Freeform 57"/>
              <p:cNvSpPr/>
              <p:nvPr/>
            </p:nvSpPr>
            <p:spPr>
              <a:xfrm>
                <a:off x="11080027" y="4795838"/>
                <a:ext cx="140423" cy="200025"/>
              </a:xfrm>
              <a:custGeom>
                <a:avLst/>
                <a:gdLst/>
                <a:ahLst/>
                <a:cxnLst/>
                <a:rect l="l" t="t" r="r" b="b"/>
                <a:pathLst>
                  <a:path w="140423" h="200025">
                    <a:moveTo>
                      <a:pt x="40411" y="200025"/>
                    </a:moveTo>
                    <a:lnTo>
                      <a:pt x="0" y="159614"/>
                    </a:lnTo>
                    <a:lnTo>
                      <a:pt x="59602" y="100012"/>
                    </a:lnTo>
                    <a:lnTo>
                      <a:pt x="0" y="40411"/>
                    </a:lnTo>
                    <a:lnTo>
                      <a:pt x="40411" y="0"/>
                    </a:lnTo>
                    <a:lnTo>
                      <a:pt x="140423" y="100012"/>
                    </a:lnTo>
                    <a:lnTo>
                      <a:pt x="40411" y="200025"/>
                    </a:lnTo>
                    <a:close/>
                  </a:path>
                </a:pathLst>
              </a:custGeom>
              <a:solidFill>
                <a:srgbClr val="2E7D32"/>
              </a:solidFill>
              <a:ln>
                <a:noFill/>
              </a:ln>
              <a:effectLst>
                <a:outerShdw blurRad="190500" dist="38100" dir="10799140" algn="tl" rotWithShape="0">
                  <a:srgbClr val="000000">
                    <a:alpha val="12000"/>
                  </a:srgbClr>
                </a:outerShdw>
              </a:effectLst>
            </p:spPr>
          </p:sp>
          <p:sp>
            <p:nvSpPr>
              <p:cNvPr id="58" name="Freeform 58"/>
              <p:cNvSpPr/>
              <p:nvPr/>
            </p:nvSpPr>
            <p:spPr>
              <a:xfrm>
                <a:off x="10763250" y="4795838"/>
                <a:ext cx="140424" cy="200025"/>
              </a:xfrm>
              <a:custGeom>
                <a:avLst/>
                <a:gdLst/>
                <a:ahLst/>
                <a:cxnLst/>
                <a:rect l="l" t="t" r="r" b="b"/>
                <a:pathLst>
                  <a:path w="140424" h="200025">
                    <a:moveTo>
                      <a:pt x="80822" y="100012"/>
                    </a:moveTo>
                    <a:lnTo>
                      <a:pt x="140424" y="159614"/>
                    </a:lnTo>
                    <a:lnTo>
                      <a:pt x="100012" y="200025"/>
                    </a:lnTo>
                    <a:lnTo>
                      <a:pt x="0" y="100012"/>
                    </a:lnTo>
                    <a:lnTo>
                      <a:pt x="100012" y="0"/>
                    </a:lnTo>
                    <a:lnTo>
                      <a:pt x="140424" y="40411"/>
                    </a:lnTo>
                    <a:lnTo>
                      <a:pt x="80822" y="100012"/>
                    </a:lnTo>
                    <a:close/>
                  </a:path>
                </a:pathLst>
              </a:custGeom>
              <a:solidFill>
                <a:srgbClr val="2E7D32"/>
              </a:solidFill>
              <a:ln>
                <a:noFill/>
              </a:ln>
              <a:effectLst>
                <a:outerShdw blurRad="190500" dist="38100" dir="10799140" algn="tl" rotWithShape="0">
                  <a:srgbClr val="000000">
                    <a:alpha val="12000"/>
                  </a:srgbClr>
                </a:outerShdw>
              </a:effectLst>
            </p:spPr>
          </p:sp>
        </p:grpSp>
      </p:grpSp>
      <p:sp>
        <p:nvSpPr>
          <p:cNvPr id="61" name="TextBox 61"/>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02 / 25</a:t>
            </a:r>
          </a:p>
        </p:txBody>
      </p:sp>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3538995"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3.1 Giới thiệu NoSQL</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sp>
        <p:nvSpPr>
          <p:cNvPr id="6" name="Ellipse 6"/>
          <p:cNvSpPr/>
          <p:nvPr/>
        </p:nvSpPr>
        <p:spPr>
          <a:xfrm>
            <a:off x="2476500" y="2667000"/>
            <a:ext cx="1714500" cy="1714500"/>
          </a:xfrm>
          <a:prstGeom prst="ellipse">
            <a:avLst/>
          </a:prstGeom>
          <a:solidFill>
            <a:srgbClr val="D12B1F">
              <a:alpha val="10000"/>
            </a:srgbClr>
          </a:solidFill>
          <a:ln w="19050">
            <a:solidFill>
              <a:srgbClr val="D12B1F"/>
            </a:solidFill>
          </a:ln>
        </p:spPr>
      </p:sp>
      <p:grpSp>
        <p:nvGrpSpPr>
          <p:cNvPr id="10" name="Group 10"/>
          <p:cNvGrpSpPr/>
          <p:nvPr/>
        </p:nvGrpSpPr>
        <p:grpSpPr>
          <a:xfrm>
            <a:off x="3162300" y="3143250"/>
            <a:ext cx="342900" cy="457200"/>
            <a:chOff x="3162300" y="3143250"/>
            <a:chExt cx="342900" cy="457200"/>
          </a:xfrm>
        </p:grpSpPr>
        <p:sp>
          <p:nvSpPr>
            <p:cNvPr id="7" name="Freeform 7"/>
            <p:cNvSpPr/>
            <p:nvPr/>
          </p:nvSpPr>
          <p:spPr>
            <a:xfrm>
              <a:off x="3162300" y="3326130"/>
              <a:ext cx="342900" cy="131445"/>
            </a:xfrm>
            <a:custGeom>
              <a:avLst/>
              <a:gdLst/>
              <a:ahLst/>
              <a:cxnLst/>
              <a:rect l="l" t="t" r="r" b="b"/>
              <a:pathLst>
                <a:path w="342900" h="131445">
                  <a:moveTo>
                    <a:pt x="318243" y="14578"/>
                  </a:moveTo>
                  <a:cubicBezTo>
                    <a:pt x="326281" y="10558"/>
                    <a:pt x="334679" y="5709"/>
                    <a:pt x="342900" y="0"/>
                  </a:cubicBezTo>
                  <a:lnTo>
                    <a:pt x="342900" y="45720"/>
                  </a:lnTo>
                  <a:cubicBezTo>
                    <a:pt x="342900" y="93064"/>
                    <a:pt x="266139" y="131445"/>
                    <a:pt x="171450" y="131445"/>
                  </a:cubicBezTo>
                  <a:cubicBezTo>
                    <a:pt x="76761" y="131445"/>
                    <a:pt x="0" y="93064"/>
                    <a:pt x="0" y="45720"/>
                  </a:cubicBezTo>
                  <a:lnTo>
                    <a:pt x="0" y="0"/>
                  </a:lnTo>
                  <a:cubicBezTo>
                    <a:pt x="8222" y="5709"/>
                    <a:pt x="16619" y="10558"/>
                    <a:pt x="24658" y="14578"/>
                  </a:cubicBezTo>
                  <a:cubicBezTo>
                    <a:pt x="65178" y="34838"/>
                    <a:pt x="117157" y="45720"/>
                    <a:pt x="171450" y="45720"/>
                  </a:cubicBezTo>
                  <a:cubicBezTo>
                    <a:pt x="225743" y="45720"/>
                    <a:pt x="277720" y="34838"/>
                    <a:pt x="318243" y="14578"/>
                  </a:cubicBezTo>
                  <a:close/>
                </a:path>
              </a:pathLst>
            </a:custGeom>
            <a:solidFill>
              <a:srgbClr val="D12B1F"/>
            </a:solidFill>
            <a:ln>
              <a:noFill/>
            </a:ln>
          </p:spPr>
        </p:sp>
        <p:sp>
          <p:nvSpPr>
            <p:cNvPr id="8" name="Freeform 8"/>
            <p:cNvSpPr/>
            <p:nvPr/>
          </p:nvSpPr>
          <p:spPr>
            <a:xfrm>
              <a:off x="3162300" y="3469005"/>
              <a:ext cx="342900" cy="131445"/>
            </a:xfrm>
            <a:custGeom>
              <a:avLst/>
              <a:gdLst/>
              <a:ahLst/>
              <a:cxnLst/>
              <a:rect l="l" t="t" r="r" b="b"/>
              <a:pathLst>
                <a:path w="342900" h="131445">
                  <a:moveTo>
                    <a:pt x="0" y="0"/>
                  </a:moveTo>
                  <a:lnTo>
                    <a:pt x="0" y="45720"/>
                  </a:lnTo>
                  <a:cubicBezTo>
                    <a:pt x="0" y="93066"/>
                    <a:pt x="76761" y="131445"/>
                    <a:pt x="171450" y="131445"/>
                  </a:cubicBezTo>
                  <a:cubicBezTo>
                    <a:pt x="266139" y="131445"/>
                    <a:pt x="342900" y="93066"/>
                    <a:pt x="342900" y="45720"/>
                  </a:cubicBezTo>
                  <a:lnTo>
                    <a:pt x="342900" y="0"/>
                  </a:lnTo>
                  <a:cubicBezTo>
                    <a:pt x="334679" y="5709"/>
                    <a:pt x="326281" y="10558"/>
                    <a:pt x="318243" y="14579"/>
                  </a:cubicBezTo>
                  <a:cubicBezTo>
                    <a:pt x="277720" y="34839"/>
                    <a:pt x="225743" y="45720"/>
                    <a:pt x="171450" y="45720"/>
                  </a:cubicBezTo>
                  <a:cubicBezTo>
                    <a:pt x="117157" y="45720"/>
                    <a:pt x="65178" y="34839"/>
                    <a:pt x="24658" y="14579"/>
                  </a:cubicBezTo>
                  <a:cubicBezTo>
                    <a:pt x="16619" y="10558"/>
                    <a:pt x="8222" y="5709"/>
                    <a:pt x="0" y="0"/>
                  </a:cubicBezTo>
                  <a:close/>
                </a:path>
              </a:pathLst>
            </a:custGeom>
            <a:solidFill>
              <a:srgbClr val="D12B1F"/>
            </a:solidFill>
            <a:ln>
              <a:noFill/>
            </a:ln>
          </p:spPr>
        </p:sp>
        <p:sp>
          <p:nvSpPr>
            <p:cNvPr id="9" name="Freeform 9"/>
            <p:cNvSpPr/>
            <p:nvPr/>
          </p:nvSpPr>
          <p:spPr>
            <a:xfrm>
              <a:off x="3162300" y="3143250"/>
              <a:ext cx="342900" cy="171450"/>
            </a:xfrm>
            <a:custGeom>
              <a:avLst/>
              <a:gdLst/>
              <a:ahLst/>
              <a:cxnLst/>
              <a:rect l="l" t="t" r="r" b="b"/>
              <a:pathLst>
                <a:path w="342900" h="171450">
                  <a:moveTo>
                    <a:pt x="171450" y="0"/>
                  </a:moveTo>
                  <a:cubicBezTo>
                    <a:pt x="266139" y="0"/>
                    <a:pt x="342900" y="38381"/>
                    <a:pt x="342900" y="85725"/>
                  </a:cubicBezTo>
                  <a:cubicBezTo>
                    <a:pt x="342900" y="133069"/>
                    <a:pt x="266139" y="171450"/>
                    <a:pt x="171450" y="171450"/>
                  </a:cubicBezTo>
                  <a:cubicBezTo>
                    <a:pt x="76761" y="171450"/>
                    <a:pt x="0" y="133069"/>
                    <a:pt x="0" y="85725"/>
                  </a:cubicBezTo>
                  <a:cubicBezTo>
                    <a:pt x="0" y="38381"/>
                    <a:pt x="76761" y="0"/>
                    <a:pt x="171450" y="0"/>
                  </a:cubicBezTo>
                  <a:close/>
                </a:path>
              </a:pathLst>
            </a:custGeom>
            <a:solidFill>
              <a:srgbClr val="D12B1F"/>
            </a:solidFill>
            <a:ln>
              <a:noFill/>
            </a:ln>
          </p:spPr>
        </p:sp>
      </p:grpSp>
      <p:sp>
        <p:nvSpPr>
          <p:cNvPr id="11" name="TextBox 11"/>
          <p:cNvSpPr txBox="1"/>
          <p:nvPr/>
        </p:nvSpPr>
        <p:spPr>
          <a:xfrm>
            <a:off x="3027164" y="3743325"/>
            <a:ext cx="613172" cy="304800"/>
          </a:xfrm>
          <a:prstGeom prst="rect">
            <a:avLst/>
          </a:prstGeom>
          <a:noFill/>
          <a:ln>
            <a:noFill/>
          </a:ln>
        </p:spPr>
        <p:txBody>
          <a:bodyPr wrap="none" lIns="0" tIns="0" rIns="0" bIns="0" anchor="t" anchorCtr="0">
            <a:spAutoFit/>
          </a:bodyPr>
          <a:lstStyle/>
          <a:p>
            <a:pPr algn="ctr"/>
            <a:r>
              <a:rPr lang="zh-CN" sz="1500" b="1" dirty="0">
                <a:solidFill>
                  <a:srgbClr val="D12B1F"/>
                </a:solidFill>
                <a:latin typeface="Arial"/>
                <a:ea typeface="Microsoft YaHei"/>
                <a:cs typeface="Arial"/>
              </a:rPr>
              <a:t>Redis</a:t>
            </a:r>
          </a:p>
        </p:txBody>
      </p:sp>
      <p:sp>
        <p:nvSpPr>
          <p:cNvPr id="12" name="TextBox 12"/>
          <p:cNvSpPr txBox="1"/>
          <p:nvPr/>
        </p:nvSpPr>
        <p:spPr>
          <a:xfrm>
            <a:off x="2769572" y="4009549"/>
            <a:ext cx="1128355"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Key-Value Store</a:t>
            </a:r>
          </a:p>
        </p:txBody>
      </p:sp>
      <p:sp>
        <p:nvSpPr>
          <p:cNvPr id="13" name="Line 13"/>
          <p:cNvSpPr/>
          <p:nvPr/>
        </p:nvSpPr>
        <p:spPr>
          <a:xfrm>
            <a:off x="1238250" y="1905000"/>
            <a:ext cx="1238250" cy="1143000"/>
          </a:xfrm>
          <a:custGeom>
            <a:avLst/>
            <a:gdLst/>
            <a:ahLst/>
            <a:cxnLst/>
            <a:rect l="l" t="t" r="r" b="b"/>
            <a:pathLst>
              <a:path w="1238250" h="1143000">
                <a:moveTo>
                  <a:pt x="1238250" y="1143000"/>
                </a:moveTo>
                <a:lnTo>
                  <a:pt x="0" y="0"/>
                </a:lnTo>
              </a:path>
            </a:pathLst>
          </a:custGeom>
          <a:noFill/>
          <a:ln w="19050">
            <a:solidFill>
              <a:srgbClr val="0B4DA2">
                <a:alpha val="40000"/>
              </a:srgbClr>
            </a:solidFill>
          </a:ln>
        </p:spPr>
      </p:sp>
      <p:sp>
        <p:nvSpPr>
          <p:cNvPr id="14" name="Ellipse 14"/>
          <p:cNvSpPr/>
          <p:nvPr/>
        </p:nvSpPr>
        <p:spPr>
          <a:xfrm>
            <a:off x="762000" y="1428750"/>
            <a:ext cx="952500" cy="952500"/>
          </a:xfrm>
          <a:prstGeom prst="ellipse">
            <a:avLst/>
          </a:prstGeom>
          <a:solidFill>
            <a:srgbClr val="0B4DA2">
              <a:alpha val="8000"/>
            </a:srgbClr>
          </a:solidFill>
          <a:ln w="14288">
            <a:solidFill>
              <a:srgbClr val="0B4DA2"/>
            </a:solidFill>
          </a:ln>
        </p:spPr>
      </p:sp>
      <p:sp>
        <p:nvSpPr>
          <p:cNvPr id="15" name="TextBox 15"/>
          <p:cNvSpPr txBox="1"/>
          <p:nvPr/>
        </p:nvSpPr>
        <p:spPr>
          <a:xfrm>
            <a:off x="987410" y="1744028"/>
            <a:ext cx="501679" cy="213360"/>
          </a:xfrm>
          <a:prstGeom prst="rect">
            <a:avLst/>
          </a:prstGeom>
          <a:noFill/>
          <a:ln>
            <a:noFill/>
          </a:ln>
        </p:spPr>
        <p:txBody>
          <a:bodyPr wrap="none" lIns="0" tIns="0" rIns="0" bIns="0" anchor="t" anchorCtr="0">
            <a:spAutoFit/>
          </a:bodyPr>
          <a:lstStyle/>
          <a:p>
            <a:pPr algn="ctr"/>
            <a:r>
              <a:rPr lang="zh-CN" sz="1050" b="1" dirty="0">
                <a:solidFill>
                  <a:srgbClr val="0B4DA2"/>
                </a:solidFill>
                <a:latin typeface="Arial"/>
                <a:ea typeface="Microsoft YaHei"/>
                <a:cs typeface="Arial"/>
              </a:rPr>
              <a:t>NoSQL</a:t>
            </a:r>
          </a:p>
        </p:txBody>
      </p:sp>
      <p:sp>
        <p:nvSpPr>
          <p:cNvPr id="16" name="TextBox 16"/>
          <p:cNvSpPr txBox="1"/>
          <p:nvPr/>
        </p:nvSpPr>
        <p:spPr>
          <a:xfrm>
            <a:off x="851237" y="1958816"/>
            <a:ext cx="774025"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Not Only SQL</a:t>
            </a:r>
          </a:p>
        </p:txBody>
      </p:sp>
      <p:sp>
        <p:nvSpPr>
          <p:cNvPr id="17" name="Line 17"/>
          <p:cNvSpPr/>
          <p:nvPr/>
        </p:nvSpPr>
        <p:spPr>
          <a:xfrm>
            <a:off x="1143000" y="3810000"/>
            <a:ext cx="1524000" cy="857250"/>
          </a:xfrm>
          <a:custGeom>
            <a:avLst/>
            <a:gdLst/>
            <a:ahLst/>
            <a:cxnLst/>
            <a:rect l="l" t="t" r="r" b="b"/>
            <a:pathLst>
              <a:path w="1524000" h="857250">
                <a:moveTo>
                  <a:pt x="1524000" y="0"/>
                </a:moveTo>
                <a:lnTo>
                  <a:pt x="0" y="857250"/>
                </a:lnTo>
              </a:path>
            </a:pathLst>
          </a:custGeom>
          <a:noFill/>
          <a:ln w="19050">
            <a:solidFill>
              <a:srgbClr val="006AF9">
                <a:alpha val="40000"/>
              </a:srgbClr>
            </a:solidFill>
          </a:ln>
        </p:spPr>
      </p:sp>
      <p:sp>
        <p:nvSpPr>
          <p:cNvPr id="18" name="Ellipse 18"/>
          <p:cNvSpPr/>
          <p:nvPr/>
        </p:nvSpPr>
        <p:spPr>
          <a:xfrm>
            <a:off x="666750" y="4191000"/>
            <a:ext cx="952500" cy="952500"/>
          </a:xfrm>
          <a:prstGeom prst="ellipse">
            <a:avLst/>
          </a:prstGeom>
          <a:solidFill>
            <a:srgbClr val="006AF9">
              <a:alpha val="8000"/>
            </a:srgbClr>
          </a:solidFill>
          <a:ln w="14288">
            <a:solidFill>
              <a:srgbClr val="006AF9"/>
            </a:solidFill>
          </a:ln>
        </p:spPr>
      </p:sp>
      <p:sp>
        <p:nvSpPr>
          <p:cNvPr id="19" name="TextBox 19"/>
          <p:cNvSpPr txBox="1"/>
          <p:nvPr/>
        </p:nvSpPr>
        <p:spPr>
          <a:xfrm>
            <a:off x="719064" y="4506278"/>
            <a:ext cx="847873" cy="213360"/>
          </a:xfrm>
          <a:prstGeom prst="rect">
            <a:avLst/>
          </a:prstGeom>
          <a:noFill/>
          <a:ln>
            <a:noFill/>
          </a:ln>
        </p:spPr>
        <p:txBody>
          <a:bodyPr wrap="none" lIns="0" tIns="0" rIns="0" bIns="0" anchor="t" anchorCtr="0">
            <a:spAutoFit/>
          </a:bodyPr>
          <a:lstStyle/>
          <a:p>
            <a:pPr algn="ctr"/>
            <a:r>
              <a:rPr lang="zh-CN" sz="1050" b="1" dirty="0">
                <a:solidFill>
                  <a:srgbClr val="006AF9"/>
                </a:solidFill>
                <a:latin typeface="Arial"/>
                <a:ea typeface="Microsoft YaHei"/>
                <a:cs typeface="Arial"/>
              </a:rPr>
              <a:t>In-Memory</a:t>
            </a:r>
          </a:p>
        </p:txBody>
      </p:sp>
      <p:sp>
        <p:nvSpPr>
          <p:cNvPr id="20" name="TextBox 20"/>
          <p:cNvSpPr txBox="1"/>
          <p:nvPr/>
        </p:nvSpPr>
        <p:spPr>
          <a:xfrm>
            <a:off x="752975" y="4721066"/>
            <a:ext cx="780050"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Lưu trên RAM</a:t>
            </a:r>
          </a:p>
        </p:txBody>
      </p:sp>
      <p:sp>
        <p:nvSpPr>
          <p:cNvPr id="21" name="Line 21"/>
          <p:cNvSpPr/>
          <p:nvPr/>
        </p:nvSpPr>
        <p:spPr>
          <a:xfrm>
            <a:off x="3333750" y="1524000"/>
            <a:ext cx="9525" cy="1143000"/>
          </a:xfrm>
          <a:custGeom>
            <a:avLst/>
            <a:gdLst/>
            <a:ahLst/>
            <a:cxnLst/>
            <a:rect l="l" t="t" r="r" b="b"/>
            <a:pathLst>
              <a:path w="9525" h="1143000">
                <a:moveTo>
                  <a:pt x="0" y="1143000"/>
                </a:moveTo>
                <a:lnTo>
                  <a:pt x="0" y="0"/>
                </a:lnTo>
              </a:path>
            </a:pathLst>
          </a:custGeom>
          <a:noFill/>
          <a:ln w="19050">
            <a:solidFill>
              <a:srgbClr val="2E7D32">
                <a:alpha val="40000"/>
              </a:srgbClr>
            </a:solidFill>
          </a:ln>
        </p:spPr>
      </p:sp>
      <p:sp>
        <p:nvSpPr>
          <p:cNvPr id="22" name="Ellipse 22"/>
          <p:cNvSpPr/>
          <p:nvPr/>
        </p:nvSpPr>
        <p:spPr>
          <a:xfrm>
            <a:off x="2857500" y="857250"/>
            <a:ext cx="952500" cy="952500"/>
          </a:xfrm>
          <a:prstGeom prst="ellipse">
            <a:avLst/>
          </a:prstGeom>
          <a:solidFill>
            <a:srgbClr val="2E7D32">
              <a:alpha val="8000"/>
            </a:srgbClr>
          </a:solidFill>
          <a:ln w="14288">
            <a:solidFill>
              <a:srgbClr val="2E7D32"/>
            </a:solidFill>
          </a:ln>
        </p:spPr>
      </p:sp>
      <p:sp>
        <p:nvSpPr>
          <p:cNvPr id="23" name="TextBox 23"/>
          <p:cNvSpPr txBox="1"/>
          <p:nvPr/>
        </p:nvSpPr>
        <p:spPr>
          <a:xfrm>
            <a:off x="2881635" y="1172528"/>
            <a:ext cx="904230"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Schemaless</a:t>
            </a:r>
          </a:p>
        </p:txBody>
      </p:sp>
      <p:sp>
        <p:nvSpPr>
          <p:cNvPr id="24" name="TextBox 24"/>
          <p:cNvSpPr txBox="1"/>
          <p:nvPr/>
        </p:nvSpPr>
        <p:spPr>
          <a:xfrm>
            <a:off x="2928664" y="1387316"/>
            <a:ext cx="810173"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Không schema</a:t>
            </a:r>
          </a:p>
        </p:txBody>
      </p:sp>
      <p:sp>
        <p:nvSpPr>
          <p:cNvPr id="25" name="Line 25"/>
          <p:cNvSpPr/>
          <p:nvPr/>
        </p:nvSpPr>
        <p:spPr>
          <a:xfrm>
            <a:off x="4191000" y="2095500"/>
            <a:ext cx="1143000" cy="1047750"/>
          </a:xfrm>
          <a:custGeom>
            <a:avLst/>
            <a:gdLst/>
            <a:ahLst/>
            <a:cxnLst/>
            <a:rect l="l" t="t" r="r" b="b"/>
            <a:pathLst>
              <a:path w="1143000" h="1047750">
                <a:moveTo>
                  <a:pt x="0" y="1047750"/>
                </a:moveTo>
                <a:lnTo>
                  <a:pt x="1143000" y="0"/>
                </a:lnTo>
              </a:path>
            </a:pathLst>
          </a:custGeom>
          <a:noFill/>
          <a:ln w="19050">
            <a:solidFill>
              <a:srgbClr val="D12B1F">
                <a:alpha val="40000"/>
              </a:srgbClr>
            </a:solidFill>
          </a:ln>
        </p:spPr>
      </p:sp>
      <p:sp>
        <p:nvSpPr>
          <p:cNvPr id="26" name="Ellipse 26"/>
          <p:cNvSpPr/>
          <p:nvPr/>
        </p:nvSpPr>
        <p:spPr>
          <a:xfrm>
            <a:off x="4857750" y="1428750"/>
            <a:ext cx="952500" cy="952500"/>
          </a:xfrm>
          <a:prstGeom prst="ellipse">
            <a:avLst/>
          </a:prstGeom>
          <a:solidFill>
            <a:srgbClr val="D12B1F">
              <a:alpha val="8000"/>
            </a:srgbClr>
          </a:solidFill>
          <a:ln w="14288">
            <a:solidFill>
              <a:srgbClr val="D12B1F"/>
            </a:solidFill>
          </a:ln>
        </p:spPr>
      </p:sp>
      <p:sp>
        <p:nvSpPr>
          <p:cNvPr id="27" name="TextBox 27"/>
          <p:cNvSpPr txBox="1"/>
          <p:nvPr/>
        </p:nvSpPr>
        <p:spPr>
          <a:xfrm>
            <a:off x="5232104" y="1744028"/>
            <a:ext cx="203792" cy="213360"/>
          </a:xfrm>
          <a:prstGeom prst="rect">
            <a:avLst/>
          </a:prstGeom>
          <a:noFill/>
          <a:ln>
            <a:noFill/>
          </a:ln>
        </p:spPr>
        <p:txBody>
          <a:bodyPr wrap="none" lIns="0" tIns="0" rIns="0" bIns="0" anchor="t" anchorCtr="0">
            <a:spAutoFit/>
          </a:bodyPr>
          <a:lstStyle/>
          <a:p>
            <a:pPr algn="ctr"/>
            <a:r>
              <a:rPr lang="zh-CN" sz="1050" b="1" dirty="0">
                <a:solidFill>
                  <a:srgbClr val="D12B1F"/>
                </a:solidFill>
                <a:latin typeface="Arial"/>
                <a:ea typeface="Microsoft YaHei"/>
                <a:cs typeface="Arial"/>
              </a:rPr>
              <a:t>CP</a:t>
            </a:r>
          </a:p>
        </p:txBody>
      </p:sp>
      <p:sp>
        <p:nvSpPr>
          <p:cNvPr id="28" name="TextBox 28"/>
          <p:cNvSpPr txBox="1"/>
          <p:nvPr/>
        </p:nvSpPr>
        <p:spPr>
          <a:xfrm>
            <a:off x="4962049" y="1958816"/>
            <a:ext cx="743902"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CAP Theorem</a:t>
            </a:r>
          </a:p>
        </p:txBody>
      </p:sp>
      <p:sp>
        <p:nvSpPr>
          <p:cNvPr id="29" name="Line 29"/>
          <p:cNvSpPr/>
          <p:nvPr/>
        </p:nvSpPr>
        <p:spPr>
          <a:xfrm>
            <a:off x="4095750" y="3905250"/>
            <a:ext cx="1238250" cy="857250"/>
          </a:xfrm>
          <a:custGeom>
            <a:avLst/>
            <a:gdLst/>
            <a:ahLst/>
            <a:cxnLst/>
            <a:rect l="l" t="t" r="r" b="b"/>
            <a:pathLst>
              <a:path w="1238250" h="857250">
                <a:moveTo>
                  <a:pt x="0" y="0"/>
                </a:moveTo>
                <a:lnTo>
                  <a:pt x="1238250" y="857250"/>
                </a:lnTo>
              </a:path>
            </a:pathLst>
          </a:custGeom>
          <a:noFill/>
          <a:ln w="19050">
            <a:solidFill>
              <a:srgbClr val="FF6B35">
                <a:alpha val="40000"/>
              </a:srgbClr>
            </a:solidFill>
          </a:ln>
        </p:spPr>
      </p:sp>
      <p:sp>
        <p:nvSpPr>
          <p:cNvPr id="30" name="Ellipse 30"/>
          <p:cNvSpPr/>
          <p:nvPr/>
        </p:nvSpPr>
        <p:spPr>
          <a:xfrm>
            <a:off x="4857750" y="4286250"/>
            <a:ext cx="952500" cy="952500"/>
          </a:xfrm>
          <a:prstGeom prst="ellipse">
            <a:avLst/>
          </a:prstGeom>
          <a:solidFill>
            <a:srgbClr val="FF6B35">
              <a:alpha val="8000"/>
            </a:srgbClr>
          </a:solidFill>
          <a:ln w="14288">
            <a:solidFill>
              <a:srgbClr val="FF6B35"/>
            </a:solidFill>
          </a:ln>
        </p:spPr>
      </p:sp>
      <p:sp>
        <p:nvSpPr>
          <p:cNvPr id="31" name="TextBox 31"/>
          <p:cNvSpPr txBox="1"/>
          <p:nvPr/>
        </p:nvSpPr>
        <p:spPr>
          <a:xfrm>
            <a:off x="4947821" y="4609624"/>
            <a:ext cx="772358" cy="198120"/>
          </a:xfrm>
          <a:prstGeom prst="rect">
            <a:avLst/>
          </a:prstGeom>
          <a:noFill/>
          <a:ln>
            <a:noFill/>
          </a:ln>
        </p:spPr>
        <p:txBody>
          <a:bodyPr wrap="none" lIns="0" tIns="0" rIns="0" bIns="0" anchor="t" anchorCtr="0">
            <a:spAutoFit/>
          </a:bodyPr>
          <a:lstStyle/>
          <a:p>
            <a:pPr algn="ctr"/>
            <a:r>
              <a:rPr lang="zh-CN" sz="975" b="1" dirty="0">
                <a:solidFill>
                  <a:srgbClr val="FF6B35"/>
                </a:solidFill>
                <a:latin typeface="Arial"/>
                <a:ea typeface="Microsoft YaHei"/>
                <a:cs typeface="Arial"/>
              </a:rPr>
              <a:t>Horizontal</a:t>
            </a:r>
          </a:p>
        </p:txBody>
      </p:sp>
      <p:sp>
        <p:nvSpPr>
          <p:cNvPr id="32" name="TextBox 32"/>
          <p:cNvSpPr txBox="1"/>
          <p:nvPr/>
        </p:nvSpPr>
        <p:spPr>
          <a:xfrm>
            <a:off x="4910840" y="4816316"/>
            <a:ext cx="846320"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Mở rộng ngang</a:t>
            </a:r>
          </a:p>
        </p:txBody>
      </p:sp>
      <p:grpSp>
        <p:nvGrpSpPr>
          <p:cNvPr id="69" name="Group 69"/>
          <p:cNvGrpSpPr/>
          <p:nvPr/>
        </p:nvGrpSpPr>
        <p:grpSpPr>
          <a:xfrm>
            <a:off x="6477000" y="952500"/>
            <a:ext cx="5143500" cy="4953000"/>
            <a:chOff x="6477000" y="952500"/>
            <a:chExt cx="5143500" cy="4953000"/>
          </a:xfrm>
          <a:effectLst>
            <a:outerShdw blurRad="190500" dist="38100" dir="10799140" algn="tl" rotWithShape="0">
              <a:srgbClr val="000000">
                <a:alpha val="12000"/>
              </a:srgbClr>
            </a:outerShdw>
          </a:effectLst>
        </p:grpSpPr>
        <p:sp>
          <p:nvSpPr>
            <p:cNvPr id="33" name="Freeform 33"/>
            <p:cNvSpPr/>
            <p:nvPr/>
          </p:nvSpPr>
          <p:spPr>
            <a:xfrm>
              <a:off x="6477000" y="952500"/>
              <a:ext cx="5143500" cy="4953000"/>
            </a:xfrm>
            <a:custGeom>
              <a:avLst/>
              <a:gdLst/>
              <a:ahLst/>
              <a:cxnLst/>
              <a:rect l="l" t="t" r="r" b="b"/>
              <a:pathLst>
                <a:path w="5143500" h="4953000">
                  <a:moveTo>
                    <a:pt x="114300" y="0"/>
                  </a:moveTo>
                  <a:lnTo>
                    <a:pt x="5029200" y="0"/>
                  </a:lnTo>
                  <a:cubicBezTo>
                    <a:pt x="5092326" y="0"/>
                    <a:pt x="5143500" y="51174"/>
                    <a:pt x="5143500" y="114300"/>
                  </a:cubicBezTo>
                  <a:lnTo>
                    <a:pt x="5143500" y="4838700"/>
                  </a:lnTo>
                  <a:cubicBezTo>
                    <a:pt x="5143500" y="4901826"/>
                    <a:pt x="5092326" y="4953000"/>
                    <a:pt x="502920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4" name="Freeform 34"/>
            <p:cNvSpPr/>
            <p:nvPr/>
          </p:nvSpPr>
          <p:spPr>
            <a:xfrm>
              <a:off x="6477000" y="952500"/>
              <a:ext cx="5143500" cy="476250"/>
            </a:xfrm>
            <a:custGeom>
              <a:avLst/>
              <a:gdLst/>
              <a:ahLst/>
              <a:cxnLst/>
              <a:rect l="l" t="t" r="r" b="b"/>
              <a:pathLst>
                <a:path w="5143500" h="476250">
                  <a:moveTo>
                    <a:pt x="114300" y="0"/>
                  </a:moveTo>
                  <a:lnTo>
                    <a:pt x="5029200" y="0"/>
                  </a:lnTo>
                  <a:cubicBezTo>
                    <a:pt x="5092326" y="0"/>
                    <a:pt x="5143500" y="51174"/>
                    <a:pt x="5143500" y="114300"/>
                  </a:cubicBezTo>
                  <a:lnTo>
                    <a:pt x="5143500" y="361950"/>
                  </a:lnTo>
                  <a:cubicBezTo>
                    <a:pt x="5143500" y="425076"/>
                    <a:pt x="5092326" y="476250"/>
                    <a:pt x="5029200" y="476250"/>
                  </a:cubicBezTo>
                  <a:lnTo>
                    <a:pt x="114300" y="476250"/>
                  </a:lnTo>
                  <a:cubicBezTo>
                    <a:pt x="51174" y="476250"/>
                    <a:pt x="0" y="425076"/>
                    <a:pt x="0" y="361950"/>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35" name="Rectangle 35"/>
            <p:cNvSpPr/>
            <p:nvPr/>
          </p:nvSpPr>
          <p:spPr>
            <a:xfrm>
              <a:off x="6477000" y="1314450"/>
              <a:ext cx="5143500" cy="114300"/>
            </a:xfrm>
            <a:prstGeom prst="rect">
              <a:avLst/>
            </a:prstGeom>
            <a:solidFill>
              <a:srgbClr val="0B4DA2"/>
            </a:solidFill>
            <a:ln>
              <a:noFill/>
            </a:ln>
            <a:effectLst>
              <a:outerShdw blurRad="190500" dist="38100" dir="10799140" algn="tl" rotWithShape="0">
                <a:srgbClr val="000000">
                  <a:alpha val="12000"/>
                </a:srgbClr>
              </a:outerShdw>
            </a:effectLst>
          </p:spPr>
        </p:sp>
        <p:sp>
          <p:nvSpPr>
            <p:cNvPr id="36" name="TextBox 36"/>
            <p:cNvSpPr txBox="1"/>
            <p:nvPr/>
          </p:nvSpPr>
          <p:spPr>
            <a:xfrm>
              <a:off x="7918841" y="1121092"/>
              <a:ext cx="2259818"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4 Loại NoSQL Database</a:t>
              </a:r>
            </a:p>
          </p:txBody>
        </p:sp>
        <p:sp>
          <p:nvSpPr>
            <p:cNvPr id="37" name="Freeform 37"/>
            <p:cNvSpPr/>
            <p:nvPr/>
          </p:nvSpPr>
          <p:spPr>
            <a:xfrm>
              <a:off x="6667500" y="1619250"/>
              <a:ext cx="4762500" cy="952500"/>
            </a:xfrm>
            <a:custGeom>
              <a:avLst/>
              <a:gdLst/>
              <a:ahLst/>
              <a:cxnLst/>
              <a:rect l="l" t="t" r="r" b="b"/>
              <a:pathLst>
                <a:path w="4762500" h="952500">
                  <a:moveTo>
                    <a:pt x="76200" y="0"/>
                  </a:moveTo>
                  <a:lnTo>
                    <a:pt x="4686300" y="0"/>
                  </a:lnTo>
                  <a:cubicBezTo>
                    <a:pt x="4728384" y="0"/>
                    <a:pt x="4762500" y="34116"/>
                    <a:pt x="4762500" y="76200"/>
                  </a:cubicBezTo>
                  <a:lnTo>
                    <a:pt x="4762500" y="876300"/>
                  </a:lnTo>
                  <a:cubicBezTo>
                    <a:pt x="4762500" y="918384"/>
                    <a:pt x="4728384" y="952500"/>
                    <a:pt x="4686300" y="952500"/>
                  </a:cubicBezTo>
                  <a:lnTo>
                    <a:pt x="76200" y="952500"/>
                  </a:lnTo>
                  <a:cubicBezTo>
                    <a:pt x="34116" y="952500"/>
                    <a:pt x="0" y="918384"/>
                    <a:pt x="0" y="876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sp>
        <p:sp>
          <p:nvSpPr>
            <p:cNvPr id="38" name="Freeform 38"/>
            <p:cNvSpPr/>
            <p:nvPr/>
          </p:nvSpPr>
          <p:spPr>
            <a:xfrm>
              <a:off x="6858000" y="1857375"/>
              <a:ext cx="342900" cy="342900"/>
            </a:xfrm>
            <a:custGeom>
              <a:avLst/>
              <a:gdLst/>
              <a:ahLst/>
              <a:cxnLst/>
              <a:rect l="l" t="t" r="r" b="b"/>
              <a:pathLst>
                <a:path w="342900" h="342900">
                  <a:moveTo>
                    <a:pt x="342900" y="117872"/>
                  </a:moveTo>
                  <a:cubicBezTo>
                    <a:pt x="342900" y="182971"/>
                    <a:pt x="290128" y="235744"/>
                    <a:pt x="225028" y="235744"/>
                  </a:cubicBezTo>
                  <a:lnTo>
                    <a:pt x="150019" y="235744"/>
                  </a:lnTo>
                  <a:lnTo>
                    <a:pt x="150019" y="278606"/>
                  </a:lnTo>
                  <a:lnTo>
                    <a:pt x="107156" y="278606"/>
                  </a:lnTo>
                  <a:lnTo>
                    <a:pt x="107156" y="321469"/>
                  </a:lnTo>
                  <a:lnTo>
                    <a:pt x="85725" y="342900"/>
                  </a:lnTo>
                  <a:lnTo>
                    <a:pt x="0" y="342900"/>
                  </a:lnTo>
                  <a:lnTo>
                    <a:pt x="0" y="257175"/>
                  </a:lnTo>
                  <a:lnTo>
                    <a:pt x="110660" y="146515"/>
                  </a:lnTo>
                  <a:cubicBezTo>
                    <a:pt x="108371" y="137345"/>
                    <a:pt x="107156" y="127750"/>
                    <a:pt x="107156" y="117872"/>
                  </a:cubicBezTo>
                  <a:cubicBezTo>
                    <a:pt x="107156" y="52773"/>
                    <a:pt x="159929" y="0"/>
                    <a:pt x="225028" y="0"/>
                  </a:cubicBezTo>
                  <a:cubicBezTo>
                    <a:pt x="290128" y="0"/>
                    <a:pt x="342900" y="52773"/>
                    <a:pt x="342900" y="117872"/>
                  </a:cubicBezTo>
                  <a:close/>
                  <a:moveTo>
                    <a:pt x="278606" y="85725"/>
                  </a:moveTo>
                  <a:cubicBezTo>
                    <a:pt x="278606" y="97561"/>
                    <a:pt x="269011" y="107156"/>
                    <a:pt x="257175" y="107156"/>
                  </a:cubicBezTo>
                  <a:cubicBezTo>
                    <a:pt x="245339" y="107156"/>
                    <a:pt x="235744" y="97561"/>
                    <a:pt x="235744" y="85725"/>
                  </a:cubicBezTo>
                  <a:cubicBezTo>
                    <a:pt x="235744" y="73889"/>
                    <a:pt x="245339" y="64294"/>
                    <a:pt x="257175" y="64294"/>
                  </a:cubicBezTo>
                  <a:cubicBezTo>
                    <a:pt x="269011" y="64294"/>
                    <a:pt x="278606" y="73889"/>
                    <a:pt x="278606" y="85725"/>
                  </a:cubicBezTo>
                  <a:close/>
                </a:path>
              </a:pathLst>
            </a:custGeom>
            <a:solidFill>
              <a:srgbClr val="D12B1F"/>
            </a:solidFill>
            <a:ln>
              <a:noFill/>
            </a:ln>
            <a:effectLst>
              <a:outerShdw blurRad="190500" dist="38100" dir="10799140" algn="tl" rotWithShape="0">
                <a:srgbClr val="000000">
                  <a:alpha val="12000"/>
                </a:srgbClr>
              </a:outerShdw>
            </a:effectLst>
          </p:spPr>
        </p:sp>
        <p:sp>
          <p:nvSpPr>
            <p:cNvPr id="39" name="TextBox 39"/>
            <p:cNvSpPr txBox="1"/>
            <p:nvPr/>
          </p:nvSpPr>
          <p:spPr>
            <a:xfrm>
              <a:off x="7317105" y="1806892"/>
              <a:ext cx="1638741"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D12B1F"/>
                  </a:solidFill>
                  <a:latin typeface="Arial"/>
                  <a:ea typeface="Microsoft YaHei"/>
                  <a:cs typeface="Arial"/>
                </a:rPr>
                <a:t>Key-Value Store</a:t>
              </a:r>
            </a:p>
          </p:txBody>
        </p:sp>
        <p:sp>
          <p:nvSpPr>
            <p:cNvPr id="40" name="TextBox 40"/>
            <p:cNvSpPr txBox="1"/>
            <p:nvPr/>
          </p:nvSpPr>
          <p:spPr>
            <a:xfrm>
              <a:off x="7320915" y="2058352"/>
              <a:ext cx="2625995"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2D3748"/>
                  </a:solidFill>
                  <a:latin typeface="Arial"/>
                  <a:ea typeface="Microsoft YaHei"/>
                  <a:cs typeface="Arial"/>
                </a:rPr>
                <a:t>Redis, DynamoDB, Riak, Memcached</a:t>
              </a:r>
            </a:p>
          </p:txBody>
        </p:sp>
        <p:sp>
          <p:nvSpPr>
            <p:cNvPr id="41" name="TextBox 41"/>
            <p:cNvSpPr txBox="1"/>
            <p:nvPr/>
          </p:nvSpPr>
          <p:spPr>
            <a:xfrm>
              <a:off x="7321868" y="2275999"/>
              <a:ext cx="2958179"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Đơn giản nhất, tốc độ cao, cache &amp; session</a:t>
              </a:r>
            </a:p>
          </p:txBody>
        </p:sp>
        <p:sp>
          <p:nvSpPr>
            <p:cNvPr id="42" name="Freeform 42"/>
            <p:cNvSpPr/>
            <p:nvPr/>
          </p:nvSpPr>
          <p:spPr>
            <a:xfrm>
              <a:off x="6667500" y="2667000"/>
              <a:ext cx="4762500" cy="952500"/>
            </a:xfrm>
            <a:custGeom>
              <a:avLst/>
              <a:gdLst/>
              <a:ahLst/>
              <a:cxnLst/>
              <a:rect l="l" t="t" r="r" b="b"/>
              <a:pathLst>
                <a:path w="4762500" h="952500">
                  <a:moveTo>
                    <a:pt x="76200" y="0"/>
                  </a:moveTo>
                  <a:lnTo>
                    <a:pt x="4686300" y="0"/>
                  </a:lnTo>
                  <a:cubicBezTo>
                    <a:pt x="4728384" y="0"/>
                    <a:pt x="4762500" y="34116"/>
                    <a:pt x="4762500" y="76200"/>
                  </a:cubicBezTo>
                  <a:lnTo>
                    <a:pt x="4762500" y="876300"/>
                  </a:lnTo>
                  <a:cubicBezTo>
                    <a:pt x="4762500" y="918384"/>
                    <a:pt x="4728384" y="952500"/>
                    <a:pt x="4686300" y="952500"/>
                  </a:cubicBezTo>
                  <a:lnTo>
                    <a:pt x="76200" y="952500"/>
                  </a:lnTo>
                  <a:cubicBezTo>
                    <a:pt x="34116" y="952500"/>
                    <a:pt x="0" y="918384"/>
                    <a:pt x="0" y="876300"/>
                  </a:cubicBezTo>
                  <a:lnTo>
                    <a:pt x="0" y="76200"/>
                  </a:lnTo>
                  <a:cubicBezTo>
                    <a:pt x="0" y="34116"/>
                    <a:pt x="34116" y="0"/>
                    <a:pt x="76200" y="0"/>
                  </a:cubicBezTo>
                  <a:close/>
                </a:path>
              </a:pathLst>
            </a:custGeom>
            <a:solidFill>
              <a:srgbClr val="F5F7FA"/>
            </a:solidFill>
            <a:ln>
              <a:noFill/>
            </a:ln>
            <a:effectLst>
              <a:outerShdw blurRad="190500" dist="38100" dir="10799140" algn="tl" rotWithShape="0">
                <a:srgbClr val="000000">
                  <a:alpha val="12000"/>
                </a:srgbClr>
              </a:outerShdw>
            </a:effectLst>
          </p:spPr>
        </p:sp>
        <p:grpSp>
          <p:nvGrpSpPr>
            <p:cNvPr id="48" name="Group 48"/>
            <p:cNvGrpSpPr/>
            <p:nvPr/>
          </p:nvGrpSpPr>
          <p:grpSpPr>
            <a:xfrm>
              <a:off x="6900862" y="2905125"/>
              <a:ext cx="257175" cy="342900"/>
              <a:chOff x="6900862" y="2905125"/>
              <a:chExt cx="257175" cy="342900"/>
            </a:xfrm>
          </p:grpSpPr>
          <p:sp>
            <p:nvSpPr>
              <p:cNvPr id="43" name="Freeform 43"/>
              <p:cNvSpPr/>
              <p:nvPr/>
            </p:nvSpPr>
            <p:spPr>
              <a:xfrm>
                <a:off x="6900862" y="2905125"/>
                <a:ext cx="257175" cy="85725"/>
              </a:xfrm>
              <a:custGeom>
                <a:avLst/>
                <a:gdLst/>
                <a:ahLst/>
                <a:cxnLst/>
                <a:rect l="l" t="t" r="r" b="b"/>
                <a:pathLst>
                  <a:path w="257175" h="85725">
                    <a:moveTo>
                      <a:pt x="257175" y="0"/>
                    </a:moveTo>
                    <a:lnTo>
                      <a:pt x="0" y="0"/>
                    </a:lnTo>
                    <a:lnTo>
                      <a:pt x="0" y="85725"/>
                    </a:lnTo>
                    <a:lnTo>
                      <a:pt x="257175" y="85725"/>
                    </a:lnTo>
                    <a:lnTo>
                      <a:pt x="257175" y="0"/>
                    </a:lnTo>
                    <a:close/>
                  </a:path>
                </a:pathLst>
              </a:custGeom>
              <a:solidFill>
                <a:srgbClr val="0B4DA2"/>
              </a:solidFill>
              <a:ln>
                <a:noFill/>
              </a:ln>
              <a:effectLst>
                <a:outerShdw blurRad="190500" dist="38100" dir="10799140" algn="tl" rotWithShape="0">
                  <a:srgbClr val="000000">
                    <a:alpha val="12000"/>
                  </a:srgbClr>
                </a:outerShdw>
              </a:effectLst>
            </p:spPr>
          </p:sp>
          <p:sp>
            <p:nvSpPr>
              <p:cNvPr id="44" name="Freeform 44"/>
              <p:cNvSpPr/>
              <p:nvPr/>
            </p:nvSpPr>
            <p:spPr>
              <a:xfrm>
                <a:off x="6900862" y="3033712"/>
                <a:ext cx="107156" cy="85725"/>
              </a:xfrm>
              <a:custGeom>
                <a:avLst/>
                <a:gdLst/>
                <a:ahLst/>
                <a:cxnLst/>
                <a:rect l="l" t="t" r="r" b="b"/>
                <a:pathLst>
                  <a:path w="107156" h="85725">
                    <a:moveTo>
                      <a:pt x="0" y="0"/>
                    </a:moveTo>
                    <a:lnTo>
                      <a:pt x="107156" y="0"/>
                    </a:lnTo>
                    <a:lnTo>
                      <a:pt x="107156" y="85725"/>
                    </a:lnTo>
                    <a:lnTo>
                      <a:pt x="0" y="85725"/>
                    </a:lnTo>
                    <a:lnTo>
                      <a:pt x="0" y="0"/>
                    </a:lnTo>
                    <a:close/>
                  </a:path>
                </a:pathLst>
              </a:custGeom>
              <a:solidFill>
                <a:srgbClr val="0B4DA2"/>
              </a:solidFill>
              <a:ln>
                <a:noFill/>
              </a:ln>
              <a:effectLst>
                <a:outerShdw blurRad="190500" dist="38100" dir="10799140" algn="tl" rotWithShape="0">
                  <a:srgbClr val="000000">
                    <a:alpha val="12000"/>
                  </a:srgbClr>
                </a:outerShdw>
              </a:effectLst>
            </p:spPr>
          </p:sp>
          <p:sp>
            <p:nvSpPr>
              <p:cNvPr id="45" name="Freeform 45"/>
              <p:cNvSpPr/>
              <p:nvPr/>
            </p:nvSpPr>
            <p:spPr>
              <a:xfrm>
                <a:off x="6900862" y="3162300"/>
                <a:ext cx="107156" cy="85725"/>
              </a:xfrm>
              <a:custGeom>
                <a:avLst/>
                <a:gdLst/>
                <a:ahLst/>
                <a:cxnLst/>
                <a:rect l="l" t="t" r="r" b="b"/>
                <a:pathLst>
                  <a:path w="107156" h="85725">
                    <a:moveTo>
                      <a:pt x="0" y="0"/>
                    </a:moveTo>
                    <a:lnTo>
                      <a:pt x="107156" y="0"/>
                    </a:lnTo>
                    <a:lnTo>
                      <a:pt x="107156" y="85725"/>
                    </a:lnTo>
                    <a:lnTo>
                      <a:pt x="0" y="85725"/>
                    </a:lnTo>
                    <a:lnTo>
                      <a:pt x="0" y="0"/>
                    </a:lnTo>
                    <a:close/>
                  </a:path>
                </a:pathLst>
              </a:custGeom>
              <a:solidFill>
                <a:srgbClr val="0B4DA2"/>
              </a:solidFill>
              <a:ln>
                <a:noFill/>
              </a:ln>
              <a:effectLst>
                <a:outerShdw blurRad="190500" dist="38100" dir="10799140" algn="tl" rotWithShape="0">
                  <a:srgbClr val="000000">
                    <a:alpha val="12000"/>
                  </a:srgbClr>
                </a:outerShdw>
              </a:effectLst>
            </p:spPr>
          </p:sp>
          <p:sp>
            <p:nvSpPr>
              <p:cNvPr id="46" name="Freeform 46"/>
              <p:cNvSpPr/>
              <p:nvPr/>
            </p:nvSpPr>
            <p:spPr>
              <a:xfrm>
                <a:off x="7050881" y="3162300"/>
                <a:ext cx="107156" cy="85725"/>
              </a:xfrm>
              <a:custGeom>
                <a:avLst/>
                <a:gdLst/>
                <a:ahLst/>
                <a:cxnLst/>
                <a:rect l="l" t="t" r="r" b="b"/>
                <a:pathLst>
                  <a:path w="107156" h="85725">
                    <a:moveTo>
                      <a:pt x="0" y="0"/>
                    </a:moveTo>
                    <a:lnTo>
                      <a:pt x="107156" y="0"/>
                    </a:lnTo>
                    <a:lnTo>
                      <a:pt x="107156" y="85725"/>
                    </a:lnTo>
                    <a:lnTo>
                      <a:pt x="0" y="85725"/>
                    </a:lnTo>
                    <a:lnTo>
                      <a:pt x="0" y="0"/>
                    </a:lnTo>
                    <a:close/>
                  </a:path>
                </a:pathLst>
              </a:custGeom>
              <a:solidFill>
                <a:srgbClr val="0B4DA2"/>
              </a:solidFill>
              <a:ln>
                <a:noFill/>
              </a:ln>
              <a:effectLst>
                <a:outerShdw blurRad="190500" dist="38100" dir="10799140" algn="tl" rotWithShape="0">
                  <a:srgbClr val="000000">
                    <a:alpha val="12000"/>
                  </a:srgbClr>
                </a:outerShdw>
              </a:effectLst>
            </p:spPr>
          </p:sp>
          <p:sp>
            <p:nvSpPr>
              <p:cNvPr id="47" name="Freeform 47"/>
              <p:cNvSpPr/>
              <p:nvPr/>
            </p:nvSpPr>
            <p:spPr>
              <a:xfrm>
                <a:off x="7050881" y="3033712"/>
                <a:ext cx="107156" cy="85725"/>
              </a:xfrm>
              <a:custGeom>
                <a:avLst/>
                <a:gdLst/>
                <a:ahLst/>
                <a:cxnLst/>
                <a:rect l="l" t="t" r="r" b="b"/>
                <a:pathLst>
                  <a:path w="107156" h="85725">
                    <a:moveTo>
                      <a:pt x="107156" y="0"/>
                    </a:moveTo>
                    <a:lnTo>
                      <a:pt x="0" y="0"/>
                    </a:lnTo>
                    <a:lnTo>
                      <a:pt x="0" y="85725"/>
                    </a:lnTo>
                    <a:lnTo>
                      <a:pt x="107156" y="85725"/>
                    </a:lnTo>
                    <a:lnTo>
                      <a:pt x="107156" y="0"/>
                    </a:lnTo>
                    <a:close/>
                  </a:path>
                </a:pathLst>
              </a:custGeom>
              <a:solidFill>
                <a:srgbClr val="0B4DA2"/>
              </a:solidFill>
              <a:ln>
                <a:noFill/>
              </a:ln>
              <a:effectLst>
                <a:outerShdw blurRad="190500" dist="38100" dir="10799140" algn="tl" rotWithShape="0">
                  <a:srgbClr val="000000">
                    <a:alpha val="12000"/>
                  </a:srgbClr>
                </a:outerShdw>
              </a:effectLst>
            </p:spPr>
          </p:sp>
        </p:grpSp>
        <p:sp>
          <p:nvSpPr>
            <p:cNvPr id="49" name="TextBox 49"/>
            <p:cNvSpPr txBox="1"/>
            <p:nvPr/>
          </p:nvSpPr>
          <p:spPr>
            <a:xfrm>
              <a:off x="7317105" y="2854642"/>
              <a:ext cx="1390309"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0B4DA2"/>
                  </a:solidFill>
                  <a:latin typeface="Arial"/>
                  <a:ea typeface="Microsoft YaHei"/>
                  <a:cs typeface="Arial"/>
                </a:rPr>
                <a:t>Column-Store</a:t>
              </a:r>
            </a:p>
          </p:txBody>
        </p:sp>
        <p:sp>
          <p:nvSpPr>
            <p:cNvPr id="50" name="TextBox 50"/>
            <p:cNvSpPr txBox="1"/>
            <p:nvPr/>
          </p:nvSpPr>
          <p:spPr>
            <a:xfrm>
              <a:off x="7320915" y="3106102"/>
              <a:ext cx="1337834"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2D3748"/>
                  </a:solidFill>
                  <a:latin typeface="Arial"/>
                  <a:ea typeface="Microsoft YaHei"/>
                  <a:cs typeface="Arial"/>
                </a:rPr>
                <a:t>Cassandra, HBase</a:t>
              </a:r>
            </a:p>
          </p:txBody>
        </p:sp>
        <p:sp>
          <p:nvSpPr>
            <p:cNvPr id="51" name="TextBox 51"/>
            <p:cNvSpPr txBox="1"/>
            <p:nvPr/>
          </p:nvSpPr>
          <p:spPr>
            <a:xfrm>
              <a:off x="7321868" y="3323749"/>
              <a:ext cx="191154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Lưu theo cột, phù hợp OLAP</a:t>
              </a:r>
            </a:p>
          </p:txBody>
        </p:sp>
        <p:sp>
          <p:nvSpPr>
            <p:cNvPr id="52" name="Freeform 52"/>
            <p:cNvSpPr/>
            <p:nvPr/>
          </p:nvSpPr>
          <p:spPr>
            <a:xfrm>
              <a:off x="6667500" y="3714750"/>
              <a:ext cx="4762500" cy="952500"/>
            </a:xfrm>
            <a:custGeom>
              <a:avLst/>
              <a:gdLst/>
              <a:ahLst/>
              <a:cxnLst/>
              <a:rect l="l" t="t" r="r" b="b"/>
              <a:pathLst>
                <a:path w="4762500" h="952500">
                  <a:moveTo>
                    <a:pt x="76200" y="0"/>
                  </a:moveTo>
                  <a:lnTo>
                    <a:pt x="4686300" y="0"/>
                  </a:lnTo>
                  <a:cubicBezTo>
                    <a:pt x="4728384" y="0"/>
                    <a:pt x="4762500" y="34116"/>
                    <a:pt x="4762500" y="76200"/>
                  </a:cubicBezTo>
                  <a:lnTo>
                    <a:pt x="4762500" y="876300"/>
                  </a:lnTo>
                  <a:cubicBezTo>
                    <a:pt x="4762500" y="918384"/>
                    <a:pt x="4728384" y="952500"/>
                    <a:pt x="4686300" y="952500"/>
                  </a:cubicBezTo>
                  <a:lnTo>
                    <a:pt x="76200" y="952500"/>
                  </a:lnTo>
                  <a:cubicBezTo>
                    <a:pt x="34116" y="952500"/>
                    <a:pt x="0" y="918384"/>
                    <a:pt x="0" y="876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sp>
        <p:grpSp>
          <p:nvGrpSpPr>
            <p:cNvPr id="56" name="Group 56"/>
            <p:cNvGrpSpPr/>
            <p:nvPr/>
          </p:nvGrpSpPr>
          <p:grpSpPr>
            <a:xfrm>
              <a:off x="6858000" y="3971275"/>
              <a:ext cx="342900" cy="306099"/>
              <a:chOff x="6858000" y="3971275"/>
              <a:chExt cx="342900" cy="306099"/>
            </a:xfrm>
          </p:grpSpPr>
          <p:sp>
            <p:nvSpPr>
              <p:cNvPr id="53" name="Freeform 53"/>
              <p:cNvSpPr/>
              <p:nvPr/>
            </p:nvSpPr>
            <p:spPr>
              <a:xfrm>
                <a:off x="6986803" y="3971275"/>
                <a:ext cx="85294" cy="306099"/>
              </a:xfrm>
              <a:custGeom>
                <a:avLst/>
                <a:gdLst/>
                <a:ahLst/>
                <a:cxnLst/>
                <a:rect l="l" t="t" r="r" b="b"/>
                <a:pathLst>
                  <a:path w="85294" h="306099">
                    <a:moveTo>
                      <a:pt x="42862" y="0"/>
                    </a:moveTo>
                    <a:lnTo>
                      <a:pt x="0" y="300038"/>
                    </a:lnTo>
                    <a:lnTo>
                      <a:pt x="42432" y="306099"/>
                    </a:lnTo>
                    <a:lnTo>
                      <a:pt x="85294" y="6062"/>
                    </a:lnTo>
                    <a:lnTo>
                      <a:pt x="42862" y="0"/>
                    </a:lnTo>
                    <a:close/>
                  </a:path>
                </a:pathLst>
              </a:custGeom>
              <a:solidFill>
                <a:srgbClr val="006AF9"/>
              </a:solidFill>
              <a:ln>
                <a:noFill/>
              </a:ln>
              <a:effectLst>
                <a:outerShdw blurRad="190500" dist="38100" dir="10799140" algn="tl" rotWithShape="0">
                  <a:srgbClr val="000000">
                    <a:alpha val="12000"/>
                  </a:srgbClr>
                </a:outerShdw>
              </a:effectLst>
            </p:spPr>
          </p:sp>
          <p:sp>
            <p:nvSpPr>
              <p:cNvPr id="54" name="Freeform 54"/>
              <p:cNvSpPr/>
              <p:nvPr/>
            </p:nvSpPr>
            <p:spPr>
              <a:xfrm>
                <a:off x="7095583" y="4049316"/>
                <a:ext cx="105317" cy="150019"/>
              </a:xfrm>
              <a:custGeom>
                <a:avLst/>
                <a:gdLst/>
                <a:ahLst/>
                <a:cxnLst/>
                <a:rect l="l" t="t" r="r" b="b"/>
                <a:pathLst>
                  <a:path w="105317" h="150019">
                    <a:moveTo>
                      <a:pt x="30308" y="150019"/>
                    </a:moveTo>
                    <a:lnTo>
                      <a:pt x="0" y="119711"/>
                    </a:lnTo>
                    <a:lnTo>
                      <a:pt x="44701" y="75009"/>
                    </a:lnTo>
                    <a:lnTo>
                      <a:pt x="0" y="30309"/>
                    </a:lnTo>
                    <a:lnTo>
                      <a:pt x="30308" y="0"/>
                    </a:lnTo>
                    <a:lnTo>
                      <a:pt x="105317" y="75009"/>
                    </a:lnTo>
                    <a:lnTo>
                      <a:pt x="30308" y="150019"/>
                    </a:lnTo>
                    <a:close/>
                  </a:path>
                </a:pathLst>
              </a:custGeom>
              <a:solidFill>
                <a:srgbClr val="006AF9"/>
              </a:solidFill>
              <a:ln>
                <a:noFill/>
              </a:ln>
              <a:effectLst>
                <a:outerShdw blurRad="190500" dist="38100" dir="10799140" algn="tl" rotWithShape="0">
                  <a:srgbClr val="000000">
                    <a:alpha val="12000"/>
                  </a:srgbClr>
                </a:outerShdw>
              </a:effectLst>
            </p:spPr>
          </p:sp>
          <p:sp>
            <p:nvSpPr>
              <p:cNvPr id="55" name="Freeform 55"/>
              <p:cNvSpPr/>
              <p:nvPr/>
            </p:nvSpPr>
            <p:spPr>
              <a:xfrm>
                <a:off x="6858000" y="4049316"/>
                <a:ext cx="105318" cy="150019"/>
              </a:xfrm>
              <a:custGeom>
                <a:avLst/>
                <a:gdLst/>
                <a:ahLst/>
                <a:cxnLst/>
                <a:rect l="l" t="t" r="r" b="b"/>
                <a:pathLst>
                  <a:path w="105318" h="150019">
                    <a:moveTo>
                      <a:pt x="60617" y="75009"/>
                    </a:moveTo>
                    <a:lnTo>
                      <a:pt x="105318" y="119711"/>
                    </a:lnTo>
                    <a:lnTo>
                      <a:pt x="75009" y="150019"/>
                    </a:lnTo>
                    <a:lnTo>
                      <a:pt x="0" y="75009"/>
                    </a:lnTo>
                    <a:lnTo>
                      <a:pt x="75009" y="0"/>
                    </a:lnTo>
                    <a:lnTo>
                      <a:pt x="105318" y="30309"/>
                    </a:lnTo>
                    <a:lnTo>
                      <a:pt x="60617" y="75009"/>
                    </a:lnTo>
                    <a:close/>
                  </a:path>
                </a:pathLst>
              </a:custGeom>
              <a:solidFill>
                <a:srgbClr val="006AF9"/>
              </a:solidFill>
              <a:ln>
                <a:noFill/>
              </a:ln>
              <a:effectLst>
                <a:outerShdw blurRad="190500" dist="38100" dir="10799140" algn="tl" rotWithShape="0">
                  <a:srgbClr val="000000">
                    <a:alpha val="12000"/>
                  </a:srgbClr>
                </a:outerShdw>
              </a:effectLst>
            </p:spPr>
          </p:sp>
        </p:grpSp>
        <p:sp>
          <p:nvSpPr>
            <p:cNvPr id="57" name="TextBox 57"/>
            <p:cNvSpPr txBox="1"/>
            <p:nvPr/>
          </p:nvSpPr>
          <p:spPr>
            <a:xfrm>
              <a:off x="7317105" y="3902392"/>
              <a:ext cx="1276445"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006AF9"/>
                  </a:solidFill>
                  <a:latin typeface="Arial"/>
                  <a:ea typeface="Microsoft YaHei"/>
                  <a:cs typeface="Arial"/>
                </a:rPr>
                <a:t>Document DB</a:t>
              </a:r>
            </a:p>
          </p:txBody>
        </p:sp>
        <p:sp>
          <p:nvSpPr>
            <p:cNvPr id="58" name="TextBox 58"/>
            <p:cNvSpPr txBox="1"/>
            <p:nvPr/>
          </p:nvSpPr>
          <p:spPr>
            <a:xfrm>
              <a:off x="7320915" y="4153852"/>
              <a:ext cx="1368504"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2D3748"/>
                  </a:solidFill>
                  <a:latin typeface="Arial"/>
                  <a:ea typeface="Microsoft YaHei"/>
                  <a:cs typeface="Arial"/>
                </a:rPr>
                <a:t>MongoDB, CouchDB</a:t>
              </a:r>
            </a:p>
          </p:txBody>
        </p:sp>
        <p:sp>
          <p:nvSpPr>
            <p:cNvPr id="59" name="TextBox 59"/>
            <p:cNvSpPr txBox="1"/>
            <p:nvPr/>
          </p:nvSpPr>
          <p:spPr>
            <a:xfrm>
              <a:off x="7321868" y="4371499"/>
              <a:ext cx="233874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Lưu JSON/XML, truy vấn linh hoạt</a:t>
              </a:r>
            </a:p>
          </p:txBody>
        </p:sp>
        <p:sp>
          <p:nvSpPr>
            <p:cNvPr id="60" name="Freeform 60"/>
            <p:cNvSpPr/>
            <p:nvPr/>
          </p:nvSpPr>
          <p:spPr>
            <a:xfrm>
              <a:off x="6667500" y="4762500"/>
              <a:ext cx="4762500" cy="952500"/>
            </a:xfrm>
            <a:custGeom>
              <a:avLst/>
              <a:gdLst/>
              <a:ahLst/>
              <a:cxnLst/>
              <a:rect l="l" t="t" r="r" b="b"/>
              <a:pathLst>
                <a:path w="4762500" h="952500">
                  <a:moveTo>
                    <a:pt x="76200" y="0"/>
                  </a:moveTo>
                  <a:lnTo>
                    <a:pt x="4686300" y="0"/>
                  </a:lnTo>
                  <a:cubicBezTo>
                    <a:pt x="4728384" y="0"/>
                    <a:pt x="4762500" y="34116"/>
                    <a:pt x="4762500" y="76200"/>
                  </a:cubicBezTo>
                  <a:lnTo>
                    <a:pt x="4762500" y="876300"/>
                  </a:lnTo>
                  <a:cubicBezTo>
                    <a:pt x="4762500" y="918384"/>
                    <a:pt x="4728384" y="952500"/>
                    <a:pt x="4686300" y="952500"/>
                  </a:cubicBezTo>
                  <a:lnTo>
                    <a:pt x="76200" y="952500"/>
                  </a:lnTo>
                  <a:cubicBezTo>
                    <a:pt x="34116" y="952500"/>
                    <a:pt x="0" y="918384"/>
                    <a:pt x="0" y="876300"/>
                  </a:cubicBezTo>
                  <a:lnTo>
                    <a:pt x="0" y="76200"/>
                  </a:lnTo>
                  <a:cubicBezTo>
                    <a:pt x="0" y="34116"/>
                    <a:pt x="34116" y="0"/>
                    <a:pt x="76200" y="0"/>
                  </a:cubicBezTo>
                  <a:close/>
                </a:path>
              </a:pathLst>
            </a:custGeom>
            <a:solidFill>
              <a:srgbClr val="F5F7FA"/>
            </a:solidFill>
            <a:ln>
              <a:noFill/>
            </a:ln>
            <a:effectLst>
              <a:outerShdw blurRad="190500" dist="38100" dir="10799140" algn="tl" rotWithShape="0">
                <a:srgbClr val="000000">
                  <a:alpha val="12000"/>
                </a:srgbClr>
              </a:outerShdw>
            </a:effectLst>
          </p:spPr>
        </p:sp>
        <p:grpSp>
          <p:nvGrpSpPr>
            <p:cNvPr id="65" name="Group 65"/>
            <p:cNvGrpSpPr/>
            <p:nvPr/>
          </p:nvGrpSpPr>
          <p:grpSpPr>
            <a:xfrm>
              <a:off x="6859326" y="5000625"/>
              <a:ext cx="340247" cy="342900"/>
              <a:chOff x="6859326" y="5000625"/>
              <a:chExt cx="340247" cy="342900"/>
            </a:xfrm>
          </p:grpSpPr>
          <p:sp>
            <p:nvSpPr>
              <p:cNvPr id="61" name="Freeform 61"/>
              <p:cNvSpPr/>
              <p:nvPr/>
            </p:nvSpPr>
            <p:spPr>
              <a:xfrm>
                <a:off x="6859326" y="5071520"/>
                <a:ext cx="340247" cy="79124"/>
              </a:xfrm>
              <a:custGeom>
                <a:avLst/>
                <a:gdLst/>
                <a:ahLst/>
                <a:cxnLst/>
                <a:rect l="l" t="t" r="r" b="b"/>
                <a:pathLst>
                  <a:path w="340247" h="79124">
                    <a:moveTo>
                      <a:pt x="31242" y="0"/>
                    </a:moveTo>
                    <a:cubicBezTo>
                      <a:pt x="14713" y="22790"/>
                      <a:pt x="3656" y="49808"/>
                      <a:pt x="0" y="79124"/>
                    </a:cubicBezTo>
                    <a:lnTo>
                      <a:pt x="340247" y="79124"/>
                    </a:lnTo>
                    <a:cubicBezTo>
                      <a:pt x="336591" y="49808"/>
                      <a:pt x="325534" y="22790"/>
                      <a:pt x="309005" y="0"/>
                    </a:cubicBezTo>
                    <a:cubicBezTo>
                      <a:pt x="308113" y="499"/>
                      <a:pt x="307209" y="998"/>
                      <a:pt x="306294" y="1498"/>
                    </a:cubicBezTo>
                    <a:cubicBezTo>
                      <a:pt x="274460" y="18861"/>
                      <a:pt x="228084" y="36261"/>
                      <a:pt x="170123" y="36261"/>
                    </a:cubicBezTo>
                    <a:cubicBezTo>
                      <a:pt x="112162" y="36261"/>
                      <a:pt x="65785" y="18861"/>
                      <a:pt x="33952" y="1498"/>
                    </a:cubicBezTo>
                    <a:cubicBezTo>
                      <a:pt x="33037" y="999"/>
                      <a:pt x="32134" y="499"/>
                      <a:pt x="31242" y="0"/>
                    </a:cubicBezTo>
                    <a:close/>
                  </a:path>
                </a:pathLst>
              </a:custGeom>
              <a:solidFill>
                <a:srgbClr val="2E7D32"/>
              </a:solidFill>
              <a:ln>
                <a:noFill/>
              </a:ln>
              <a:effectLst>
                <a:outerShdw blurRad="190500" dist="38100" dir="10799140" algn="tl" rotWithShape="0">
                  <a:srgbClr val="000000">
                    <a:alpha val="12000"/>
                  </a:srgbClr>
                </a:outerShdw>
              </a:effectLst>
            </p:spPr>
          </p:sp>
          <p:sp>
            <p:nvSpPr>
              <p:cNvPr id="62" name="Freeform 62"/>
              <p:cNvSpPr/>
              <p:nvPr/>
            </p:nvSpPr>
            <p:spPr>
              <a:xfrm>
                <a:off x="6921088" y="5000625"/>
                <a:ext cx="216722" cy="64294"/>
              </a:xfrm>
              <a:custGeom>
                <a:avLst/>
                <a:gdLst/>
                <a:ahLst/>
                <a:cxnLst/>
                <a:rect l="l" t="t" r="r" b="b"/>
                <a:pathLst>
                  <a:path w="216722" h="64294">
                    <a:moveTo>
                      <a:pt x="216722" y="38579"/>
                    </a:moveTo>
                    <a:cubicBezTo>
                      <a:pt x="190045" y="51981"/>
                      <a:pt x="153314" y="64294"/>
                      <a:pt x="108361" y="64294"/>
                    </a:cubicBezTo>
                    <a:cubicBezTo>
                      <a:pt x="63409" y="64294"/>
                      <a:pt x="26679" y="51981"/>
                      <a:pt x="0" y="38579"/>
                    </a:cubicBezTo>
                    <a:cubicBezTo>
                      <a:pt x="29534" y="14464"/>
                      <a:pt x="67259" y="0"/>
                      <a:pt x="108362" y="0"/>
                    </a:cubicBezTo>
                    <a:cubicBezTo>
                      <a:pt x="149464" y="0"/>
                      <a:pt x="187188" y="14464"/>
                      <a:pt x="216722" y="38579"/>
                    </a:cubicBezTo>
                    <a:close/>
                  </a:path>
                </a:pathLst>
              </a:custGeom>
              <a:solidFill>
                <a:srgbClr val="2E7D32"/>
              </a:solidFill>
              <a:ln>
                <a:noFill/>
              </a:ln>
              <a:effectLst>
                <a:outerShdw blurRad="190500" dist="38100" dir="10799140" algn="tl" rotWithShape="0">
                  <a:srgbClr val="000000">
                    <a:alpha val="12000"/>
                  </a:srgbClr>
                </a:outerShdw>
              </a:effectLst>
            </p:spPr>
          </p:sp>
          <p:sp>
            <p:nvSpPr>
              <p:cNvPr id="63" name="Freeform 63"/>
              <p:cNvSpPr/>
              <p:nvPr/>
            </p:nvSpPr>
            <p:spPr>
              <a:xfrm>
                <a:off x="6859326" y="5193506"/>
                <a:ext cx="340247" cy="79124"/>
              </a:xfrm>
              <a:custGeom>
                <a:avLst/>
                <a:gdLst/>
                <a:ahLst/>
                <a:cxnLst/>
                <a:rect l="l" t="t" r="r" b="b"/>
                <a:pathLst>
                  <a:path w="340247" h="79124">
                    <a:moveTo>
                      <a:pt x="0" y="0"/>
                    </a:moveTo>
                    <a:cubicBezTo>
                      <a:pt x="3656" y="29316"/>
                      <a:pt x="14713" y="56334"/>
                      <a:pt x="31242" y="79124"/>
                    </a:cubicBezTo>
                    <a:cubicBezTo>
                      <a:pt x="32134" y="78625"/>
                      <a:pt x="33037" y="78125"/>
                      <a:pt x="33952" y="77626"/>
                    </a:cubicBezTo>
                    <a:cubicBezTo>
                      <a:pt x="65786" y="60263"/>
                      <a:pt x="112163" y="42862"/>
                      <a:pt x="170124" y="42862"/>
                    </a:cubicBezTo>
                    <a:cubicBezTo>
                      <a:pt x="228084" y="42862"/>
                      <a:pt x="274462" y="60263"/>
                      <a:pt x="306294" y="77626"/>
                    </a:cubicBezTo>
                    <a:cubicBezTo>
                      <a:pt x="307211" y="78125"/>
                      <a:pt x="308113" y="78625"/>
                      <a:pt x="309005" y="79124"/>
                    </a:cubicBezTo>
                    <a:cubicBezTo>
                      <a:pt x="325534" y="56334"/>
                      <a:pt x="336591" y="29316"/>
                      <a:pt x="340247" y="0"/>
                    </a:cubicBezTo>
                    <a:lnTo>
                      <a:pt x="0" y="0"/>
                    </a:lnTo>
                    <a:close/>
                  </a:path>
                </a:pathLst>
              </a:custGeom>
              <a:solidFill>
                <a:srgbClr val="2E7D32"/>
              </a:solidFill>
              <a:ln>
                <a:noFill/>
              </a:ln>
              <a:effectLst>
                <a:outerShdw blurRad="190500" dist="38100" dir="10799140" algn="tl" rotWithShape="0">
                  <a:srgbClr val="000000">
                    <a:alpha val="12000"/>
                  </a:srgbClr>
                </a:outerShdw>
              </a:effectLst>
            </p:spPr>
          </p:sp>
          <p:sp>
            <p:nvSpPr>
              <p:cNvPr id="64" name="Freeform 64"/>
              <p:cNvSpPr/>
              <p:nvPr/>
            </p:nvSpPr>
            <p:spPr>
              <a:xfrm>
                <a:off x="6921089" y="5279231"/>
                <a:ext cx="216722" cy="64294"/>
              </a:xfrm>
              <a:custGeom>
                <a:avLst/>
                <a:gdLst/>
                <a:ahLst/>
                <a:cxnLst/>
                <a:rect l="l" t="t" r="r" b="b"/>
                <a:pathLst>
                  <a:path w="216722" h="64294">
                    <a:moveTo>
                      <a:pt x="108361" y="64294"/>
                    </a:moveTo>
                    <a:cubicBezTo>
                      <a:pt x="67259" y="64294"/>
                      <a:pt x="29534" y="49830"/>
                      <a:pt x="0" y="25715"/>
                    </a:cubicBezTo>
                    <a:cubicBezTo>
                      <a:pt x="26679" y="12312"/>
                      <a:pt x="63409" y="0"/>
                      <a:pt x="108361" y="0"/>
                    </a:cubicBezTo>
                    <a:cubicBezTo>
                      <a:pt x="153313" y="0"/>
                      <a:pt x="190044" y="12312"/>
                      <a:pt x="216722" y="25715"/>
                    </a:cubicBezTo>
                    <a:cubicBezTo>
                      <a:pt x="187188" y="49830"/>
                      <a:pt x="149464" y="64294"/>
                      <a:pt x="108361" y="64294"/>
                    </a:cubicBezTo>
                    <a:close/>
                  </a:path>
                </a:pathLst>
              </a:custGeom>
              <a:solidFill>
                <a:srgbClr val="2E7D32"/>
              </a:solidFill>
              <a:ln>
                <a:noFill/>
              </a:ln>
              <a:effectLst>
                <a:outerShdw blurRad="190500" dist="38100" dir="10799140" algn="tl" rotWithShape="0">
                  <a:srgbClr val="000000">
                    <a:alpha val="12000"/>
                  </a:srgbClr>
                </a:outerShdw>
              </a:effectLst>
            </p:spPr>
          </p:sp>
        </p:grpSp>
        <p:sp>
          <p:nvSpPr>
            <p:cNvPr id="66" name="TextBox 66"/>
            <p:cNvSpPr txBox="1"/>
            <p:nvPr/>
          </p:nvSpPr>
          <p:spPr>
            <a:xfrm>
              <a:off x="7317105" y="4950142"/>
              <a:ext cx="893447"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2E7D32"/>
                  </a:solidFill>
                  <a:latin typeface="Arial"/>
                  <a:ea typeface="Microsoft YaHei"/>
                  <a:cs typeface="Arial"/>
                </a:rPr>
                <a:t>Graph DB</a:t>
              </a:r>
            </a:p>
          </p:txBody>
        </p:sp>
        <p:sp>
          <p:nvSpPr>
            <p:cNvPr id="67" name="TextBox 67"/>
            <p:cNvSpPr txBox="1"/>
            <p:nvPr/>
          </p:nvSpPr>
          <p:spPr>
            <a:xfrm>
              <a:off x="7320915" y="5201602"/>
              <a:ext cx="1560195"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2D3748"/>
                  </a:solidFill>
                  <a:latin typeface="Arial"/>
                  <a:ea typeface="Microsoft YaHei"/>
                  <a:cs typeface="Arial"/>
                </a:rPr>
                <a:t>Neo4J, InfiniteGraph</a:t>
              </a:r>
            </a:p>
          </p:txBody>
        </p:sp>
        <p:sp>
          <p:nvSpPr>
            <p:cNvPr id="68" name="TextBox 68"/>
            <p:cNvSpPr txBox="1"/>
            <p:nvPr/>
          </p:nvSpPr>
          <p:spPr>
            <a:xfrm>
              <a:off x="7321868" y="5419249"/>
              <a:ext cx="1719310"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Node &amp; Edge, mạng xã hội</a:t>
              </a:r>
            </a:p>
          </p:txBody>
        </p:sp>
      </p:grpSp>
      <p:sp>
        <p:nvSpPr>
          <p:cNvPr id="70" name="TextBox 70"/>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03 / 25</a:t>
            </a:r>
          </a:p>
        </p:txBody>
      </p:sp>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4127868"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3.2 Tại sao cần NoSQL?</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grpSp>
        <p:nvGrpSpPr>
          <p:cNvPr id="10" name="Group 10"/>
          <p:cNvGrpSpPr/>
          <p:nvPr/>
        </p:nvGrpSpPr>
        <p:grpSpPr>
          <a:xfrm>
            <a:off x="571500" y="952500"/>
            <a:ext cx="5334000" cy="4953000"/>
            <a:chOff x="571500" y="952500"/>
            <a:chExt cx="5334000" cy="4953000"/>
          </a:xfrm>
          <a:effectLst>
            <a:outerShdw blurRad="190500" dist="38100" dir="10799140" algn="tl" rotWithShape="0">
              <a:srgbClr val="000000">
                <a:alpha val="12000"/>
              </a:srgbClr>
            </a:outerShdw>
          </a:effectLst>
        </p:grpSpPr>
        <p:sp>
          <p:nvSpPr>
            <p:cNvPr id="6" name="Freeform 6"/>
            <p:cNvSpPr/>
            <p:nvPr/>
          </p:nvSpPr>
          <p:spPr>
            <a:xfrm>
              <a:off x="571500" y="952500"/>
              <a:ext cx="5334000" cy="4953000"/>
            </a:xfrm>
            <a:custGeom>
              <a:avLst/>
              <a:gdLst/>
              <a:ahLst/>
              <a:cxnLst/>
              <a:rect l="l" t="t" r="r" b="b"/>
              <a:pathLst>
                <a:path w="5334000" h="4953000">
                  <a:moveTo>
                    <a:pt x="114300" y="0"/>
                  </a:moveTo>
                  <a:lnTo>
                    <a:pt x="5219700" y="0"/>
                  </a:lnTo>
                  <a:cubicBezTo>
                    <a:pt x="5282826" y="0"/>
                    <a:pt x="5334000" y="51174"/>
                    <a:pt x="5334000" y="114300"/>
                  </a:cubicBezTo>
                  <a:lnTo>
                    <a:pt x="5334000" y="4838700"/>
                  </a:lnTo>
                  <a:cubicBezTo>
                    <a:pt x="5334000" y="4901826"/>
                    <a:pt x="5282826" y="4953000"/>
                    <a:pt x="521970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52500"/>
              <a:ext cx="5334000" cy="476250"/>
            </a:xfrm>
            <a:custGeom>
              <a:avLst/>
              <a:gdLst/>
              <a:ahLst/>
              <a:cxnLst/>
              <a:rect l="l" t="t" r="r" b="b"/>
              <a:pathLst>
                <a:path w="5334000" h="476250">
                  <a:moveTo>
                    <a:pt x="114300" y="0"/>
                  </a:moveTo>
                  <a:lnTo>
                    <a:pt x="5219700" y="0"/>
                  </a:lnTo>
                  <a:cubicBezTo>
                    <a:pt x="5282826" y="0"/>
                    <a:pt x="5334000" y="51174"/>
                    <a:pt x="5334000" y="114300"/>
                  </a:cubicBezTo>
                  <a:lnTo>
                    <a:pt x="5334000" y="361950"/>
                  </a:lnTo>
                  <a:cubicBezTo>
                    <a:pt x="5334000" y="425076"/>
                    <a:pt x="5282826" y="476250"/>
                    <a:pt x="5219700" y="476250"/>
                  </a:cubicBezTo>
                  <a:lnTo>
                    <a:pt x="114300" y="476250"/>
                  </a:lnTo>
                  <a:cubicBezTo>
                    <a:pt x="51174" y="476250"/>
                    <a:pt x="0" y="425076"/>
                    <a:pt x="0" y="361950"/>
                  </a:cubicBezTo>
                  <a:lnTo>
                    <a:pt x="0" y="114300"/>
                  </a:lnTo>
                  <a:cubicBezTo>
                    <a:pt x="0" y="51174"/>
                    <a:pt x="51174" y="0"/>
                    <a:pt x="114300" y="0"/>
                  </a:cubicBezTo>
                  <a:close/>
                </a:path>
              </a:pathLst>
            </a:custGeom>
            <a:solidFill>
              <a:srgbClr val="C62828"/>
            </a:solidFill>
            <a:ln>
              <a:noFill/>
            </a:ln>
            <a:effectLst>
              <a:outerShdw blurRad="190500" dist="38100" dir="10799140" algn="tl" rotWithShape="0">
                <a:srgbClr val="000000">
                  <a:alpha val="12000"/>
                </a:srgbClr>
              </a:outerShdw>
            </a:effectLst>
          </p:spPr>
        </p:sp>
        <p:sp>
          <p:nvSpPr>
            <p:cNvPr id="8" name="Rectangle 8"/>
            <p:cNvSpPr/>
            <p:nvPr/>
          </p:nvSpPr>
          <p:spPr>
            <a:xfrm>
              <a:off x="571500" y="1314450"/>
              <a:ext cx="5334000" cy="114300"/>
            </a:xfrm>
            <a:prstGeom prst="rect">
              <a:avLst/>
            </a:prstGeom>
            <a:solidFill>
              <a:srgbClr val="C62828"/>
            </a:solidFill>
            <a:ln>
              <a:noFill/>
            </a:ln>
            <a:effectLst>
              <a:outerShdw blurRad="190500" dist="38100" dir="10799140" algn="tl" rotWithShape="0">
                <a:srgbClr val="000000">
                  <a:alpha val="12000"/>
                </a:srgbClr>
              </a:outerShdw>
            </a:effectLst>
          </p:spPr>
        </p:sp>
        <p:sp>
          <p:nvSpPr>
            <p:cNvPr id="9" name="TextBox 9"/>
            <p:cNvSpPr txBox="1"/>
            <p:nvPr/>
          </p:nvSpPr>
          <p:spPr>
            <a:xfrm>
              <a:off x="2310441" y="1111568"/>
              <a:ext cx="1856118"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Hạn chế của RDBMS</a:t>
              </a:r>
            </a:p>
          </p:txBody>
        </p:sp>
      </p:grpSp>
      <p:grpSp>
        <p:nvGrpSpPr>
          <p:cNvPr id="14" name="Group 14"/>
          <p:cNvGrpSpPr/>
          <p:nvPr/>
        </p:nvGrpSpPr>
        <p:grpSpPr>
          <a:xfrm>
            <a:off x="895350" y="1657350"/>
            <a:ext cx="3107889" cy="321469"/>
            <a:chOff x="895350" y="1657350"/>
            <a:chExt cx="3107889" cy="321469"/>
          </a:xfrm>
        </p:grpSpPr>
        <p:sp>
          <p:nvSpPr>
            <p:cNvPr id="11" name="Ellipse 11"/>
            <p:cNvSpPr/>
            <p:nvPr/>
          </p:nvSpPr>
          <p:spPr>
            <a:xfrm>
              <a:off x="895350" y="1657350"/>
              <a:ext cx="304800" cy="304800"/>
            </a:xfrm>
            <a:prstGeom prst="ellipse">
              <a:avLst/>
            </a:prstGeom>
            <a:solidFill>
              <a:srgbClr val="C62828">
                <a:alpha val="10000"/>
              </a:srgbClr>
            </a:solidFill>
            <a:ln>
              <a:noFill/>
            </a:ln>
          </p:spPr>
        </p:sp>
        <p:sp>
          <p:nvSpPr>
            <p:cNvPr id="12" name="TextBox 12"/>
            <p:cNvSpPr txBox="1"/>
            <p:nvPr/>
          </p:nvSpPr>
          <p:spPr>
            <a:xfrm>
              <a:off x="984314" y="172783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13" name="TextBox 13"/>
            <p:cNvSpPr txBox="1"/>
            <p:nvPr/>
          </p:nvSpPr>
          <p:spPr>
            <a:xfrm>
              <a:off x="1317308" y="1719739"/>
              <a:ext cx="2685931"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Chỉ hỗ trợ dữ liệu có cấu trúc</a:t>
              </a:r>
            </a:p>
          </p:txBody>
        </p:sp>
      </p:grpSp>
      <p:grpSp>
        <p:nvGrpSpPr>
          <p:cNvPr id="18" name="Group 18"/>
          <p:cNvGrpSpPr/>
          <p:nvPr/>
        </p:nvGrpSpPr>
        <p:grpSpPr>
          <a:xfrm>
            <a:off x="895350" y="2133600"/>
            <a:ext cx="3014782" cy="321469"/>
            <a:chOff x="895350" y="2133600"/>
            <a:chExt cx="3014782" cy="321469"/>
          </a:xfrm>
        </p:grpSpPr>
        <p:sp>
          <p:nvSpPr>
            <p:cNvPr id="15" name="Ellipse 15"/>
            <p:cNvSpPr/>
            <p:nvPr/>
          </p:nvSpPr>
          <p:spPr>
            <a:xfrm>
              <a:off x="895350" y="2133600"/>
              <a:ext cx="304800" cy="304800"/>
            </a:xfrm>
            <a:prstGeom prst="ellipse">
              <a:avLst/>
            </a:prstGeom>
            <a:solidFill>
              <a:srgbClr val="C62828">
                <a:alpha val="10000"/>
              </a:srgbClr>
            </a:solidFill>
            <a:ln>
              <a:noFill/>
            </a:ln>
          </p:spPr>
        </p:sp>
        <p:sp>
          <p:nvSpPr>
            <p:cNvPr id="16" name="TextBox 16"/>
            <p:cNvSpPr txBox="1"/>
            <p:nvPr/>
          </p:nvSpPr>
          <p:spPr>
            <a:xfrm>
              <a:off x="984314" y="220408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17" name="TextBox 17"/>
            <p:cNvSpPr txBox="1"/>
            <p:nvPr/>
          </p:nvSpPr>
          <p:spPr>
            <a:xfrm>
              <a:off x="1317308" y="2195989"/>
              <a:ext cx="259282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Khó xử lý dữ liệu phi cấu trúc</a:t>
              </a:r>
            </a:p>
          </p:txBody>
        </p:sp>
      </p:grpSp>
      <p:grpSp>
        <p:nvGrpSpPr>
          <p:cNvPr id="22" name="Group 22"/>
          <p:cNvGrpSpPr/>
          <p:nvPr/>
        </p:nvGrpSpPr>
        <p:grpSpPr>
          <a:xfrm>
            <a:off x="895350" y="2609850"/>
            <a:ext cx="3135821" cy="321469"/>
            <a:chOff x="895350" y="2609850"/>
            <a:chExt cx="3135821" cy="321469"/>
          </a:xfrm>
        </p:grpSpPr>
        <p:sp>
          <p:nvSpPr>
            <p:cNvPr id="19" name="Ellipse 19"/>
            <p:cNvSpPr/>
            <p:nvPr/>
          </p:nvSpPr>
          <p:spPr>
            <a:xfrm>
              <a:off x="895350" y="2609850"/>
              <a:ext cx="304800" cy="304800"/>
            </a:xfrm>
            <a:prstGeom prst="ellipse">
              <a:avLst/>
            </a:prstGeom>
            <a:solidFill>
              <a:srgbClr val="C62828">
                <a:alpha val="10000"/>
              </a:srgbClr>
            </a:solidFill>
            <a:ln>
              <a:noFill/>
            </a:ln>
          </p:spPr>
        </p:sp>
        <p:sp>
          <p:nvSpPr>
            <p:cNvPr id="20" name="TextBox 20"/>
            <p:cNvSpPr txBox="1"/>
            <p:nvPr/>
          </p:nvSpPr>
          <p:spPr>
            <a:xfrm>
              <a:off x="984314" y="268033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21" name="TextBox 21"/>
            <p:cNvSpPr txBox="1"/>
            <p:nvPr/>
          </p:nvSpPr>
          <p:spPr>
            <a:xfrm>
              <a:off x="1317308" y="2672239"/>
              <a:ext cx="2713863"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Mở rộng dọc (Vertical) đắt đỏ</a:t>
              </a:r>
            </a:p>
          </p:txBody>
        </p:sp>
      </p:grpSp>
      <p:grpSp>
        <p:nvGrpSpPr>
          <p:cNvPr id="26" name="Group 26"/>
          <p:cNvGrpSpPr/>
          <p:nvPr/>
        </p:nvGrpSpPr>
        <p:grpSpPr>
          <a:xfrm>
            <a:off x="895350" y="3086100"/>
            <a:ext cx="3284792" cy="321469"/>
            <a:chOff x="895350" y="3086100"/>
            <a:chExt cx="3284792" cy="321469"/>
          </a:xfrm>
        </p:grpSpPr>
        <p:sp>
          <p:nvSpPr>
            <p:cNvPr id="23" name="Ellipse 23"/>
            <p:cNvSpPr/>
            <p:nvPr/>
          </p:nvSpPr>
          <p:spPr>
            <a:xfrm>
              <a:off x="895350" y="3086100"/>
              <a:ext cx="304800" cy="304800"/>
            </a:xfrm>
            <a:prstGeom prst="ellipse">
              <a:avLst/>
            </a:prstGeom>
            <a:solidFill>
              <a:srgbClr val="C62828">
                <a:alpha val="10000"/>
              </a:srgbClr>
            </a:solidFill>
            <a:ln>
              <a:noFill/>
            </a:ln>
          </p:spPr>
        </p:sp>
        <p:sp>
          <p:nvSpPr>
            <p:cNvPr id="24" name="TextBox 24"/>
            <p:cNvSpPr txBox="1"/>
            <p:nvPr/>
          </p:nvSpPr>
          <p:spPr>
            <a:xfrm>
              <a:off x="984314" y="315658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25" name="TextBox 25"/>
            <p:cNvSpPr txBox="1"/>
            <p:nvPr/>
          </p:nvSpPr>
          <p:spPr>
            <a:xfrm>
              <a:off x="1317308" y="3148489"/>
              <a:ext cx="286283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Schema cứng nhắc, khó thay đổi</a:t>
              </a:r>
            </a:p>
          </p:txBody>
        </p:sp>
      </p:grpSp>
      <p:grpSp>
        <p:nvGrpSpPr>
          <p:cNvPr id="30" name="Group 30"/>
          <p:cNvGrpSpPr/>
          <p:nvPr/>
        </p:nvGrpSpPr>
        <p:grpSpPr>
          <a:xfrm>
            <a:off x="895350" y="3562350"/>
            <a:ext cx="2474762" cy="321469"/>
            <a:chOff x="895350" y="3562350"/>
            <a:chExt cx="2474762" cy="321469"/>
          </a:xfrm>
        </p:grpSpPr>
        <p:sp>
          <p:nvSpPr>
            <p:cNvPr id="27" name="Ellipse 27"/>
            <p:cNvSpPr/>
            <p:nvPr/>
          </p:nvSpPr>
          <p:spPr>
            <a:xfrm>
              <a:off x="895350" y="3562350"/>
              <a:ext cx="304800" cy="304800"/>
            </a:xfrm>
            <a:prstGeom prst="ellipse">
              <a:avLst/>
            </a:prstGeom>
            <a:solidFill>
              <a:srgbClr val="C62828">
                <a:alpha val="10000"/>
              </a:srgbClr>
            </a:solidFill>
            <a:ln>
              <a:noFill/>
            </a:ln>
          </p:spPr>
        </p:sp>
        <p:sp>
          <p:nvSpPr>
            <p:cNvPr id="28" name="TextBox 28"/>
            <p:cNvSpPr txBox="1"/>
            <p:nvPr/>
          </p:nvSpPr>
          <p:spPr>
            <a:xfrm>
              <a:off x="984314" y="363283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29" name="TextBox 29"/>
            <p:cNvSpPr txBox="1"/>
            <p:nvPr/>
          </p:nvSpPr>
          <p:spPr>
            <a:xfrm>
              <a:off x="1317308" y="3624739"/>
              <a:ext cx="205280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Không phù hợp Big Data</a:t>
              </a:r>
            </a:p>
          </p:txBody>
        </p:sp>
      </p:grpSp>
      <p:grpSp>
        <p:nvGrpSpPr>
          <p:cNvPr id="35" name="Group 35"/>
          <p:cNvGrpSpPr/>
          <p:nvPr/>
        </p:nvGrpSpPr>
        <p:grpSpPr>
          <a:xfrm>
            <a:off x="6286500" y="952500"/>
            <a:ext cx="5334000" cy="4953000"/>
            <a:chOff x="6286500" y="952500"/>
            <a:chExt cx="5334000" cy="4953000"/>
          </a:xfrm>
          <a:effectLst>
            <a:outerShdw blurRad="190500" dist="38100" dir="10799140" algn="tl" rotWithShape="0">
              <a:srgbClr val="000000">
                <a:alpha val="12000"/>
              </a:srgbClr>
            </a:outerShdw>
          </a:effectLst>
        </p:grpSpPr>
        <p:sp>
          <p:nvSpPr>
            <p:cNvPr id="31" name="Freeform 31"/>
            <p:cNvSpPr/>
            <p:nvPr/>
          </p:nvSpPr>
          <p:spPr>
            <a:xfrm>
              <a:off x="6286500" y="952500"/>
              <a:ext cx="5334000" cy="4953000"/>
            </a:xfrm>
            <a:custGeom>
              <a:avLst/>
              <a:gdLst/>
              <a:ahLst/>
              <a:cxnLst/>
              <a:rect l="l" t="t" r="r" b="b"/>
              <a:pathLst>
                <a:path w="5334000" h="4953000">
                  <a:moveTo>
                    <a:pt x="114300" y="0"/>
                  </a:moveTo>
                  <a:lnTo>
                    <a:pt x="5219700" y="0"/>
                  </a:lnTo>
                  <a:cubicBezTo>
                    <a:pt x="5282826" y="0"/>
                    <a:pt x="5334000" y="51174"/>
                    <a:pt x="5334000" y="114300"/>
                  </a:cubicBezTo>
                  <a:lnTo>
                    <a:pt x="5334000" y="4838700"/>
                  </a:lnTo>
                  <a:cubicBezTo>
                    <a:pt x="5334000" y="4901826"/>
                    <a:pt x="5282826" y="4953000"/>
                    <a:pt x="521970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2" name="Freeform 32"/>
            <p:cNvSpPr/>
            <p:nvPr/>
          </p:nvSpPr>
          <p:spPr>
            <a:xfrm>
              <a:off x="6286500" y="952500"/>
              <a:ext cx="5334000" cy="476250"/>
            </a:xfrm>
            <a:custGeom>
              <a:avLst/>
              <a:gdLst/>
              <a:ahLst/>
              <a:cxnLst/>
              <a:rect l="l" t="t" r="r" b="b"/>
              <a:pathLst>
                <a:path w="5334000" h="476250">
                  <a:moveTo>
                    <a:pt x="114300" y="0"/>
                  </a:moveTo>
                  <a:lnTo>
                    <a:pt x="5219700" y="0"/>
                  </a:lnTo>
                  <a:cubicBezTo>
                    <a:pt x="5282826" y="0"/>
                    <a:pt x="5334000" y="51174"/>
                    <a:pt x="5334000" y="114300"/>
                  </a:cubicBezTo>
                  <a:lnTo>
                    <a:pt x="5334000" y="361950"/>
                  </a:lnTo>
                  <a:cubicBezTo>
                    <a:pt x="5334000" y="425076"/>
                    <a:pt x="5282826" y="476250"/>
                    <a:pt x="5219700" y="476250"/>
                  </a:cubicBezTo>
                  <a:lnTo>
                    <a:pt x="114300" y="476250"/>
                  </a:lnTo>
                  <a:cubicBezTo>
                    <a:pt x="51174" y="476250"/>
                    <a:pt x="0" y="425076"/>
                    <a:pt x="0" y="361950"/>
                  </a:cubicBezTo>
                  <a:lnTo>
                    <a:pt x="0" y="114300"/>
                  </a:lnTo>
                  <a:cubicBezTo>
                    <a:pt x="0" y="51174"/>
                    <a:pt x="51174" y="0"/>
                    <a:pt x="114300" y="0"/>
                  </a:cubicBezTo>
                  <a:close/>
                </a:path>
              </a:pathLst>
            </a:custGeom>
            <a:solidFill>
              <a:srgbClr val="2E7D32"/>
            </a:solidFill>
            <a:ln>
              <a:noFill/>
            </a:ln>
            <a:effectLst>
              <a:outerShdw blurRad="190500" dist="38100" dir="10799140" algn="tl" rotWithShape="0">
                <a:srgbClr val="000000">
                  <a:alpha val="12000"/>
                </a:srgbClr>
              </a:outerShdw>
            </a:effectLst>
          </p:spPr>
        </p:sp>
        <p:sp>
          <p:nvSpPr>
            <p:cNvPr id="33" name="Rectangle 33"/>
            <p:cNvSpPr/>
            <p:nvPr/>
          </p:nvSpPr>
          <p:spPr>
            <a:xfrm>
              <a:off x="6286500" y="1314450"/>
              <a:ext cx="5334000" cy="114300"/>
            </a:xfrm>
            <a:prstGeom prst="rect">
              <a:avLst/>
            </a:prstGeom>
            <a:solidFill>
              <a:srgbClr val="2E7D32"/>
            </a:solidFill>
            <a:ln>
              <a:noFill/>
            </a:ln>
            <a:effectLst>
              <a:outerShdw blurRad="190500" dist="38100" dir="10799140" algn="tl" rotWithShape="0">
                <a:srgbClr val="000000">
                  <a:alpha val="12000"/>
                </a:srgbClr>
              </a:outerShdw>
            </a:effectLst>
          </p:spPr>
        </p:sp>
        <p:sp>
          <p:nvSpPr>
            <p:cNvPr id="34" name="TextBox 34"/>
            <p:cNvSpPr txBox="1"/>
            <p:nvPr/>
          </p:nvSpPr>
          <p:spPr>
            <a:xfrm>
              <a:off x="7854645" y="1111568"/>
              <a:ext cx="2197710"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Ưu điểm NoSQL &amp; Redis</a:t>
              </a:r>
            </a:p>
          </p:txBody>
        </p:sp>
      </p:grpSp>
      <p:grpSp>
        <p:nvGrpSpPr>
          <p:cNvPr id="39" name="Group 39"/>
          <p:cNvGrpSpPr/>
          <p:nvPr/>
        </p:nvGrpSpPr>
        <p:grpSpPr>
          <a:xfrm>
            <a:off x="6610350" y="1657350"/>
            <a:ext cx="2381655" cy="321469"/>
            <a:chOff x="6610350" y="1657350"/>
            <a:chExt cx="2381655" cy="321469"/>
          </a:xfrm>
        </p:grpSpPr>
        <p:sp>
          <p:nvSpPr>
            <p:cNvPr id="36" name="Ellipse 36"/>
            <p:cNvSpPr/>
            <p:nvPr/>
          </p:nvSpPr>
          <p:spPr>
            <a:xfrm>
              <a:off x="6610350" y="1657350"/>
              <a:ext cx="304800" cy="304800"/>
            </a:xfrm>
            <a:prstGeom prst="ellipse">
              <a:avLst/>
            </a:prstGeom>
            <a:solidFill>
              <a:srgbClr val="2E7D32">
                <a:alpha val="10000"/>
              </a:srgbClr>
            </a:solidFill>
            <a:ln>
              <a:noFill/>
            </a:ln>
          </p:spPr>
        </p:sp>
        <p:sp>
          <p:nvSpPr>
            <p:cNvPr id="37" name="TextBox 37"/>
            <p:cNvSpPr txBox="1"/>
            <p:nvPr/>
          </p:nvSpPr>
          <p:spPr>
            <a:xfrm>
              <a:off x="6699314" y="1727835"/>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38" name="TextBox 38"/>
            <p:cNvSpPr txBox="1"/>
            <p:nvPr/>
          </p:nvSpPr>
          <p:spPr>
            <a:xfrm>
              <a:off x="7032308" y="1719739"/>
              <a:ext cx="1959697"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Hỗ trợ mọi loại dữ liệu</a:t>
              </a:r>
            </a:p>
          </p:txBody>
        </p:sp>
      </p:grpSp>
      <p:grpSp>
        <p:nvGrpSpPr>
          <p:cNvPr id="43" name="Group 43"/>
          <p:cNvGrpSpPr/>
          <p:nvPr/>
        </p:nvGrpSpPr>
        <p:grpSpPr>
          <a:xfrm>
            <a:off x="6610350" y="2133600"/>
            <a:ext cx="3387210" cy="321469"/>
            <a:chOff x="6610350" y="2133600"/>
            <a:chExt cx="3387210" cy="321469"/>
          </a:xfrm>
        </p:grpSpPr>
        <p:sp>
          <p:nvSpPr>
            <p:cNvPr id="40" name="Ellipse 40"/>
            <p:cNvSpPr/>
            <p:nvPr/>
          </p:nvSpPr>
          <p:spPr>
            <a:xfrm>
              <a:off x="6610350" y="2133600"/>
              <a:ext cx="304800" cy="304800"/>
            </a:xfrm>
            <a:prstGeom prst="ellipse">
              <a:avLst/>
            </a:prstGeom>
            <a:solidFill>
              <a:srgbClr val="2E7D32">
                <a:alpha val="10000"/>
              </a:srgbClr>
            </a:solidFill>
            <a:ln>
              <a:noFill/>
            </a:ln>
          </p:spPr>
        </p:sp>
        <p:sp>
          <p:nvSpPr>
            <p:cNvPr id="41" name="TextBox 41"/>
            <p:cNvSpPr txBox="1"/>
            <p:nvPr/>
          </p:nvSpPr>
          <p:spPr>
            <a:xfrm>
              <a:off x="6699314" y="2204085"/>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42" name="TextBox 42"/>
            <p:cNvSpPr txBox="1"/>
            <p:nvPr/>
          </p:nvSpPr>
          <p:spPr>
            <a:xfrm>
              <a:off x="7032308" y="2195989"/>
              <a:ext cx="2965252"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Mở rộng ngang trên phần cứng rẻ</a:t>
              </a:r>
            </a:p>
          </p:txBody>
        </p:sp>
      </p:grpSp>
      <p:grpSp>
        <p:nvGrpSpPr>
          <p:cNvPr id="47" name="Group 47"/>
          <p:cNvGrpSpPr/>
          <p:nvPr/>
        </p:nvGrpSpPr>
        <p:grpSpPr>
          <a:xfrm>
            <a:off x="6610350" y="2609850"/>
            <a:ext cx="3042714" cy="321469"/>
            <a:chOff x="6610350" y="2609850"/>
            <a:chExt cx="3042714" cy="321469"/>
          </a:xfrm>
        </p:grpSpPr>
        <p:sp>
          <p:nvSpPr>
            <p:cNvPr id="44" name="Ellipse 44"/>
            <p:cNvSpPr/>
            <p:nvPr/>
          </p:nvSpPr>
          <p:spPr>
            <a:xfrm>
              <a:off x="6610350" y="2609850"/>
              <a:ext cx="304800" cy="304800"/>
            </a:xfrm>
            <a:prstGeom prst="ellipse">
              <a:avLst/>
            </a:prstGeom>
            <a:solidFill>
              <a:srgbClr val="2E7D32">
                <a:alpha val="10000"/>
              </a:srgbClr>
            </a:solidFill>
            <a:ln>
              <a:noFill/>
            </a:ln>
          </p:spPr>
        </p:sp>
        <p:sp>
          <p:nvSpPr>
            <p:cNvPr id="45" name="TextBox 45"/>
            <p:cNvSpPr txBox="1"/>
            <p:nvPr/>
          </p:nvSpPr>
          <p:spPr>
            <a:xfrm>
              <a:off x="6699314" y="2680335"/>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46" name="TextBox 46"/>
            <p:cNvSpPr txBox="1"/>
            <p:nvPr/>
          </p:nvSpPr>
          <p:spPr>
            <a:xfrm>
              <a:off x="7032308" y="2672239"/>
              <a:ext cx="2620756"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Schemaless — linh hoạt tối đa</a:t>
              </a:r>
            </a:p>
          </p:txBody>
        </p:sp>
      </p:grpSp>
      <p:grpSp>
        <p:nvGrpSpPr>
          <p:cNvPr id="51" name="Group 51"/>
          <p:cNvGrpSpPr/>
          <p:nvPr/>
        </p:nvGrpSpPr>
        <p:grpSpPr>
          <a:xfrm>
            <a:off x="6610350" y="3086100"/>
            <a:ext cx="2986850" cy="321469"/>
            <a:chOff x="6610350" y="3086100"/>
            <a:chExt cx="2986850" cy="321469"/>
          </a:xfrm>
        </p:grpSpPr>
        <p:sp>
          <p:nvSpPr>
            <p:cNvPr id="48" name="Ellipse 48"/>
            <p:cNvSpPr/>
            <p:nvPr/>
          </p:nvSpPr>
          <p:spPr>
            <a:xfrm>
              <a:off x="6610350" y="3086100"/>
              <a:ext cx="304800" cy="304800"/>
            </a:xfrm>
            <a:prstGeom prst="ellipse">
              <a:avLst/>
            </a:prstGeom>
            <a:solidFill>
              <a:srgbClr val="2E7D32">
                <a:alpha val="10000"/>
              </a:srgbClr>
            </a:solidFill>
            <a:ln>
              <a:noFill/>
            </a:ln>
          </p:spPr>
        </p:sp>
        <p:sp>
          <p:nvSpPr>
            <p:cNvPr id="49" name="TextBox 49"/>
            <p:cNvSpPr txBox="1"/>
            <p:nvPr/>
          </p:nvSpPr>
          <p:spPr>
            <a:xfrm>
              <a:off x="6699314" y="3156585"/>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50" name="TextBox 50"/>
            <p:cNvSpPr txBox="1"/>
            <p:nvPr/>
          </p:nvSpPr>
          <p:spPr>
            <a:xfrm>
              <a:off x="7032308" y="3148489"/>
              <a:ext cx="2564892"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Phù hợp Big Data &amp; Real-time</a:t>
              </a:r>
            </a:p>
          </p:txBody>
        </p:sp>
      </p:grpSp>
      <p:sp>
        <p:nvSpPr>
          <p:cNvPr id="52" name="Freeform 52"/>
          <p:cNvSpPr/>
          <p:nvPr/>
        </p:nvSpPr>
        <p:spPr>
          <a:xfrm>
            <a:off x="6572250" y="3810000"/>
            <a:ext cx="4762500" cy="1809750"/>
          </a:xfrm>
          <a:custGeom>
            <a:avLst/>
            <a:gdLst/>
            <a:ahLst/>
            <a:cxnLst/>
            <a:rect l="l" t="t" r="r" b="b"/>
            <a:pathLst>
              <a:path w="4762500" h="1809750">
                <a:moveTo>
                  <a:pt x="114300" y="0"/>
                </a:moveTo>
                <a:lnTo>
                  <a:pt x="4648200" y="0"/>
                </a:lnTo>
                <a:cubicBezTo>
                  <a:pt x="4711326" y="0"/>
                  <a:pt x="4762500" y="51174"/>
                  <a:pt x="4762500" y="114300"/>
                </a:cubicBezTo>
                <a:lnTo>
                  <a:pt x="4762500" y="1695450"/>
                </a:lnTo>
                <a:cubicBezTo>
                  <a:pt x="4762500" y="1758576"/>
                  <a:pt x="4711326" y="1809750"/>
                  <a:pt x="4648200" y="1809750"/>
                </a:cubicBezTo>
                <a:lnTo>
                  <a:pt x="114300" y="1809750"/>
                </a:lnTo>
                <a:cubicBezTo>
                  <a:pt x="51174" y="1809750"/>
                  <a:pt x="0" y="1758576"/>
                  <a:pt x="0" y="1695450"/>
                </a:cubicBezTo>
                <a:lnTo>
                  <a:pt x="0" y="114300"/>
                </a:lnTo>
                <a:cubicBezTo>
                  <a:pt x="0" y="51174"/>
                  <a:pt x="51174" y="0"/>
                  <a:pt x="114300" y="0"/>
                </a:cubicBezTo>
                <a:close/>
              </a:path>
            </a:pathLst>
          </a:custGeom>
          <a:solidFill>
            <a:srgbClr val="D12B1F">
              <a:alpha val="6000"/>
            </a:srgbClr>
          </a:solidFill>
          <a:ln w="14288">
            <a:solidFill>
              <a:srgbClr val="D12B1F">
                <a:alpha val="30000"/>
              </a:srgbClr>
            </a:solidFill>
          </a:ln>
        </p:spPr>
      </p:sp>
      <p:sp>
        <p:nvSpPr>
          <p:cNvPr id="53" name="TextBox 53"/>
          <p:cNvSpPr txBox="1"/>
          <p:nvPr/>
        </p:nvSpPr>
        <p:spPr>
          <a:xfrm>
            <a:off x="6745605" y="3997642"/>
            <a:ext cx="1938928" cy="274320"/>
          </a:xfrm>
          <a:prstGeom prst="rect">
            <a:avLst/>
          </a:prstGeom>
          <a:noFill/>
          <a:ln>
            <a:noFill/>
          </a:ln>
        </p:spPr>
        <p:txBody>
          <a:bodyPr wrap="none" lIns="0" tIns="0" rIns="0" bIns="0" anchor="t" anchorCtr="0">
            <a:spAutoFit/>
          </a:bodyPr>
          <a:lstStyle/>
          <a:p>
            <a:pPr algn="l"/>
            <a:r>
              <a:rPr lang="zh-CN" sz="1350" b="1" dirty="0">
                <a:solidFill>
                  <a:srgbClr val="D12B1F"/>
                </a:solidFill>
                <a:latin typeface="Arial"/>
                <a:ea typeface="Microsoft YaHei"/>
                <a:cs typeface="Arial"/>
              </a:rPr>
              <a:t>Tại sao chọn Redis?</a:t>
            </a:r>
          </a:p>
        </p:txBody>
      </p:sp>
      <p:grpSp>
        <p:nvGrpSpPr>
          <p:cNvPr id="56" name="Group 56"/>
          <p:cNvGrpSpPr/>
          <p:nvPr/>
        </p:nvGrpSpPr>
        <p:grpSpPr>
          <a:xfrm>
            <a:off x="6762750" y="4333875"/>
            <a:ext cx="228600" cy="228601"/>
            <a:chOff x="6762750" y="4333875"/>
            <a:chExt cx="228600" cy="228601"/>
          </a:xfrm>
        </p:grpSpPr>
        <p:sp>
          <p:nvSpPr>
            <p:cNvPr id="54" name="Freeform 54"/>
            <p:cNvSpPr/>
            <p:nvPr/>
          </p:nvSpPr>
          <p:spPr>
            <a:xfrm>
              <a:off x="6762750" y="4333875"/>
              <a:ext cx="228600" cy="128588"/>
            </a:xfrm>
            <a:custGeom>
              <a:avLst/>
              <a:gdLst/>
              <a:ahLst/>
              <a:cxnLst/>
              <a:rect l="l" t="t" r="r" b="b"/>
              <a:pathLst>
                <a:path w="228600" h="128588">
                  <a:moveTo>
                    <a:pt x="114300" y="0"/>
                  </a:moveTo>
                  <a:cubicBezTo>
                    <a:pt x="145863" y="0"/>
                    <a:pt x="171450" y="25587"/>
                    <a:pt x="171450" y="57150"/>
                  </a:cubicBezTo>
                  <a:lnTo>
                    <a:pt x="171450" y="71438"/>
                  </a:lnTo>
                  <a:cubicBezTo>
                    <a:pt x="203013" y="71438"/>
                    <a:pt x="228600" y="97024"/>
                    <a:pt x="228600" y="128588"/>
                  </a:cubicBezTo>
                  <a:lnTo>
                    <a:pt x="0" y="128588"/>
                  </a:lnTo>
                  <a:lnTo>
                    <a:pt x="0" y="114300"/>
                  </a:lnTo>
                  <a:cubicBezTo>
                    <a:pt x="0" y="82737"/>
                    <a:pt x="25587" y="57150"/>
                    <a:pt x="57150" y="57150"/>
                  </a:cubicBezTo>
                  <a:cubicBezTo>
                    <a:pt x="57150" y="25587"/>
                    <a:pt x="82737" y="0"/>
                    <a:pt x="114300" y="0"/>
                  </a:cubicBezTo>
                  <a:close/>
                </a:path>
              </a:pathLst>
            </a:custGeom>
            <a:solidFill>
              <a:srgbClr val="D12B1F"/>
            </a:solidFill>
            <a:ln>
              <a:noFill/>
            </a:ln>
          </p:spPr>
        </p:sp>
        <p:sp>
          <p:nvSpPr>
            <p:cNvPr id="55" name="Freeform 55"/>
            <p:cNvSpPr/>
            <p:nvPr/>
          </p:nvSpPr>
          <p:spPr>
            <a:xfrm>
              <a:off x="6819900" y="4491038"/>
              <a:ext cx="100012" cy="71438"/>
            </a:xfrm>
            <a:custGeom>
              <a:avLst/>
              <a:gdLst/>
              <a:ahLst/>
              <a:cxnLst/>
              <a:rect l="l" t="t" r="r" b="b"/>
              <a:pathLst>
                <a:path w="100012" h="71438">
                  <a:moveTo>
                    <a:pt x="100012" y="0"/>
                  </a:moveTo>
                  <a:lnTo>
                    <a:pt x="57150" y="71438"/>
                  </a:lnTo>
                  <a:lnTo>
                    <a:pt x="28575" y="71438"/>
                  </a:lnTo>
                  <a:lnTo>
                    <a:pt x="42862" y="28575"/>
                  </a:lnTo>
                  <a:lnTo>
                    <a:pt x="0" y="28575"/>
                  </a:lnTo>
                  <a:lnTo>
                    <a:pt x="7144" y="0"/>
                  </a:lnTo>
                  <a:lnTo>
                    <a:pt x="100012" y="0"/>
                  </a:lnTo>
                  <a:close/>
                </a:path>
              </a:pathLst>
            </a:custGeom>
            <a:solidFill>
              <a:srgbClr val="D12B1F"/>
            </a:solidFill>
            <a:ln>
              <a:noFill/>
            </a:ln>
          </p:spPr>
        </p:sp>
      </p:grpSp>
      <p:sp>
        <p:nvSpPr>
          <p:cNvPr id="57" name="TextBox 57"/>
          <p:cNvSpPr txBox="1"/>
          <p:nvPr/>
        </p:nvSpPr>
        <p:spPr>
          <a:xfrm>
            <a:off x="7081838" y="4402931"/>
            <a:ext cx="2912150"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Tốc độ cực nhanh — In-memory (RAM)</a:t>
            </a:r>
          </a:p>
        </p:txBody>
      </p:sp>
      <p:sp>
        <p:nvSpPr>
          <p:cNvPr id="58" name="Freeform 58"/>
          <p:cNvSpPr/>
          <p:nvPr/>
        </p:nvSpPr>
        <p:spPr>
          <a:xfrm>
            <a:off x="6762750" y="4667250"/>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00012" y="42862"/>
                </a:moveTo>
                <a:lnTo>
                  <a:pt x="100012" y="120218"/>
                </a:lnTo>
                <a:lnTo>
                  <a:pt x="147060" y="167265"/>
                </a:lnTo>
                <a:lnTo>
                  <a:pt x="167265" y="147060"/>
                </a:lnTo>
                <a:lnTo>
                  <a:pt x="128588" y="108382"/>
                </a:lnTo>
                <a:lnTo>
                  <a:pt x="128588" y="42862"/>
                </a:lnTo>
                <a:lnTo>
                  <a:pt x="100012" y="42862"/>
                </a:lnTo>
                <a:close/>
              </a:path>
            </a:pathLst>
          </a:custGeom>
          <a:solidFill>
            <a:srgbClr val="D12B1F"/>
          </a:solidFill>
          <a:ln>
            <a:noFill/>
          </a:ln>
        </p:spPr>
      </p:sp>
      <p:sp>
        <p:nvSpPr>
          <p:cNvPr id="59" name="TextBox 59"/>
          <p:cNvSpPr txBox="1"/>
          <p:nvPr/>
        </p:nvSpPr>
        <p:spPr>
          <a:xfrm>
            <a:off x="7081838" y="4736306"/>
            <a:ext cx="1942743"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Độ trễ thấp — micro giây</a:t>
            </a:r>
          </a:p>
        </p:txBody>
      </p:sp>
      <p:sp>
        <p:nvSpPr>
          <p:cNvPr id="60" name="Freeform 60"/>
          <p:cNvSpPr/>
          <p:nvPr/>
        </p:nvSpPr>
        <p:spPr>
          <a:xfrm>
            <a:off x="6777038" y="5014912"/>
            <a:ext cx="200025" cy="200025"/>
          </a:xfrm>
          <a:custGeom>
            <a:avLst/>
            <a:gdLst/>
            <a:ahLst/>
            <a:cxnLst/>
            <a:rect l="l" t="t" r="r" b="b"/>
            <a:pathLst>
              <a:path w="200025" h="200025">
                <a:moveTo>
                  <a:pt x="85725" y="0"/>
                </a:moveTo>
                <a:lnTo>
                  <a:pt x="0" y="0"/>
                </a:lnTo>
                <a:lnTo>
                  <a:pt x="0" y="85725"/>
                </a:lnTo>
                <a:lnTo>
                  <a:pt x="85725" y="85725"/>
                </a:lnTo>
                <a:lnTo>
                  <a:pt x="85725" y="0"/>
                </a:lnTo>
                <a:close/>
                <a:moveTo>
                  <a:pt x="85725" y="114300"/>
                </a:moveTo>
                <a:lnTo>
                  <a:pt x="0" y="114300"/>
                </a:lnTo>
                <a:lnTo>
                  <a:pt x="0" y="200025"/>
                </a:lnTo>
                <a:lnTo>
                  <a:pt x="85725" y="200025"/>
                </a:lnTo>
                <a:lnTo>
                  <a:pt x="85725" y="114300"/>
                </a:lnTo>
                <a:close/>
                <a:moveTo>
                  <a:pt x="114300" y="0"/>
                </a:moveTo>
                <a:lnTo>
                  <a:pt x="200025" y="0"/>
                </a:lnTo>
                <a:lnTo>
                  <a:pt x="200025" y="85725"/>
                </a:lnTo>
                <a:lnTo>
                  <a:pt x="114300" y="85725"/>
                </a:lnTo>
                <a:lnTo>
                  <a:pt x="114300" y="0"/>
                </a:lnTo>
                <a:close/>
                <a:moveTo>
                  <a:pt x="200025" y="114300"/>
                </a:moveTo>
                <a:lnTo>
                  <a:pt x="114300" y="114300"/>
                </a:lnTo>
                <a:lnTo>
                  <a:pt x="114300" y="200025"/>
                </a:lnTo>
                <a:lnTo>
                  <a:pt x="200025" y="200025"/>
                </a:lnTo>
                <a:lnTo>
                  <a:pt x="200025" y="114300"/>
                </a:lnTo>
                <a:close/>
              </a:path>
            </a:pathLst>
          </a:custGeom>
          <a:solidFill>
            <a:srgbClr val="D12B1F"/>
          </a:solidFill>
          <a:ln>
            <a:noFill/>
          </a:ln>
        </p:spPr>
      </p:sp>
      <p:sp>
        <p:nvSpPr>
          <p:cNvPr id="61" name="TextBox 61"/>
          <p:cNvSpPr txBox="1"/>
          <p:nvPr/>
        </p:nvSpPr>
        <p:spPr>
          <a:xfrm>
            <a:off x="7081838" y="5069681"/>
            <a:ext cx="2764274"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Đa dụng — Cache, Session, Pub/Sub</a:t>
            </a:r>
          </a:p>
        </p:txBody>
      </p:sp>
      <p:grpSp>
        <p:nvGrpSpPr>
          <p:cNvPr id="65" name="Group 65"/>
          <p:cNvGrpSpPr/>
          <p:nvPr/>
        </p:nvGrpSpPr>
        <p:grpSpPr>
          <a:xfrm>
            <a:off x="6777038" y="5334000"/>
            <a:ext cx="200025" cy="228600"/>
            <a:chOff x="6777038" y="5334000"/>
            <a:chExt cx="200025" cy="228600"/>
          </a:xfrm>
        </p:grpSpPr>
        <p:sp>
          <p:nvSpPr>
            <p:cNvPr id="62" name="Freeform 62"/>
            <p:cNvSpPr/>
            <p:nvPr/>
          </p:nvSpPr>
          <p:spPr>
            <a:xfrm>
              <a:off x="6777038" y="5334000"/>
              <a:ext cx="200025" cy="114300"/>
            </a:xfrm>
            <a:custGeom>
              <a:avLst/>
              <a:gdLst/>
              <a:ahLst/>
              <a:cxnLst/>
              <a:rect l="l" t="t" r="r" b="b"/>
              <a:pathLst>
                <a:path w="200025" h="114300">
                  <a:moveTo>
                    <a:pt x="0" y="71438"/>
                  </a:moveTo>
                  <a:lnTo>
                    <a:pt x="0" y="42862"/>
                  </a:lnTo>
                  <a:lnTo>
                    <a:pt x="100012" y="0"/>
                  </a:lnTo>
                  <a:lnTo>
                    <a:pt x="200025" y="42862"/>
                  </a:lnTo>
                  <a:lnTo>
                    <a:pt x="200025" y="71438"/>
                  </a:lnTo>
                  <a:lnTo>
                    <a:pt x="100012" y="114300"/>
                  </a:lnTo>
                  <a:lnTo>
                    <a:pt x="0" y="71438"/>
                  </a:lnTo>
                  <a:close/>
                </a:path>
              </a:pathLst>
            </a:custGeom>
            <a:solidFill>
              <a:srgbClr val="D12B1F"/>
            </a:solidFill>
            <a:ln>
              <a:noFill/>
            </a:ln>
          </p:spPr>
        </p:sp>
        <p:sp>
          <p:nvSpPr>
            <p:cNvPr id="63" name="Freeform 63"/>
            <p:cNvSpPr/>
            <p:nvPr/>
          </p:nvSpPr>
          <p:spPr>
            <a:xfrm>
              <a:off x="6777038" y="5491162"/>
              <a:ext cx="200025" cy="71438"/>
            </a:xfrm>
            <a:custGeom>
              <a:avLst/>
              <a:gdLst/>
              <a:ahLst/>
              <a:cxnLst/>
              <a:rect l="l" t="t" r="r" b="b"/>
              <a:pathLst>
                <a:path w="200025" h="71438">
                  <a:moveTo>
                    <a:pt x="100012" y="71438"/>
                  </a:moveTo>
                  <a:lnTo>
                    <a:pt x="0" y="28575"/>
                  </a:lnTo>
                  <a:lnTo>
                    <a:pt x="0" y="0"/>
                  </a:lnTo>
                  <a:lnTo>
                    <a:pt x="100012" y="42862"/>
                  </a:lnTo>
                  <a:lnTo>
                    <a:pt x="200025" y="0"/>
                  </a:lnTo>
                  <a:lnTo>
                    <a:pt x="200025" y="28575"/>
                  </a:lnTo>
                  <a:lnTo>
                    <a:pt x="100012" y="71438"/>
                  </a:lnTo>
                  <a:close/>
                </a:path>
              </a:pathLst>
            </a:custGeom>
            <a:solidFill>
              <a:srgbClr val="D12B1F"/>
            </a:solidFill>
            <a:ln>
              <a:noFill/>
            </a:ln>
          </p:spPr>
        </p:sp>
        <p:sp>
          <p:nvSpPr>
            <p:cNvPr id="64" name="Freeform 64"/>
            <p:cNvSpPr/>
            <p:nvPr/>
          </p:nvSpPr>
          <p:spPr>
            <a:xfrm>
              <a:off x="6777038" y="5434012"/>
              <a:ext cx="200025" cy="71438"/>
            </a:xfrm>
            <a:custGeom>
              <a:avLst/>
              <a:gdLst/>
              <a:ahLst/>
              <a:cxnLst/>
              <a:rect l="l" t="t" r="r" b="b"/>
              <a:pathLst>
                <a:path w="200025" h="71438">
                  <a:moveTo>
                    <a:pt x="0" y="28575"/>
                  </a:moveTo>
                  <a:lnTo>
                    <a:pt x="100012" y="71438"/>
                  </a:lnTo>
                  <a:lnTo>
                    <a:pt x="200025" y="28575"/>
                  </a:lnTo>
                  <a:lnTo>
                    <a:pt x="200025" y="0"/>
                  </a:lnTo>
                  <a:lnTo>
                    <a:pt x="100012" y="42862"/>
                  </a:lnTo>
                  <a:lnTo>
                    <a:pt x="0" y="0"/>
                  </a:lnTo>
                  <a:lnTo>
                    <a:pt x="0" y="28575"/>
                  </a:lnTo>
                  <a:close/>
                </a:path>
              </a:pathLst>
            </a:custGeom>
            <a:solidFill>
              <a:srgbClr val="D12B1F"/>
            </a:solidFill>
            <a:ln>
              <a:noFill/>
            </a:ln>
          </p:spPr>
        </p:sp>
      </p:grpSp>
      <p:sp>
        <p:nvSpPr>
          <p:cNvPr id="66" name="TextBox 66"/>
          <p:cNvSpPr txBox="1"/>
          <p:nvPr/>
        </p:nvSpPr>
        <p:spPr>
          <a:xfrm>
            <a:off x="7081838" y="5403056"/>
            <a:ext cx="1868805"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5 kiểu dữ liệu phong phú</a:t>
            </a:r>
          </a:p>
        </p:txBody>
      </p:sp>
      <p:sp>
        <p:nvSpPr>
          <p:cNvPr id="67" name="TextBox 67"/>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04 / 25</a:t>
            </a:r>
          </a:p>
        </p:txBody>
      </p:sp>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5452834"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3.3 Định lý CAP (CAP Theorem)</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sp>
        <p:nvSpPr>
          <p:cNvPr id="6" name="TextBox 6"/>
          <p:cNvSpPr txBox="1"/>
          <p:nvPr/>
        </p:nvSpPr>
        <p:spPr>
          <a:xfrm>
            <a:off x="556260" y="775335"/>
            <a:ext cx="6348603" cy="243840"/>
          </a:xfrm>
          <a:prstGeom prst="rect">
            <a:avLst/>
          </a:prstGeom>
          <a:noFill/>
          <a:ln>
            <a:noFill/>
          </a:ln>
        </p:spPr>
        <p:txBody>
          <a:bodyPr wrap="none" lIns="0" tIns="0" rIns="0" bIns="0" anchor="t" anchorCtr="0">
            <a:spAutoFit/>
          </a:bodyPr>
          <a:lstStyle/>
          <a:p>
            <a:pPr algn="l"/>
            <a:r>
              <a:rPr lang="zh-CN" sz="1200" dirty="0">
                <a:solidFill>
                  <a:srgbClr val="718096"/>
                </a:solidFill>
                <a:latin typeface="Arial"/>
                <a:ea typeface="Microsoft YaHei"/>
                <a:cs typeface="Arial"/>
              </a:rPr>
              <a:t>Do Eric Brewer đề xuất — Một hệ phân tán chỉ đạt được 2 trong 3 tính chất</a:t>
            </a:r>
          </a:p>
        </p:txBody>
      </p:sp>
      <p:sp>
        <p:nvSpPr>
          <p:cNvPr id="7" name="Ellipse 7"/>
          <p:cNvSpPr/>
          <p:nvPr/>
        </p:nvSpPr>
        <p:spPr>
          <a:xfrm>
            <a:off x="2286000" y="1428750"/>
            <a:ext cx="3048000" cy="3048000"/>
          </a:xfrm>
          <a:prstGeom prst="ellipse">
            <a:avLst/>
          </a:prstGeom>
          <a:solidFill>
            <a:srgbClr val="0B4DA2">
              <a:alpha val="12000"/>
            </a:srgbClr>
          </a:solidFill>
          <a:ln w="23812">
            <a:solidFill>
              <a:srgbClr val="0B4DA2">
                <a:alpha val="50000"/>
              </a:srgbClr>
            </a:solidFill>
          </a:ln>
        </p:spPr>
      </p:sp>
      <p:sp>
        <p:nvSpPr>
          <p:cNvPr id="8" name="TextBox 8"/>
          <p:cNvSpPr txBox="1"/>
          <p:nvPr/>
        </p:nvSpPr>
        <p:spPr>
          <a:xfrm>
            <a:off x="3123867" y="1838325"/>
            <a:ext cx="1372267" cy="304800"/>
          </a:xfrm>
          <a:prstGeom prst="rect">
            <a:avLst/>
          </a:prstGeom>
          <a:noFill/>
          <a:ln>
            <a:noFill/>
          </a:ln>
        </p:spPr>
        <p:txBody>
          <a:bodyPr wrap="none" lIns="0" tIns="0" rIns="0" bIns="0" anchor="t" anchorCtr="0">
            <a:spAutoFit/>
          </a:bodyPr>
          <a:lstStyle/>
          <a:p>
            <a:pPr algn="ctr"/>
            <a:r>
              <a:rPr lang="zh-CN" sz="1500" b="1" dirty="0">
                <a:solidFill>
                  <a:srgbClr val="0B4DA2"/>
                </a:solidFill>
                <a:latin typeface="Arial"/>
                <a:ea typeface="Microsoft YaHei"/>
                <a:cs typeface="Arial"/>
              </a:rPr>
              <a:t>Consistency</a:t>
            </a:r>
          </a:p>
        </p:txBody>
      </p:sp>
      <p:sp>
        <p:nvSpPr>
          <p:cNvPr id="9" name="TextBox 9"/>
          <p:cNvSpPr txBox="1"/>
          <p:nvPr/>
        </p:nvSpPr>
        <p:spPr>
          <a:xfrm>
            <a:off x="3244596" y="2105978"/>
            <a:ext cx="1130808"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Tính nhất quán</a:t>
            </a:r>
          </a:p>
        </p:txBody>
      </p:sp>
      <p:sp>
        <p:nvSpPr>
          <p:cNvPr id="10" name="Ellipse 10"/>
          <p:cNvSpPr/>
          <p:nvPr/>
        </p:nvSpPr>
        <p:spPr>
          <a:xfrm>
            <a:off x="1333500" y="3048000"/>
            <a:ext cx="3048000" cy="3048000"/>
          </a:xfrm>
          <a:prstGeom prst="ellipse">
            <a:avLst/>
          </a:prstGeom>
          <a:solidFill>
            <a:srgbClr val="2E7D32">
              <a:alpha val="12000"/>
            </a:srgbClr>
          </a:solidFill>
          <a:ln w="23812">
            <a:solidFill>
              <a:srgbClr val="2E7D32">
                <a:alpha val="50000"/>
              </a:srgbClr>
            </a:solidFill>
          </a:ln>
        </p:spPr>
      </p:sp>
      <p:sp>
        <p:nvSpPr>
          <p:cNvPr id="11" name="TextBox 11"/>
          <p:cNvSpPr txBox="1"/>
          <p:nvPr/>
        </p:nvSpPr>
        <p:spPr>
          <a:xfrm>
            <a:off x="1365873" y="5172075"/>
            <a:ext cx="1268754"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Arial"/>
                <a:ea typeface="Microsoft YaHei"/>
                <a:cs typeface="Arial"/>
              </a:rPr>
              <a:t>Availability</a:t>
            </a:r>
          </a:p>
        </p:txBody>
      </p:sp>
      <p:sp>
        <p:nvSpPr>
          <p:cNvPr id="12" name="TextBox 12"/>
          <p:cNvSpPr txBox="1"/>
          <p:nvPr/>
        </p:nvSpPr>
        <p:spPr>
          <a:xfrm>
            <a:off x="1477018" y="5439728"/>
            <a:ext cx="1046464"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Tính khả dụng</a:t>
            </a:r>
          </a:p>
        </p:txBody>
      </p:sp>
      <p:sp>
        <p:nvSpPr>
          <p:cNvPr id="13" name="Ellipse 13"/>
          <p:cNvSpPr/>
          <p:nvPr/>
        </p:nvSpPr>
        <p:spPr>
          <a:xfrm>
            <a:off x="3238500" y="3048000"/>
            <a:ext cx="3048000" cy="3048000"/>
          </a:xfrm>
          <a:prstGeom prst="ellipse">
            <a:avLst/>
          </a:prstGeom>
          <a:solidFill>
            <a:srgbClr val="D12B1F">
              <a:alpha val="12000"/>
            </a:srgbClr>
          </a:solidFill>
          <a:ln w="23812">
            <a:solidFill>
              <a:srgbClr val="D12B1F">
                <a:alpha val="50000"/>
              </a:srgbClr>
            </a:solidFill>
          </a:ln>
        </p:spPr>
      </p:sp>
      <p:sp>
        <p:nvSpPr>
          <p:cNvPr id="14" name="TextBox 14"/>
          <p:cNvSpPr txBox="1"/>
          <p:nvPr/>
        </p:nvSpPr>
        <p:spPr>
          <a:xfrm>
            <a:off x="5088886" y="5172075"/>
            <a:ext cx="1061728" cy="304800"/>
          </a:xfrm>
          <a:prstGeom prst="rect">
            <a:avLst/>
          </a:prstGeom>
          <a:noFill/>
          <a:ln>
            <a:noFill/>
          </a:ln>
        </p:spPr>
        <p:txBody>
          <a:bodyPr wrap="none" lIns="0" tIns="0" rIns="0" bIns="0" anchor="t" anchorCtr="0">
            <a:spAutoFit/>
          </a:bodyPr>
          <a:lstStyle/>
          <a:p>
            <a:pPr algn="ctr"/>
            <a:r>
              <a:rPr lang="zh-CN" sz="1500" b="1" dirty="0">
                <a:solidFill>
                  <a:srgbClr val="D12B1F"/>
                </a:solidFill>
                <a:latin typeface="Arial"/>
                <a:ea typeface="Microsoft YaHei"/>
                <a:cs typeface="Arial"/>
              </a:rPr>
              <a:t>Partition</a:t>
            </a:r>
          </a:p>
        </p:txBody>
      </p:sp>
      <p:sp>
        <p:nvSpPr>
          <p:cNvPr id="15" name="TextBox 15"/>
          <p:cNvSpPr txBox="1"/>
          <p:nvPr/>
        </p:nvSpPr>
        <p:spPr>
          <a:xfrm>
            <a:off x="4943165" y="5439728"/>
            <a:ext cx="1353169"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Chịu lỗi phân vùng</a:t>
            </a:r>
          </a:p>
        </p:txBody>
      </p:sp>
      <p:sp>
        <p:nvSpPr>
          <p:cNvPr id="16" name="TextBox 16"/>
          <p:cNvSpPr txBox="1"/>
          <p:nvPr/>
        </p:nvSpPr>
        <p:spPr>
          <a:xfrm>
            <a:off x="3129326" y="3402806"/>
            <a:ext cx="218349"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CA</a:t>
            </a:r>
          </a:p>
        </p:txBody>
      </p:sp>
      <p:sp>
        <p:nvSpPr>
          <p:cNvPr id="17" name="TextBox 17"/>
          <p:cNvSpPr txBox="1"/>
          <p:nvPr/>
        </p:nvSpPr>
        <p:spPr>
          <a:xfrm>
            <a:off x="3050298" y="3606641"/>
            <a:ext cx="376404"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RDBMS</a:t>
            </a:r>
          </a:p>
        </p:txBody>
      </p:sp>
      <p:sp>
        <p:nvSpPr>
          <p:cNvPr id="18" name="Freeform 18"/>
          <p:cNvSpPr/>
          <p:nvPr/>
        </p:nvSpPr>
        <p:spPr>
          <a:xfrm>
            <a:off x="4095750" y="3286125"/>
            <a:ext cx="571500" cy="476250"/>
          </a:xfrm>
          <a:custGeom>
            <a:avLst/>
            <a:gdLst/>
            <a:ahLst/>
            <a:cxnLst/>
            <a:rect l="l" t="t" r="r" b="b"/>
            <a:pathLst>
              <a:path w="571500" h="476250">
                <a:moveTo>
                  <a:pt x="76200" y="0"/>
                </a:moveTo>
                <a:lnTo>
                  <a:pt x="495300" y="0"/>
                </a:lnTo>
                <a:cubicBezTo>
                  <a:pt x="537384" y="0"/>
                  <a:pt x="571500" y="34116"/>
                  <a:pt x="571500" y="76200"/>
                </a:cubicBezTo>
                <a:lnTo>
                  <a:pt x="571500" y="400050"/>
                </a:lnTo>
                <a:cubicBezTo>
                  <a:pt x="571500" y="442134"/>
                  <a:pt x="537384" y="476250"/>
                  <a:pt x="495300" y="476250"/>
                </a:cubicBezTo>
                <a:lnTo>
                  <a:pt x="76200" y="476250"/>
                </a:lnTo>
                <a:cubicBezTo>
                  <a:pt x="34116" y="476250"/>
                  <a:pt x="0" y="442134"/>
                  <a:pt x="0" y="400050"/>
                </a:cubicBezTo>
                <a:lnTo>
                  <a:pt x="0" y="76200"/>
                </a:lnTo>
                <a:cubicBezTo>
                  <a:pt x="0" y="34116"/>
                  <a:pt x="34116" y="0"/>
                  <a:pt x="76200" y="0"/>
                </a:cubicBezTo>
                <a:close/>
              </a:path>
            </a:pathLst>
          </a:custGeom>
          <a:solidFill>
            <a:srgbClr val="D12B1F">
              <a:alpha val="15000"/>
            </a:srgbClr>
          </a:solidFill>
          <a:ln w="14288">
            <a:solidFill>
              <a:srgbClr val="D12B1F"/>
            </a:solidFill>
          </a:ln>
        </p:spPr>
      </p:sp>
      <p:sp>
        <p:nvSpPr>
          <p:cNvPr id="19" name="TextBox 19"/>
          <p:cNvSpPr txBox="1"/>
          <p:nvPr/>
        </p:nvSpPr>
        <p:spPr>
          <a:xfrm>
            <a:off x="4272326" y="3402806"/>
            <a:ext cx="218349" cy="228600"/>
          </a:xfrm>
          <a:prstGeom prst="rect">
            <a:avLst/>
          </a:prstGeom>
          <a:noFill/>
          <a:ln>
            <a:noFill/>
          </a:ln>
        </p:spPr>
        <p:txBody>
          <a:bodyPr wrap="none" lIns="0" tIns="0" rIns="0" bIns="0" anchor="t" anchorCtr="0">
            <a:spAutoFit/>
          </a:bodyPr>
          <a:lstStyle/>
          <a:p>
            <a:pPr algn="ctr"/>
            <a:r>
              <a:rPr lang="zh-CN" sz="1125" b="1" dirty="0">
                <a:solidFill>
                  <a:srgbClr val="D12B1F"/>
                </a:solidFill>
                <a:latin typeface="Arial"/>
                <a:ea typeface="Microsoft YaHei"/>
                <a:cs typeface="Arial"/>
              </a:rPr>
              <a:t>CP</a:t>
            </a:r>
          </a:p>
        </p:txBody>
      </p:sp>
      <p:sp>
        <p:nvSpPr>
          <p:cNvPr id="20" name="TextBox 20"/>
          <p:cNvSpPr txBox="1"/>
          <p:nvPr/>
        </p:nvSpPr>
        <p:spPr>
          <a:xfrm>
            <a:off x="4212878" y="3606641"/>
            <a:ext cx="337245" cy="167640"/>
          </a:xfrm>
          <a:prstGeom prst="rect">
            <a:avLst/>
          </a:prstGeom>
          <a:noFill/>
          <a:ln>
            <a:noFill/>
          </a:ln>
        </p:spPr>
        <p:txBody>
          <a:bodyPr wrap="none" lIns="0" tIns="0" rIns="0" bIns="0" anchor="t" anchorCtr="0">
            <a:spAutoFit/>
          </a:bodyPr>
          <a:lstStyle/>
          <a:p>
            <a:pPr algn="ctr"/>
            <a:r>
              <a:rPr lang="zh-CN" sz="825" b="1" dirty="0">
                <a:solidFill>
                  <a:srgbClr val="D12B1F"/>
                </a:solidFill>
                <a:latin typeface="Arial"/>
                <a:ea typeface="Microsoft YaHei"/>
                <a:cs typeface="Arial"/>
              </a:rPr>
              <a:t>Redis</a:t>
            </a:r>
          </a:p>
        </p:txBody>
      </p:sp>
      <p:sp>
        <p:nvSpPr>
          <p:cNvPr id="21" name="TextBox 21"/>
          <p:cNvSpPr txBox="1"/>
          <p:nvPr/>
        </p:nvSpPr>
        <p:spPr>
          <a:xfrm>
            <a:off x="3700826" y="4355306"/>
            <a:ext cx="218349"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Arial"/>
                <a:ea typeface="Microsoft YaHei"/>
                <a:cs typeface="Arial"/>
              </a:rPr>
              <a:t>AP</a:t>
            </a:r>
          </a:p>
        </p:txBody>
      </p:sp>
      <p:sp>
        <p:nvSpPr>
          <p:cNvPr id="22" name="TextBox 22"/>
          <p:cNvSpPr txBox="1"/>
          <p:nvPr/>
        </p:nvSpPr>
        <p:spPr>
          <a:xfrm>
            <a:off x="3501307" y="4559141"/>
            <a:ext cx="617387"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Cassandra</a:t>
            </a:r>
          </a:p>
        </p:txBody>
      </p:sp>
      <p:sp>
        <p:nvSpPr>
          <p:cNvPr id="23" name="Freeform 23"/>
          <p:cNvSpPr/>
          <p:nvPr/>
        </p:nvSpPr>
        <p:spPr>
          <a:xfrm>
            <a:off x="6667500" y="1143000"/>
            <a:ext cx="4953000" cy="4572000"/>
          </a:xfrm>
          <a:custGeom>
            <a:avLst/>
            <a:gdLst/>
            <a:ahLst/>
            <a:cxnLst/>
            <a:rect l="l" t="t" r="r" b="b"/>
            <a:pathLst>
              <a:path w="4953000" h="4572000">
                <a:moveTo>
                  <a:pt x="114300" y="0"/>
                </a:moveTo>
                <a:lnTo>
                  <a:pt x="4838700" y="0"/>
                </a:lnTo>
                <a:cubicBezTo>
                  <a:pt x="4901826" y="0"/>
                  <a:pt x="4953000" y="51174"/>
                  <a:pt x="4953000" y="114300"/>
                </a:cubicBezTo>
                <a:lnTo>
                  <a:pt x="4953000" y="4457700"/>
                </a:lnTo>
                <a:cubicBezTo>
                  <a:pt x="4953000" y="4520826"/>
                  <a:pt x="4901826" y="4572000"/>
                  <a:pt x="483870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4" name="Freeform 24"/>
          <p:cNvSpPr/>
          <p:nvPr/>
        </p:nvSpPr>
        <p:spPr>
          <a:xfrm>
            <a:off x="6667500" y="1143000"/>
            <a:ext cx="4953000" cy="428625"/>
          </a:xfrm>
          <a:custGeom>
            <a:avLst/>
            <a:gdLst/>
            <a:ahLst/>
            <a:cxnLst/>
            <a:rect l="l" t="t" r="r" b="b"/>
            <a:pathLst>
              <a:path w="4953000" h="428625">
                <a:moveTo>
                  <a:pt x="114300" y="0"/>
                </a:moveTo>
                <a:lnTo>
                  <a:pt x="4838700" y="0"/>
                </a:lnTo>
                <a:cubicBezTo>
                  <a:pt x="4901826" y="0"/>
                  <a:pt x="4953000" y="51174"/>
                  <a:pt x="4953000" y="114300"/>
                </a:cubicBezTo>
                <a:lnTo>
                  <a:pt x="4953000" y="314325"/>
                </a:lnTo>
                <a:cubicBezTo>
                  <a:pt x="4953000" y="377451"/>
                  <a:pt x="4901826" y="428625"/>
                  <a:pt x="4838700" y="428625"/>
                </a:cubicBezTo>
                <a:lnTo>
                  <a:pt x="114300" y="428625"/>
                </a:lnTo>
                <a:cubicBezTo>
                  <a:pt x="51174" y="428625"/>
                  <a:pt x="0" y="377451"/>
                  <a:pt x="0" y="314325"/>
                </a:cubicBezTo>
                <a:lnTo>
                  <a:pt x="0" y="114300"/>
                </a:lnTo>
                <a:cubicBezTo>
                  <a:pt x="0" y="51174"/>
                  <a:pt x="51174" y="0"/>
                  <a:pt x="114300" y="0"/>
                </a:cubicBezTo>
                <a:close/>
              </a:path>
            </a:pathLst>
          </a:custGeom>
          <a:solidFill>
            <a:srgbClr val="0B4DA2"/>
          </a:solidFill>
          <a:ln>
            <a:noFill/>
          </a:ln>
        </p:spPr>
      </p:sp>
      <p:sp>
        <p:nvSpPr>
          <p:cNvPr id="25" name="Rectangle 25"/>
          <p:cNvSpPr/>
          <p:nvPr/>
        </p:nvSpPr>
        <p:spPr>
          <a:xfrm>
            <a:off x="6667500" y="1457325"/>
            <a:ext cx="4953000" cy="114300"/>
          </a:xfrm>
          <a:prstGeom prst="rect">
            <a:avLst/>
          </a:prstGeom>
          <a:solidFill>
            <a:srgbClr val="0B4DA2"/>
          </a:solidFill>
          <a:ln>
            <a:noFill/>
          </a:ln>
        </p:spPr>
      </p:sp>
      <p:sp>
        <p:nvSpPr>
          <p:cNvPr id="26" name="TextBox 26"/>
          <p:cNvSpPr txBox="1"/>
          <p:nvPr/>
        </p:nvSpPr>
        <p:spPr>
          <a:xfrm>
            <a:off x="7320915" y="1315402"/>
            <a:ext cx="34065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Loại</a:t>
            </a:r>
          </a:p>
        </p:txBody>
      </p:sp>
      <p:sp>
        <p:nvSpPr>
          <p:cNvPr id="27" name="TextBox 27"/>
          <p:cNvSpPr txBox="1"/>
          <p:nvPr/>
        </p:nvSpPr>
        <p:spPr>
          <a:xfrm>
            <a:off x="8273415" y="1315402"/>
            <a:ext cx="783465"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Tính chất</a:t>
            </a:r>
          </a:p>
        </p:txBody>
      </p:sp>
      <p:sp>
        <p:nvSpPr>
          <p:cNvPr id="28" name="TextBox 28"/>
          <p:cNvSpPr txBox="1"/>
          <p:nvPr/>
        </p:nvSpPr>
        <p:spPr>
          <a:xfrm>
            <a:off x="10083165" y="1315402"/>
            <a:ext cx="42922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Ví dụ</a:t>
            </a:r>
          </a:p>
        </p:txBody>
      </p:sp>
      <p:sp>
        <p:nvSpPr>
          <p:cNvPr id="29" name="Freeform 29"/>
          <p:cNvSpPr/>
          <p:nvPr/>
        </p:nvSpPr>
        <p:spPr>
          <a:xfrm>
            <a:off x="6858000" y="1762125"/>
            <a:ext cx="571500" cy="285750"/>
          </a:xfrm>
          <a:custGeom>
            <a:avLst/>
            <a:gdLst/>
            <a:ahLst/>
            <a:cxnLst/>
            <a:rect l="l" t="t" r="r" b="b"/>
            <a:pathLst>
              <a:path w="571500" h="285750">
                <a:moveTo>
                  <a:pt x="57150" y="0"/>
                </a:moveTo>
                <a:lnTo>
                  <a:pt x="514350" y="0"/>
                </a:lnTo>
                <a:cubicBezTo>
                  <a:pt x="545913" y="0"/>
                  <a:pt x="571500" y="25587"/>
                  <a:pt x="571500" y="57150"/>
                </a:cubicBezTo>
                <a:lnTo>
                  <a:pt x="571500" y="228600"/>
                </a:lnTo>
                <a:cubicBezTo>
                  <a:pt x="571500" y="260163"/>
                  <a:pt x="545913" y="285750"/>
                  <a:pt x="514350" y="285750"/>
                </a:cubicBezTo>
                <a:lnTo>
                  <a:pt x="57150" y="285750"/>
                </a:lnTo>
                <a:cubicBezTo>
                  <a:pt x="25587" y="285750"/>
                  <a:pt x="0" y="260163"/>
                  <a:pt x="0" y="228600"/>
                </a:cubicBezTo>
                <a:lnTo>
                  <a:pt x="0" y="57150"/>
                </a:lnTo>
                <a:cubicBezTo>
                  <a:pt x="0" y="25587"/>
                  <a:pt x="25587" y="0"/>
                  <a:pt x="57150" y="0"/>
                </a:cubicBezTo>
                <a:close/>
              </a:path>
            </a:pathLst>
          </a:custGeom>
          <a:solidFill>
            <a:srgbClr val="0B4DA2">
              <a:alpha val="10000"/>
            </a:srgbClr>
          </a:solidFill>
          <a:ln>
            <a:noFill/>
          </a:ln>
        </p:spPr>
      </p:sp>
      <p:sp>
        <p:nvSpPr>
          <p:cNvPr id="30" name="TextBox 30"/>
          <p:cNvSpPr txBox="1"/>
          <p:nvPr/>
        </p:nvSpPr>
        <p:spPr>
          <a:xfrm>
            <a:off x="7027297" y="1823085"/>
            <a:ext cx="232905"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CA</a:t>
            </a:r>
          </a:p>
        </p:txBody>
      </p:sp>
      <p:sp>
        <p:nvSpPr>
          <p:cNvPr id="31" name="TextBox 31"/>
          <p:cNvSpPr txBox="1"/>
          <p:nvPr/>
        </p:nvSpPr>
        <p:spPr>
          <a:xfrm>
            <a:off x="8272462" y="1831181"/>
            <a:ext cx="2049542"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Consistency + Availability</a:t>
            </a:r>
          </a:p>
        </p:txBody>
      </p:sp>
      <p:sp>
        <p:nvSpPr>
          <p:cNvPr id="32" name="TextBox 32"/>
          <p:cNvSpPr txBox="1"/>
          <p:nvPr/>
        </p:nvSpPr>
        <p:spPr>
          <a:xfrm>
            <a:off x="10083165" y="1839278"/>
            <a:ext cx="1514189"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MySQL, PostgreSQL</a:t>
            </a:r>
          </a:p>
        </p:txBody>
      </p:sp>
      <p:sp>
        <p:nvSpPr>
          <p:cNvPr id="33" name="Freeform 33"/>
          <p:cNvSpPr/>
          <p:nvPr/>
        </p:nvSpPr>
        <p:spPr>
          <a:xfrm>
            <a:off x="6762750" y="2238375"/>
            <a:ext cx="4762500" cy="762000"/>
          </a:xfrm>
          <a:custGeom>
            <a:avLst/>
            <a:gdLst/>
            <a:ahLst/>
            <a:cxnLst/>
            <a:rect l="l" t="t" r="r" b="b"/>
            <a:pathLst>
              <a:path w="4762500" h="762000">
                <a:moveTo>
                  <a:pt x="76200" y="0"/>
                </a:moveTo>
                <a:lnTo>
                  <a:pt x="4686300" y="0"/>
                </a:lnTo>
                <a:cubicBezTo>
                  <a:pt x="4728384" y="0"/>
                  <a:pt x="4762500" y="34116"/>
                  <a:pt x="4762500" y="76200"/>
                </a:cubicBezTo>
                <a:lnTo>
                  <a:pt x="4762500" y="685800"/>
                </a:lnTo>
                <a:cubicBezTo>
                  <a:pt x="4762500" y="727884"/>
                  <a:pt x="4728384" y="762000"/>
                  <a:pt x="4686300" y="762000"/>
                </a:cubicBezTo>
                <a:lnTo>
                  <a:pt x="76200" y="762000"/>
                </a:lnTo>
                <a:cubicBezTo>
                  <a:pt x="34116" y="762000"/>
                  <a:pt x="0" y="727884"/>
                  <a:pt x="0" y="685800"/>
                </a:cubicBezTo>
                <a:lnTo>
                  <a:pt x="0" y="76200"/>
                </a:lnTo>
                <a:cubicBezTo>
                  <a:pt x="0" y="34116"/>
                  <a:pt x="34116" y="0"/>
                  <a:pt x="76200" y="0"/>
                </a:cubicBezTo>
                <a:close/>
              </a:path>
            </a:pathLst>
          </a:custGeom>
          <a:solidFill>
            <a:srgbClr val="D12B1F">
              <a:alpha val="6000"/>
            </a:srgbClr>
          </a:solidFill>
          <a:ln w="14288">
            <a:solidFill>
              <a:srgbClr val="D12B1F">
                <a:alpha val="30000"/>
              </a:srgbClr>
            </a:solidFill>
          </a:ln>
        </p:spPr>
      </p:sp>
      <p:sp>
        <p:nvSpPr>
          <p:cNvPr id="34" name="Freeform 34"/>
          <p:cNvSpPr/>
          <p:nvPr/>
        </p:nvSpPr>
        <p:spPr>
          <a:xfrm>
            <a:off x="6858000" y="2428875"/>
            <a:ext cx="571500" cy="285750"/>
          </a:xfrm>
          <a:custGeom>
            <a:avLst/>
            <a:gdLst/>
            <a:ahLst/>
            <a:cxnLst/>
            <a:rect l="l" t="t" r="r" b="b"/>
            <a:pathLst>
              <a:path w="571500" h="285750">
                <a:moveTo>
                  <a:pt x="57150" y="0"/>
                </a:moveTo>
                <a:lnTo>
                  <a:pt x="514350" y="0"/>
                </a:lnTo>
                <a:cubicBezTo>
                  <a:pt x="545913" y="0"/>
                  <a:pt x="571500" y="25587"/>
                  <a:pt x="571500" y="57150"/>
                </a:cubicBezTo>
                <a:lnTo>
                  <a:pt x="571500" y="228600"/>
                </a:lnTo>
                <a:cubicBezTo>
                  <a:pt x="571500" y="260163"/>
                  <a:pt x="545913" y="285750"/>
                  <a:pt x="514350" y="285750"/>
                </a:cubicBezTo>
                <a:lnTo>
                  <a:pt x="57150" y="285750"/>
                </a:lnTo>
                <a:cubicBezTo>
                  <a:pt x="25587" y="285750"/>
                  <a:pt x="0" y="260163"/>
                  <a:pt x="0" y="228600"/>
                </a:cubicBezTo>
                <a:lnTo>
                  <a:pt x="0" y="57150"/>
                </a:lnTo>
                <a:cubicBezTo>
                  <a:pt x="0" y="25587"/>
                  <a:pt x="25587" y="0"/>
                  <a:pt x="57150" y="0"/>
                </a:cubicBezTo>
                <a:close/>
              </a:path>
            </a:pathLst>
          </a:custGeom>
          <a:solidFill>
            <a:srgbClr val="D12B1F">
              <a:alpha val="15000"/>
            </a:srgbClr>
          </a:solidFill>
          <a:ln>
            <a:noFill/>
          </a:ln>
        </p:spPr>
      </p:sp>
      <p:sp>
        <p:nvSpPr>
          <p:cNvPr id="35" name="TextBox 35"/>
          <p:cNvSpPr txBox="1"/>
          <p:nvPr/>
        </p:nvSpPr>
        <p:spPr>
          <a:xfrm>
            <a:off x="7027297" y="2489835"/>
            <a:ext cx="232905"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CP</a:t>
            </a:r>
          </a:p>
        </p:txBody>
      </p:sp>
      <p:sp>
        <p:nvSpPr>
          <p:cNvPr id="36" name="TextBox 36"/>
          <p:cNvSpPr txBox="1"/>
          <p:nvPr/>
        </p:nvSpPr>
        <p:spPr>
          <a:xfrm>
            <a:off x="8272462" y="2431256"/>
            <a:ext cx="2271355"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Consistency + Partition Tol.</a:t>
            </a:r>
          </a:p>
        </p:txBody>
      </p:sp>
      <p:sp>
        <p:nvSpPr>
          <p:cNvPr id="37" name="TextBox 37"/>
          <p:cNvSpPr txBox="1"/>
          <p:nvPr/>
        </p:nvSpPr>
        <p:spPr>
          <a:xfrm>
            <a:off x="10083165" y="2439352"/>
            <a:ext cx="1097454" cy="213360"/>
          </a:xfrm>
          <a:prstGeom prst="rect">
            <a:avLst/>
          </a:prstGeom>
          <a:noFill/>
          <a:ln>
            <a:noFill/>
          </a:ln>
        </p:spPr>
        <p:txBody>
          <a:bodyPr wrap="none" lIns="0" tIns="0" rIns="0" bIns="0" anchor="t" anchorCtr="0">
            <a:spAutoFit/>
          </a:bodyPr>
          <a:lstStyle/>
          <a:p>
            <a:pPr algn="l"/>
            <a:r>
              <a:rPr lang="zh-CN" sz="1050" b="1" dirty="0">
                <a:solidFill>
                  <a:srgbClr val="D12B1F"/>
                </a:solidFill>
                <a:latin typeface="Arial"/>
                <a:ea typeface="Microsoft YaHei"/>
                <a:cs typeface="Arial"/>
              </a:rPr>
              <a:t>Redis, HBase,</a:t>
            </a:r>
          </a:p>
        </p:txBody>
      </p:sp>
      <p:sp>
        <p:nvSpPr>
          <p:cNvPr id="38" name="TextBox 38"/>
          <p:cNvSpPr txBox="1"/>
          <p:nvPr/>
        </p:nvSpPr>
        <p:spPr>
          <a:xfrm>
            <a:off x="10083165" y="2648902"/>
            <a:ext cx="1443647" cy="213360"/>
          </a:xfrm>
          <a:prstGeom prst="rect">
            <a:avLst/>
          </a:prstGeom>
          <a:noFill/>
          <a:ln>
            <a:noFill/>
          </a:ln>
        </p:spPr>
        <p:txBody>
          <a:bodyPr wrap="none" lIns="0" tIns="0" rIns="0" bIns="0" anchor="t" anchorCtr="0">
            <a:spAutoFit/>
          </a:bodyPr>
          <a:lstStyle/>
          <a:p>
            <a:pPr algn="l"/>
            <a:r>
              <a:rPr lang="zh-CN" sz="1050" b="1" dirty="0">
                <a:solidFill>
                  <a:srgbClr val="D12B1F"/>
                </a:solidFill>
                <a:latin typeface="Arial"/>
                <a:ea typeface="Microsoft YaHei"/>
                <a:cs typeface="Arial"/>
              </a:rPr>
              <a:t>MongoDB, BigTable</a:t>
            </a:r>
          </a:p>
        </p:txBody>
      </p:sp>
      <p:sp>
        <p:nvSpPr>
          <p:cNvPr id="39" name="Freeform 39"/>
          <p:cNvSpPr/>
          <p:nvPr/>
        </p:nvSpPr>
        <p:spPr>
          <a:xfrm>
            <a:off x="6858000" y="3238500"/>
            <a:ext cx="571500" cy="285750"/>
          </a:xfrm>
          <a:custGeom>
            <a:avLst/>
            <a:gdLst/>
            <a:ahLst/>
            <a:cxnLst/>
            <a:rect l="l" t="t" r="r" b="b"/>
            <a:pathLst>
              <a:path w="571500" h="285750">
                <a:moveTo>
                  <a:pt x="57150" y="0"/>
                </a:moveTo>
                <a:lnTo>
                  <a:pt x="514350" y="0"/>
                </a:lnTo>
                <a:cubicBezTo>
                  <a:pt x="545913" y="0"/>
                  <a:pt x="571500" y="25587"/>
                  <a:pt x="571500" y="57150"/>
                </a:cubicBezTo>
                <a:lnTo>
                  <a:pt x="571500" y="228600"/>
                </a:lnTo>
                <a:cubicBezTo>
                  <a:pt x="571500" y="260163"/>
                  <a:pt x="545913" y="285750"/>
                  <a:pt x="514350" y="285750"/>
                </a:cubicBezTo>
                <a:lnTo>
                  <a:pt x="57150" y="285750"/>
                </a:lnTo>
                <a:cubicBezTo>
                  <a:pt x="25587" y="285750"/>
                  <a:pt x="0" y="260163"/>
                  <a:pt x="0" y="228600"/>
                </a:cubicBezTo>
                <a:lnTo>
                  <a:pt x="0" y="57150"/>
                </a:lnTo>
                <a:cubicBezTo>
                  <a:pt x="0" y="25587"/>
                  <a:pt x="25587" y="0"/>
                  <a:pt x="57150" y="0"/>
                </a:cubicBezTo>
                <a:close/>
              </a:path>
            </a:pathLst>
          </a:custGeom>
          <a:solidFill>
            <a:srgbClr val="2E7D32">
              <a:alpha val="10000"/>
            </a:srgbClr>
          </a:solidFill>
          <a:ln>
            <a:noFill/>
          </a:ln>
        </p:spPr>
      </p:sp>
      <p:sp>
        <p:nvSpPr>
          <p:cNvPr id="40" name="TextBox 40"/>
          <p:cNvSpPr txBox="1"/>
          <p:nvPr/>
        </p:nvSpPr>
        <p:spPr>
          <a:xfrm>
            <a:off x="7027297" y="3299460"/>
            <a:ext cx="232905"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AP</a:t>
            </a:r>
          </a:p>
        </p:txBody>
      </p:sp>
      <p:sp>
        <p:nvSpPr>
          <p:cNvPr id="41" name="TextBox 41"/>
          <p:cNvSpPr txBox="1"/>
          <p:nvPr/>
        </p:nvSpPr>
        <p:spPr>
          <a:xfrm>
            <a:off x="8272462" y="3307556"/>
            <a:ext cx="2197418"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Availability + Partition Tol.</a:t>
            </a:r>
          </a:p>
        </p:txBody>
      </p:sp>
      <p:sp>
        <p:nvSpPr>
          <p:cNvPr id="42" name="TextBox 42"/>
          <p:cNvSpPr txBox="1"/>
          <p:nvPr/>
        </p:nvSpPr>
        <p:spPr>
          <a:xfrm>
            <a:off x="10083165" y="3315652"/>
            <a:ext cx="1621536"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Cassandra, DynamoDB</a:t>
            </a:r>
          </a:p>
        </p:txBody>
      </p:sp>
      <p:sp>
        <p:nvSpPr>
          <p:cNvPr id="43" name="Freeform 43"/>
          <p:cNvSpPr/>
          <p:nvPr/>
        </p:nvSpPr>
        <p:spPr>
          <a:xfrm>
            <a:off x="6858000" y="3905250"/>
            <a:ext cx="4572000" cy="666750"/>
          </a:xfrm>
          <a:custGeom>
            <a:avLst/>
            <a:gdLst/>
            <a:ahLst/>
            <a:cxnLst/>
            <a:rect l="l" t="t" r="r" b="b"/>
            <a:pathLst>
              <a:path w="4572000" h="666750">
                <a:moveTo>
                  <a:pt x="95250" y="0"/>
                </a:moveTo>
                <a:lnTo>
                  <a:pt x="4476750" y="0"/>
                </a:lnTo>
                <a:cubicBezTo>
                  <a:pt x="4529355" y="0"/>
                  <a:pt x="4572000" y="42645"/>
                  <a:pt x="4572000" y="95250"/>
                </a:cubicBezTo>
                <a:lnTo>
                  <a:pt x="4572000" y="571500"/>
                </a:lnTo>
                <a:cubicBezTo>
                  <a:pt x="4572000" y="624105"/>
                  <a:pt x="4529355" y="666750"/>
                  <a:pt x="4476750" y="666750"/>
                </a:cubicBezTo>
                <a:lnTo>
                  <a:pt x="95250" y="666750"/>
                </a:lnTo>
                <a:cubicBezTo>
                  <a:pt x="42645" y="666750"/>
                  <a:pt x="0" y="624105"/>
                  <a:pt x="0" y="571500"/>
                </a:cubicBezTo>
                <a:lnTo>
                  <a:pt x="0" y="95250"/>
                </a:lnTo>
                <a:cubicBezTo>
                  <a:pt x="0" y="42645"/>
                  <a:pt x="42645" y="0"/>
                  <a:pt x="95250" y="0"/>
                </a:cubicBezTo>
                <a:close/>
              </a:path>
            </a:pathLst>
          </a:custGeom>
          <a:solidFill>
            <a:srgbClr val="E5F4F9"/>
          </a:solidFill>
          <a:ln>
            <a:noFill/>
          </a:ln>
        </p:spPr>
      </p:sp>
      <p:grpSp>
        <p:nvGrpSpPr>
          <p:cNvPr id="47" name="Group 47"/>
          <p:cNvGrpSpPr/>
          <p:nvPr/>
        </p:nvGrpSpPr>
        <p:grpSpPr>
          <a:xfrm>
            <a:off x="7091362" y="4048125"/>
            <a:ext cx="257175" cy="342900"/>
            <a:chOff x="7091362" y="4048125"/>
            <a:chExt cx="257175" cy="342900"/>
          </a:xfrm>
        </p:grpSpPr>
        <p:sp>
          <p:nvSpPr>
            <p:cNvPr id="44" name="Freeform 44"/>
            <p:cNvSpPr/>
            <p:nvPr/>
          </p:nvSpPr>
          <p:spPr>
            <a:xfrm>
              <a:off x="7091362" y="4185285"/>
              <a:ext cx="257175" cy="98584"/>
            </a:xfrm>
            <a:custGeom>
              <a:avLst/>
              <a:gdLst/>
              <a:ahLst/>
              <a:cxnLst/>
              <a:rect l="l" t="t" r="r" b="b"/>
              <a:pathLst>
                <a:path w="257175" h="98584">
                  <a:moveTo>
                    <a:pt x="238682" y="10934"/>
                  </a:moveTo>
                  <a:cubicBezTo>
                    <a:pt x="244711" y="7919"/>
                    <a:pt x="251009" y="4282"/>
                    <a:pt x="257175" y="0"/>
                  </a:cubicBezTo>
                  <a:lnTo>
                    <a:pt x="257175" y="34290"/>
                  </a:lnTo>
                  <a:cubicBezTo>
                    <a:pt x="257175" y="69798"/>
                    <a:pt x="199604" y="98584"/>
                    <a:pt x="128588" y="98584"/>
                  </a:cubicBezTo>
                  <a:cubicBezTo>
                    <a:pt x="57571" y="98584"/>
                    <a:pt x="0" y="69798"/>
                    <a:pt x="0" y="34290"/>
                  </a:cubicBezTo>
                  <a:lnTo>
                    <a:pt x="0" y="0"/>
                  </a:lnTo>
                  <a:cubicBezTo>
                    <a:pt x="6166" y="4282"/>
                    <a:pt x="12464" y="7919"/>
                    <a:pt x="18494" y="10934"/>
                  </a:cubicBezTo>
                  <a:cubicBezTo>
                    <a:pt x="48884" y="26129"/>
                    <a:pt x="87868" y="34290"/>
                    <a:pt x="128588" y="34290"/>
                  </a:cubicBezTo>
                  <a:cubicBezTo>
                    <a:pt x="169307" y="34290"/>
                    <a:pt x="208290" y="26129"/>
                    <a:pt x="238682" y="10934"/>
                  </a:cubicBezTo>
                  <a:close/>
                </a:path>
              </a:pathLst>
            </a:custGeom>
            <a:solidFill>
              <a:srgbClr val="D12B1F"/>
            </a:solidFill>
            <a:ln>
              <a:noFill/>
            </a:ln>
          </p:spPr>
        </p:sp>
        <p:sp>
          <p:nvSpPr>
            <p:cNvPr id="45" name="Freeform 45"/>
            <p:cNvSpPr/>
            <p:nvPr/>
          </p:nvSpPr>
          <p:spPr>
            <a:xfrm>
              <a:off x="7091362" y="4292441"/>
              <a:ext cx="257175" cy="98584"/>
            </a:xfrm>
            <a:custGeom>
              <a:avLst/>
              <a:gdLst/>
              <a:ahLst/>
              <a:cxnLst/>
              <a:rect l="l" t="t" r="r" b="b"/>
              <a:pathLst>
                <a:path w="257175" h="98584">
                  <a:moveTo>
                    <a:pt x="0" y="0"/>
                  </a:moveTo>
                  <a:lnTo>
                    <a:pt x="0" y="34290"/>
                  </a:lnTo>
                  <a:cubicBezTo>
                    <a:pt x="0" y="69799"/>
                    <a:pt x="57571" y="98584"/>
                    <a:pt x="128588" y="98584"/>
                  </a:cubicBezTo>
                  <a:cubicBezTo>
                    <a:pt x="199604" y="98584"/>
                    <a:pt x="257175" y="69799"/>
                    <a:pt x="257175" y="34290"/>
                  </a:cubicBezTo>
                  <a:lnTo>
                    <a:pt x="257175" y="0"/>
                  </a:lnTo>
                  <a:cubicBezTo>
                    <a:pt x="251009" y="4282"/>
                    <a:pt x="244711" y="7919"/>
                    <a:pt x="238682" y="10934"/>
                  </a:cubicBezTo>
                  <a:cubicBezTo>
                    <a:pt x="208290" y="26129"/>
                    <a:pt x="169307" y="34290"/>
                    <a:pt x="128588" y="34290"/>
                  </a:cubicBezTo>
                  <a:cubicBezTo>
                    <a:pt x="87868" y="34290"/>
                    <a:pt x="48884" y="26129"/>
                    <a:pt x="18494" y="10934"/>
                  </a:cubicBezTo>
                  <a:cubicBezTo>
                    <a:pt x="12464" y="7919"/>
                    <a:pt x="6166" y="4282"/>
                    <a:pt x="0" y="0"/>
                  </a:cubicBezTo>
                  <a:close/>
                </a:path>
              </a:pathLst>
            </a:custGeom>
            <a:solidFill>
              <a:srgbClr val="D12B1F"/>
            </a:solidFill>
            <a:ln>
              <a:noFill/>
            </a:ln>
          </p:spPr>
        </p:sp>
        <p:sp>
          <p:nvSpPr>
            <p:cNvPr id="46" name="Freeform 46"/>
            <p:cNvSpPr/>
            <p:nvPr/>
          </p:nvSpPr>
          <p:spPr>
            <a:xfrm>
              <a:off x="7091362" y="4048125"/>
              <a:ext cx="257175" cy="128588"/>
            </a:xfrm>
            <a:custGeom>
              <a:avLst/>
              <a:gdLst/>
              <a:ahLst/>
              <a:cxnLst/>
              <a:rect l="l" t="t" r="r" b="b"/>
              <a:pathLst>
                <a:path w="257175" h="128588">
                  <a:moveTo>
                    <a:pt x="128588" y="0"/>
                  </a:moveTo>
                  <a:cubicBezTo>
                    <a:pt x="199604" y="0"/>
                    <a:pt x="257175" y="28785"/>
                    <a:pt x="257175" y="64294"/>
                  </a:cubicBezTo>
                  <a:cubicBezTo>
                    <a:pt x="257175" y="99802"/>
                    <a:pt x="199604" y="128588"/>
                    <a:pt x="128588" y="128588"/>
                  </a:cubicBezTo>
                  <a:cubicBezTo>
                    <a:pt x="57571" y="128588"/>
                    <a:pt x="0" y="99802"/>
                    <a:pt x="0" y="64294"/>
                  </a:cubicBezTo>
                  <a:cubicBezTo>
                    <a:pt x="0" y="28785"/>
                    <a:pt x="57571" y="0"/>
                    <a:pt x="128588" y="0"/>
                  </a:cubicBezTo>
                  <a:close/>
                </a:path>
              </a:pathLst>
            </a:custGeom>
            <a:solidFill>
              <a:srgbClr val="D12B1F"/>
            </a:solidFill>
            <a:ln>
              <a:noFill/>
            </a:ln>
          </p:spPr>
        </p:sp>
      </p:grpSp>
      <p:sp>
        <p:nvSpPr>
          <p:cNvPr id="48" name="TextBox 48"/>
          <p:cNvSpPr txBox="1"/>
          <p:nvPr/>
        </p:nvSpPr>
        <p:spPr>
          <a:xfrm>
            <a:off x="7509510" y="4061460"/>
            <a:ext cx="1806302" cy="243840"/>
          </a:xfrm>
          <a:prstGeom prst="rect">
            <a:avLst/>
          </a:prstGeom>
          <a:noFill/>
          <a:ln>
            <a:noFill/>
          </a:ln>
        </p:spPr>
        <p:txBody>
          <a:bodyPr wrap="none" lIns="0" tIns="0" rIns="0" bIns="0" anchor="t" anchorCtr="0">
            <a:spAutoFit/>
          </a:bodyPr>
          <a:lstStyle/>
          <a:p>
            <a:pPr algn="l"/>
            <a:r>
              <a:rPr lang="zh-CN" sz="1200" b="1" dirty="0">
                <a:solidFill>
                  <a:srgbClr val="D12B1F"/>
                </a:solidFill>
                <a:latin typeface="Arial"/>
                <a:ea typeface="Microsoft YaHei"/>
                <a:cs typeface="Arial"/>
              </a:rPr>
              <a:t>Redis thuộc nhóm CP</a:t>
            </a:r>
          </a:p>
        </p:txBody>
      </p:sp>
      <p:sp>
        <p:nvSpPr>
          <p:cNvPr id="49" name="TextBox 49"/>
          <p:cNvSpPr txBox="1"/>
          <p:nvPr/>
        </p:nvSpPr>
        <p:spPr>
          <a:xfrm>
            <a:off x="7511415" y="4287202"/>
            <a:ext cx="4872609"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Ưu tiên nhất quán, chấp nhận giảm khả dụng khi network partition</a:t>
            </a:r>
          </a:p>
        </p:txBody>
      </p:sp>
      <p:sp>
        <p:nvSpPr>
          <p:cNvPr id="50" name="Freeform 50"/>
          <p:cNvSpPr/>
          <p:nvPr/>
        </p:nvSpPr>
        <p:spPr>
          <a:xfrm>
            <a:off x="6858000" y="4762500"/>
            <a:ext cx="4572000" cy="762000"/>
          </a:xfrm>
          <a:custGeom>
            <a:avLst/>
            <a:gdLst/>
            <a:ahLst/>
            <a:cxnLst/>
            <a:rect l="l" t="t" r="r" b="b"/>
            <a:pathLst>
              <a:path w="4572000" h="762000">
                <a:moveTo>
                  <a:pt x="95250" y="0"/>
                </a:moveTo>
                <a:lnTo>
                  <a:pt x="4476750" y="0"/>
                </a:lnTo>
                <a:cubicBezTo>
                  <a:pt x="4529355" y="0"/>
                  <a:pt x="4572000" y="42645"/>
                  <a:pt x="4572000" y="95250"/>
                </a:cubicBezTo>
                <a:lnTo>
                  <a:pt x="4572000" y="666750"/>
                </a:lnTo>
                <a:cubicBezTo>
                  <a:pt x="4572000" y="719355"/>
                  <a:pt x="4529355" y="762000"/>
                  <a:pt x="4476750" y="762000"/>
                </a:cubicBezTo>
                <a:lnTo>
                  <a:pt x="95250" y="762000"/>
                </a:lnTo>
                <a:cubicBezTo>
                  <a:pt x="42645" y="762000"/>
                  <a:pt x="0" y="719355"/>
                  <a:pt x="0" y="666750"/>
                </a:cubicBezTo>
                <a:lnTo>
                  <a:pt x="0" y="95250"/>
                </a:lnTo>
                <a:cubicBezTo>
                  <a:pt x="0" y="42645"/>
                  <a:pt x="42645" y="0"/>
                  <a:pt x="95250" y="0"/>
                </a:cubicBezTo>
                <a:close/>
              </a:path>
            </a:pathLst>
          </a:custGeom>
          <a:solidFill>
            <a:srgbClr val="F5F7FA"/>
          </a:solidFill>
          <a:ln>
            <a:noFill/>
          </a:ln>
        </p:spPr>
      </p:sp>
      <p:sp>
        <p:nvSpPr>
          <p:cNvPr id="51" name="TextBox 51"/>
          <p:cNvSpPr txBox="1"/>
          <p:nvPr/>
        </p:nvSpPr>
        <p:spPr>
          <a:xfrm>
            <a:off x="7034212" y="4926806"/>
            <a:ext cx="1736538" cy="228600"/>
          </a:xfrm>
          <a:prstGeom prst="rect">
            <a:avLst/>
          </a:prstGeom>
          <a:noFill/>
          <a:ln>
            <a:noFill/>
          </a:ln>
        </p:spPr>
        <p:txBody>
          <a:bodyPr wrap="none" lIns="0" tIns="0" rIns="0" bIns="0" anchor="t" anchorCtr="0">
            <a:spAutoFit/>
          </a:bodyPr>
          <a:lstStyle/>
          <a:p>
            <a:pPr algn="l"/>
            <a:r>
              <a:rPr lang="zh-CN" sz="1125" b="1" dirty="0">
                <a:solidFill>
                  <a:srgbClr val="0B4DA2"/>
                </a:solidFill>
                <a:latin typeface="Arial"/>
                <a:ea typeface="Microsoft YaHei"/>
                <a:cs typeface="Arial"/>
              </a:rPr>
              <a:t>Quy tắc quan trọng:</a:t>
            </a:r>
          </a:p>
        </p:txBody>
      </p:sp>
      <p:sp>
        <p:nvSpPr>
          <p:cNvPr id="52" name="TextBox 52"/>
          <p:cNvSpPr txBox="1"/>
          <p:nvPr/>
        </p:nvSpPr>
        <p:spPr>
          <a:xfrm>
            <a:off x="7035165" y="5201602"/>
            <a:ext cx="3998500"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Không có hệ phân tán nào đạt cả 3 tính chất cùng lúc.</a:t>
            </a:r>
          </a:p>
        </p:txBody>
      </p:sp>
      <p:sp>
        <p:nvSpPr>
          <p:cNvPr id="53" name="TextBox 53"/>
          <p:cNvSpPr txBox="1"/>
          <p:nvPr/>
        </p:nvSpPr>
        <p:spPr>
          <a:xfrm>
            <a:off x="7035165" y="5363528"/>
            <a:ext cx="3070717"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Phải chọn hy sinh 1 trong 3: C, A, hoặc P.</a:t>
            </a:r>
          </a:p>
        </p:txBody>
      </p:sp>
      <p:sp>
        <p:nvSpPr>
          <p:cNvPr id="54" name="TextBox 54"/>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05 / 25</a:t>
            </a:r>
          </a:p>
        </p:txBody>
      </p:sp>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4974374"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Phân loại Database theo CAP</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grpSp>
        <p:nvGrpSpPr>
          <p:cNvPr id="10" name="Group 10"/>
          <p:cNvGrpSpPr/>
          <p:nvPr/>
        </p:nvGrpSpPr>
        <p:grpSpPr>
          <a:xfrm>
            <a:off x="571500" y="1047750"/>
            <a:ext cx="3524250" cy="4762500"/>
            <a:chOff x="571500" y="1047750"/>
            <a:chExt cx="3524250" cy="4762500"/>
          </a:xfrm>
          <a:effectLst>
            <a:outerShdw blurRad="190500" dist="38100" dir="10799140" algn="tl" rotWithShape="0">
              <a:srgbClr val="000000">
                <a:alpha val="12000"/>
              </a:srgbClr>
            </a:outerShdw>
          </a:effectLst>
        </p:grpSpPr>
        <p:sp>
          <p:nvSpPr>
            <p:cNvPr id="6" name="Freeform 6"/>
            <p:cNvSpPr/>
            <p:nvPr/>
          </p:nvSpPr>
          <p:spPr>
            <a:xfrm>
              <a:off x="571500" y="1047750"/>
              <a:ext cx="3524250" cy="4762500"/>
            </a:xfrm>
            <a:custGeom>
              <a:avLst/>
              <a:gdLst/>
              <a:ahLst/>
              <a:cxnLst/>
              <a:rect l="l" t="t" r="r" b="b"/>
              <a:pathLst>
                <a:path w="3524250" h="4762500">
                  <a:moveTo>
                    <a:pt x="114300" y="0"/>
                  </a:moveTo>
                  <a:lnTo>
                    <a:pt x="3409950" y="0"/>
                  </a:lnTo>
                  <a:cubicBezTo>
                    <a:pt x="3473076" y="0"/>
                    <a:pt x="3524250" y="51174"/>
                    <a:pt x="3524250" y="114300"/>
                  </a:cubicBezTo>
                  <a:lnTo>
                    <a:pt x="3524250" y="4648200"/>
                  </a:lnTo>
                  <a:cubicBezTo>
                    <a:pt x="3524250" y="4711326"/>
                    <a:pt x="3473076" y="4762500"/>
                    <a:pt x="340995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1047750"/>
              <a:ext cx="3524250" cy="571500"/>
            </a:xfrm>
            <a:custGeom>
              <a:avLst/>
              <a:gdLst/>
              <a:ahLst/>
              <a:cxnLst/>
              <a:rect l="l" t="t" r="r" b="b"/>
              <a:pathLst>
                <a:path w="3524250" h="571500">
                  <a:moveTo>
                    <a:pt x="114300" y="0"/>
                  </a:moveTo>
                  <a:lnTo>
                    <a:pt x="3409950" y="0"/>
                  </a:lnTo>
                  <a:cubicBezTo>
                    <a:pt x="3473076" y="0"/>
                    <a:pt x="3524250" y="51174"/>
                    <a:pt x="3524250" y="114300"/>
                  </a:cubicBezTo>
                  <a:lnTo>
                    <a:pt x="3524250" y="457200"/>
                  </a:lnTo>
                  <a:cubicBezTo>
                    <a:pt x="3524250" y="520326"/>
                    <a:pt x="3473076" y="571500"/>
                    <a:pt x="3409950" y="571500"/>
                  </a:cubicBezTo>
                  <a:lnTo>
                    <a:pt x="114300" y="571500"/>
                  </a:lnTo>
                  <a:cubicBezTo>
                    <a:pt x="51174" y="571500"/>
                    <a:pt x="0" y="520326"/>
                    <a:pt x="0" y="457200"/>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8" name="Rectangle 8"/>
            <p:cNvSpPr/>
            <p:nvPr/>
          </p:nvSpPr>
          <p:spPr>
            <a:xfrm>
              <a:off x="571500" y="1504950"/>
              <a:ext cx="3524250" cy="114300"/>
            </a:xfrm>
            <a:prstGeom prst="rect">
              <a:avLst/>
            </a:prstGeom>
            <a:solidFill>
              <a:srgbClr val="0B4DA2"/>
            </a:solidFill>
            <a:ln>
              <a:noFill/>
            </a:ln>
            <a:effectLst>
              <a:outerShdw blurRad="190500" dist="38100" dir="10799140" algn="tl" rotWithShape="0">
                <a:srgbClr val="000000">
                  <a:alpha val="12000"/>
                </a:srgbClr>
              </a:outerShdw>
            </a:effectLst>
          </p:spPr>
        </p:sp>
        <p:sp>
          <p:nvSpPr>
            <p:cNvPr id="9" name="TextBox 9"/>
            <p:cNvSpPr txBox="1"/>
            <p:nvPr/>
          </p:nvSpPr>
          <p:spPr>
            <a:xfrm>
              <a:off x="2173503" y="1231582"/>
              <a:ext cx="320245"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CA</a:t>
              </a:r>
            </a:p>
          </p:txBody>
        </p:sp>
      </p:grpSp>
      <p:sp>
        <p:nvSpPr>
          <p:cNvPr id="11" name="TextBox 11"/>
          <p:cNvSpPr txBox="1"/>
          <p:nvPr/>
        </p:nvSpPr>
        <p:spPr>
          <a:xfrm>
            <a:off x="1186644" y="1823085"/>
            <a:ext cx="2293963"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Consistency + Availability</a:t>
            </a:r>
          </a:p>
        </p:txBody>
      </p:sp>
      <p:sp>
        <p:nvSpPr>
          <p:cNvPr id="12" name="TextBox 12"/>
          <p:cNvSpPr txBox="1"/>
          <p:nvPr/>
        </p:nvSpPr>
        <p:spPr>
          <a:xfrm>
            <a:off x="1553528" y="2125028"/>
            <a:ext cx="1560195"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Nhất quán + Khả dụng</a:t>
            </a:r>
          </a:p>
        </p:txBody>
      </p:sp>
      <p:sp>
        <p:nvSpPr>
          <p:cNvPr id="13" name="Rectangle 13"/>
          <p:cNvSpPr/>
          <p:nvPr/>
        </p:nvSpPr>
        <p:spPr>
          <a:xfrm>
            <a:off x="952500" y="2476500"/>
            <a:ext cx="2762250" cy="19050"/>
          </a:xfrm>
          <a:prstGeom prst="rect">
            <a:avLst/>
          </a:prstGeom>
          <a:solidFill>
            <a:srgbClr val="E2E8F0"/>
          </a:solidFill>
          <a:ln>
            <a:noFill/>
          </a:ln>
        </p:spPr>
      </p:sp>
      <p:sp>
        <p:nvSpPr>
          <p:cNvPr id="14" name="TextBox 14"/>
          <p:cNvSpPr txBox="1"/>
          <p:nvPr/>
        </p:nvSpPr>
        <p:spPr>
          <a:xfrm>
            <a:off x="1358146" y="2688431"/>
            <a:ext cx="1950958"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Không chịu lỗi phân vùng</a:t>
            </a:r>
          </a:p>
        </p:txBody>
      </p:sp>
      <p:sp>
        <p:nvSpPr>
          <p:cNvPr id="15" name="Freeform 15"/>
          <p:cNvSpPr/>
          <p:nvPr/>
        </p:nvSpPr>
        <p:spPr>
          <a:xfrm>
            <a:off x="1143000" y="31432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sp>
      <p:sp>
        <p:nvSpPr>
          <p:cNvPr id="16" name="TextBox 16"/>
          <p:cNvSpPr txBox="1"/>
          <p:nvPr/>
        </p:nvSpPr>
        <p:spPr>
          <a:xfrm>
            <a:off x="2028549" y="3280410"/>
            <a:ext cx="610152"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MySQL</a:t>
            </a:r>
          </a:p>
        </p:txBody>
      </p:sp>
      <p:sp>
        <p:nvSpPr>
          <p:cNvPr id="17" name="Freeform 17"/>
          <p:cNvSpPr/>
          <p:nvPr/>
        </p:nvSpPr>
        <p:spPr>
          <a:xfrm>
            <a:off x="1143000" y="37147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sp>
      <p:sp>
        <p:nvSpPr>
          <p:cNvPr id="18" name="TextBox 18"/>
          <p:cNvSpPr txBox="1"/>
          <p:nvPr/>
        </p:nvSpPr>
        <p:spPr>
          <a:xfrm>
            <a:off x="1793919" y="3851910"/>
            <a:ext cx="1079411"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PostgreSQL</a:t>
            </a:r>
          </a:p>
        </p:txBody>
      </p:sp>
      <p:sp>
        <p:nvSpPr>
          <p:cNvPr id="19" name="Freeform 19"/>
          <p:cNvSpPr/>
          <p:nvPr/>
        </p:nvSpPr>
        <p:spPr>
          <a:xfrm>
            <a:off x="1143000" y="42862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sp>
      <p:sp>
        <p:nvSpPr>
          <p:cNvPr id="20" name="TextBox 20"/>
          <p:cNvSpPr txBox="1"/>
          <p:nvPr/>
        </p:nvSpPr>
        <p:spPr>
          <a:xfrm>
            <a:off x="2019348" y="4423410"/>
            <a:ext cx="628555"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Oracle</a:t>
            </a:r>
          </a:p>
        </p:txBody>
      </p:sp>
      <p:sp>
        <p:nvSpPr>
          <p:cNvPr id="21" name="TextBox 21"/>
          <p:cNvSpPr txBox="1"/>
          <p:nvPr/>
        </p:nvSpPr>
        <p:spPr>
          <a:xfrm>
            <a:off x="1519023" y="5030152"/>
            <a:ext cx="1629204"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 RDBMS truyền thống</a:t>
            </a:r>
          </a:p>
        </p:txBody>
      </p:sp>
      <p:grpSp>
        <p:nvGrpSpPr>
          <p:cNvPr id="26" name="Group 26"/>
          <p:cNvGrpSpPr/>
          <p:nvPr/>
        </p:nvGrpSpPr>
        <p:grpSpPr>
          <a:xfrm>
            <a:off x="4333875" y="952500"/>
            <a:ext cx="3524250" cy="4953000"/>
            <a:chOff x="4333875" y="952500"/>
            <a:chExt cx="3524250" cy="4953000"/>
          </a:xfrm>
          <a:effectLst>
            <a:outerShdw blurRad="190500" dist="38100" dir="10799140" algn="tl" rotWithShape="0">
              <a:srgbClr val="000000">
                <a:alpha val="12000"/>
              </a:srgbClr>
            </a:outerShdw>
          </a:effectLst>
        </p:grpSpPr>
        <p:sp>
          <p:nvSpPr>
            <p:cNvPr id="22" name="Freeform 22"/>
            <p:cNvSpPr/>
            <p:nvPr/>
          </p:nvSpPr>
          <p:spPr>
            <a:xfrm>
              <a:off x="4333875" y="952500"/>
              <a:ext cx="3524250" cy="4953000"/>
            </a:xfrm>
            <a:custGeom>
              <a:avLst/>
              <a:gdLst/>
              <a:ahLst/>
              <a:cxnLst/>
              <a:rect l="l" t="t" r="r" b="b"/>
              <a:pathLst>
                <a:path w="3524250" h="4953000">
                  <a:moveTo>
                    <a:pt x="114300" y="0"/>
                  </a:moveTo>
                  <a:lnTo>
                    <a:pt x="3409950" y="0"/>
                  </a:lnTo>
                  <a:cubicBezTo>
                    <a:pt x="3473076" y="0"/>
                    <a:pt x="3524250" y="51174"/>
                    <a:pt x="3524250" y="114300"/>
                  </a:cubicBezTo>
                  <a:lnTo>
                    <a:pt x="3524250" y="4838700"/>
                  </a:lnTo>
                  <a:cubicBezTo>
                    <a:pt x="3524250" y="4901826"/>
                    <a:pt x="3473076" y="4953000"/>
                    <a:pt x="340995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3" name="Freeform 23"/>
            <p:cNvSpPr/>
            <p:nvPr/>
          </p:nvSpPr>
          <p:spPr>
            <a:xfrm>
              <a:off x="4333875" y="952500"/>
              <a:ext cx="3524250" cy="619125"/>
            </a:xfrm>
            <a:custGeom>
              <a:avLst/>
              <a:gdLst/>
              <a:ahLst/>
              <a:cxnLst/>
              <a:rect l="l" t="t" r="r" b="b"/>
              <a:pathLst>
                <a:path w="3524250" h="619125">
                  <a:moveTo>
                    <a:pt x="114300" y="0"/>
                  </a:moveTo>
                  <a:lnTo>
                    <a:pt x="3409950" y="0"/>
                  </a:lnTo>
                  <a:cubicBezTo>
                    <a:pt x="3473076" y="0"/>
                    <a:pt x="3524250" y="51174"/>
                    <a:pt x="3524250" y="114300"/>
                  </a:cubicBezTo>
                  <a:lnTo>
                    <a:pt x="3524250" y="504825"/>
                  </a:lnTo>
                  <a:cubicBezTo>
                    <a:pt x="3524250" y="567951"/>
                    <a:pt x="3473076" y="619125"/>
                    <a:pt x="3409950" y="619125"/>
                  </a:cubicBezTo>
                  <a:lnTo>
                    <a:pt x="114300" y="619125"/>
                  </a:lnTo>
                  <a:cubicBezTo>
                    <a:pt x="51174" y="619125"/>
                    <a:pt x="0" y="567951"/>
                    <a:pt x="0" y="504825"/>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24" name="Rectangle 24"/>
            <p:cNvSpPr/>
            <p:nvPr/>
          </p:nvSpPr>
          <p:spPr>
            <a:xfrm>
              <a:off x="4333875" y="1457325"/>
              <a:ext cx="3524250" cy="114300"/>
            </a:xfrm>
            <a:prstGeom prst="rect">
              <a:avLst/>
            </a:prstGeom>
            <a:solidFill>
              <a:srgbClr val="D12B1F"/>
            </a:solidFill>
            <a:ln>
              <a:noFill/>
            </a:ln>
            <a:effectLst>
              <a:outerShdw blurRad="190500" dist="38100" dir="10799140" algn="tl" rotWithShape="0">
                <a:srgbClr val="000000">
                  <a:alpha val="12000"/>
                </a:srgbClr>
              </a:outerShdw>
            </a:effectLst>
          </p:spPr>
        </p:sp>
        <p:sp>
          <p:nvSpPr>
            <p:cNvPr id="25" name="TextBox 25"/>
            <p:cNvSpPr txBox="1"/>
            <p:nvPr/>
          </p:nvSpPr>
          <p:spPr>
            <a:xfrm>
              <a:off x="5935878" y="1155382"/>
              <a:ext cx="320245"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CP</a:t>
              </a:r>
            </a:p>
          </p:txBody>
        </p:sp>
      </p:grpSp>
      <p:sp>
        <p:nvSpPr>
          <p:cNvPr id="27" name="Freeform 27"/>
          <p:cNvSpPr/>
          <p:nvPr/>
        </p:nvSpPr>
        <p:spPr>
          <a:xfrm>
            <a:off x="4429125" y="904875"/>
            <a:ext cx="476250" cy="209550"/>
          </a:xfrm>
          <a:custGeom>
            <a:avLst/>
            <a:gdLst/>
            <a:ahLst/>
            <a:cxnLst/>
            <a:rect l="l" t="t" r="r" b="b"/>
            <a:pathLst>
              <a:path w="476250" h="209550">
                <a:moveTo>
                  <a:pt x="104775" y="0"/>
                </a:moveTo>
                <a:lnTo>
                  <a:pt x="371475" y="0"/>
                </a:lnTo>
                <a:cubicBezTo>
                  <a:pt x="429341" y="0"/>
                  <a:pt x="476250" y="46909"/>
                  <a:pt x="476250" y="104775"/>
                </a:cubicBezTo>
                <a:lnTo>
                  <a:pt x="476250" y="104775"/>
                </a:lnTo>
                <a:cubicBezTo>
                  <a:pt x="476250" y="162641"/>
                  <a:pt x="429341" y="209550"/>
                  <a:pt x="371475" y="209550"/>
                </a:cubicBezTo>
                <a:lnTo>
                  <a:pt x="104775" y="209550"/>
                </a:lnTo>
                <a:cubicBezTo>
                  <a:pt x="46909" y="209550"/>
                  <a:pt x="0" y="162641"/>
                  <a:pt x="0" y="104775"/>
                </a:cubicBezTo>
                <a:lnTo>
                  <a:pt x="0" y="104775"/>
                </a:lnTo>
                <a:cubicBezTo>
                  <a:pt x="0" y="46909"/>
                  <a:pt x="46909" y="0"/>
                  <a:pt x="104775" y="0"/>
                </a:cubicBezTo>
                <a:close/>
              </a:path>
            </a:pathLst>
          </a:custGeom>
          <a:solidFill>
            <a:srgbClr val="FF6B35"/>
          </a:solidFill>
          <a:ln>
            <a:noFill/>
          </a:ln>
        </p:spPr>
      </p:sp>
      <p:sp>
        <p:nvSpPr>
          <p:cNvPr id="28" name="TextBox 28"/>
          <p:cNvSpPr txBox="1"/>
          <p:nvPr/>
        </p:nvSpPr>
        <p:spPr>
          <a:xfrm>
            <a:off x="4498628" y="958691"/>
            <a:ext cx="337245"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Redis</a:t>
            </a:r>
          </a:p>
        </p:txBody>
      </p:sp>
      <p:sp>
        <p:nvSpPr>
          <p:cNvPr id="29" name="TextBox 29"/>
          <p:cNvSpPr txBox="1"/>
          <p:nvPr/>
        </p:nvSpPr>
        <p:spPr>
          <a:xfrm>
            <a:off x="4824803" y="1775460"/>
            <a:ext cx="2542394"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Consistency + Partition Tol.</a:t>
            </a:r>
          </a:p>
        </p:txBody>
      </p:sp>
      <p:sp>
        <p:nvSpPr>
          <p:cNvPr id="30" name="TextBox 30"/>
          <p:cNvSpPr txBox="1"/>
          <p:nvPr/>
        </p:nvSpPr>
        <p:spPr>
          <a:xfrm>
            <a:off x="4970859" y="2077402"/>
            <a:ext cx="2250281"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Nhất quán + Chịu lỗi phân vùng</a:t>
            </a:r>
          </a:p>
        </p:txBody>
      </p:sp>
      <p:sp>
        <p:nvSpPr>
          <p:cNvPr id="31" name="Rectangle 31"/>
          <p:cNvSpPr/>
          <p:nvPr/>
        </p:nvSpPr>
        <p:spPr>
          <a:xfrm>
            <a:off x="4714875" y="2428875"/>
            <a:ext cx="2762250" cy="19050"/>
          </a:xfrm>
          <a:prstGeom prst="rect">
            <a:avLst/>
          </a:prstGeom>
          <a:solidFill>
            <a:srgbClr val="E2E8F0"/>
          </a:solidFill>
          <a:ln>
            <a:noFill/>
          </a:ln>
        </p:spPr>
      </p:sp>
      <p:sp>
        <p:nvSpPr>
          <p:cNvPr id="32" name="TextBox 32"/>
          <p:cNvSpPr txBox="1"/>
          <p:nvPr/>
        </p:nvSpPr>
        <p:spPr>
          <a:xfrm>
            <a:off x="5058906" y="2640806"/>
            <a:ext cx="2074188"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Hy sinh một phần khả dụng</a:t>
            </a:r>
          </a:p>
        </p:txBody>
      </p:sp>
      <p:sp>
        <p:nvSpPr>
          <p:cNvPr id="33" name="Freeform 33"/>
          <p:cNvSpPr/>
          <p:nvPr/>
        </p:nvSpPr>
        <p:spPr>
          <a:xfrm>
            <a:off x="4905375" y="304800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D12B1F">
              <a:alpha val="8000"/>
            </a:srgbClr>
          </a:solidFill>
          <a:ln w="14288">
            <a:solidFill>
              <a:srgbClr val="D12B1F"/>
            </a:solidFill>
          </a:ln>
        </p:spPr>
      </p:sp>
      <p:sp>
        <p:nvSpPr>
          <p:cNvPr id="34" name="TextBox 34"/>
          <p:cNvSpPr txBox="1"/>
          <p:nvPr/>
        </p:nvSpPr>
        <p:spPr>
          <a:xfrm>
            <a:off x="5850731" y="3185160"/>
            <a:ext cx="490538"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Redis</a:t>
            </a:r>
          </a:p>
        </p:txBody>
      </p:sp>
      <p:sp>
        <p:nvSpPr>
          <p:cNvPr id="35" name="Freeform 35"/>
          <p:cNvSpPr/>
          <p:nvPr/>
        </p:nvSpPr>
        <p:spPr>
          <a:xfrm>
            <a:off x="4905375" y="361950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sp>
      <p:sp>
        <p:nvSpPr>
          <p:cNvPr id="36" name="TextBox 36"/>
          <p:cNvSpPr txBox="1"/>
          <p:nvPr/>
        </p:nvSpPr>
        <p:spPr>
          <a:xfrm>
            <a:off x="5708113" y="3756660"/>
            <a:ext cx="775773"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MongoDB</a:t>
            </a:r>
          </a:p>
        </p:txBody>
      </p:sp>
      <p:sp>
        <p:nvSpPr>
          <p:cNvPr id="37" name="Freeform 37"/>
          <p:cNvSpPr/>
          <p:nvPr/>
        </p:nvSpPr>
        <p:spPr>
          <a:xfrm>
            <a:off x="4905375" y="419100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sp>
      <p:sp>
        <p:nvSpPr>
          <p:cNvPr id="38" name="TextBox 38"/>
          <p:cNvSpPr txBox="1"/>
          <p:nvPr/>
        </p:nvSpPr>
        <p:spPr>
          <a:xfrm>
            <a:off x="5827728" y="4328160"/>
            <a:ext cx="536543"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HBase</a:t>
            </a:r>
          </a:p>
        </p:txBody>
      </p:sp>
      <p:sp>
        <p:nvSpPr>
          <p:cNvPr id="39" name="Freeform 39"/>
          <p:cNvSpPr/>
          <p:nvPr/>
        </p:nvSpPr>
        <p:spPr>
          <a:xfrm>
            <a:off x="4905375" y="476250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sp>
      <p:sp>
        <p:nvSpPr>
          <p:cNvPr id="40" name="TextBox 40"/>
          <p:cNvSpPr txBox="1"/>
          <p:nvPr/>
        </p:nvSpPr>
        <p:spPr>
          <a:xfrm>
            <a:off x="5721915" y="4899660"/>
            <a:ext cx="748170"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BigTable</a:t>
            </a:r>
          </a:p>
        </p:txBody>
      </p:sp>
      <p:grpSp>
        <p:nvGrpSpPr>
          <p:cNvPr id="45" name="Group 45"/>
          <p:cNvGrpSpPr/>
          <p:nvPr/>
        </p:nvGrpSpPr>
        <p:grpSpPr>
          <a:xfrm>
            <a:off x="8096250" y="1047750"/>
            <a:ext cx="3524250" cy="4762500"/>
            <a:chOff x="8096250" y="1047750"/>
            <a:chExt cx="3524250" cy="4762500"/>
          </a:xfrm>
          <a:effectLst>
            <a:outerShdw blurRad="190500" dist="38100" dir="10799140" algn="tl" rotWithShape="0">
              <a:srgbClr val="000000">
                <a:alpha val="12000"/>
              </a:srgbClr>
            </a:outerShdw>
          </a:effectLst>
        </p:grpSpPr>
        <p:sp>
          <p:nvSpPr>
            <p:cNvPr id="41" name="Freeform 41"/>
            <p:cNvSpPr/>
            <p:nvPr/>
          </p:nvSpPr>
          <p:spPr>
            <a:xfrm>
              <a:off x="8096250" y="1047750"/>
              <a:ext cx="3524250" cy="4762500"/>
            </a:xfrm>
            <a:custGeom>
              <a:avLst/>
              <a:gdLst/>
              <a:ahLst/>
              <a:cxnLst/>
              <a:rect l="l" t="t" r="r" b="b"/>
              <a:pathLst>
                <a:path w="3524250" h="4762500">
                  <a:moveTo>
                    <a:pt x="114300" y="0"/>
                  </a:moveTo>
                  <a:lnTo>
                    <a:pt x="3409950" y="0"/>
                  </a:lnTo>
                  <a:cubicBezTo>
                    <a:pt x="3473076" y="0"/>
                    <a:pt x="3524250" y="51174"/>
                    <a:pt x="3524250" y="114300"/>
                  </a:cubicBezTo>
                  <a:lnTo>
                    <a:pt x="3524250" y="4648200"/>
                  </a:lnTo>
                  <a:cubicBezTo>
                    <a:pt x="3524250" y="4711326"/>
                    <a:pt x="3473076" y="4762500"/>
                    <a:pt x="340995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42" name="Freeform 42"/>
            <p:cNvSpPr/>
            <p:nvPr/>
          </p:nvSpPr>
          <p:spPr>
            <a:xfrm>
              <a:off x="8096250" y="1047750"/>
              <a:ext cx="3524250" cy="571500"/>
            </a:xfrm>
            <a:custGeom>
              <a:avLst/>
              <a:gdLst/>
              <a:ahLst/>
              <a:cxnLst/>
              <a:rect l="l" t="t" r="r" b="b"/>
              <a:pathLst>
                <a:path w="3524250" h="571500">
                  <a:moveTo>
                    <a:pt x="114300" y="0"/>
                  </a:moveTo>
                  <a:lnTo>
                    <a:pt x="3409950" y="0"/>
                  </a:lnTo>
                  <a:cubicBezTo>
                    <a:pt x="3473076" y="0"/>
                    <a:pt x="3524250" y="51174"/>
                    <a:pt x="3524250" y="114300"/>
                  </a:cubicBezTo>
                  <a:lnTo>
                    <a:pt x="3524250" y="457200"/>
                  </a:lnTo>
                  <a:cubicBezTo>
                    <a:pt x="3524250" y="520326"/>
                    <a:pt x="3473076" y="571500"/>
                    <a:pt x="3409950" y="571500"/>
                  </a:cubicBezTo>
                  <a:lnTo>
                    <a:pt x="114300" y="571500"/>
                  </a:lnTo>
                  <a:cubicBezTo>
                    <a:pt x="51174" y="571500"/>
                    <a:pt x="0" y="520326"/>
                    <a:pt x="0" y="457200"/>
                  </a:cubicBezTo>
                  <a:lnTo>
                    <a:pt x="0" y="114300"/>
                  </a:lnTo>
                  <a:cubicBezTo>
                    <a:pt x="0" y="51174"/>
                    <a:pt x="51174" y="0"/>
                    <a:pt x="114300" y="0"/>
                  </a:cubicBezTo>
                  <a:close/>
                </a:path>
              </a:pathLst>
            </a:custGeom>
            <a:solidFill>
              <a:srgbClr val="2E7D32"/>
            </a:solidFill>
            <a:ln>
              <a:noFill/>
            </a:ln>
            <a:effectLst>
              <a:outerShdw blurRad="190500" dist="38100" dir="10799140" algn="tl" rotWithShape="0">
                <a:srgbClr val="000000">
                  <a:alpha val="12000"/>
                </a:srgbClr>
              </a:outerShdw>
            </a:effectLst>
          </p:spPr>
        </p:sp>
        <p:sp>
          <p:nvSpPr>
            <p:cNvPr id="43" name="Rectangle 43"/>
            <p:cNvSpPr/>
            <p:nvPr/>
          </p:nvSpPr>
          <p:spPr>
            <a:xfrm>
              <a:off x="8096250" y="1504950"/>
              <a:ext cx="3524250" cy="114300"/>
            </a:xfrm>
            <a:prstGeom prst="rect">
              <a:avLst/>
            </a:prstGeom>
            <a:solidFill>
              <a:srgbClr val="2E7D32"/>
            </a:solidFill>
            <a:ln>
              <a:noFill/>
            </a:ln>
            <a:effectLst>
              <a:outerShdw blurRad="190500" dist="38100" dir="10799140" algn="tl" rotWithShape="0">
                <a:srgbClr val="000000">
                  <a:alpha val="12000"/>
                </a:srgbClr>
              </a:outerShdw>
            </a:effectLst>
          </p:spPr>
        </p:sp>
        <p:sp>
          <p:nvSpPr>
            <p:cNvPr id="44" name="TextBox 44"/>
            <p:cNvSpPr txBox="1"/>
            <p:nvPr/>
          </p:nvSpPr>
          <p:spPr>
            <a:xfrm>
              <a:off x="9698253" y="1231582"/>
              <a:ext cx="320245"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AP</a:t>
              </a:r>
            </a:p>
          </p:txBody>
        </p:sp>
      </p:grpSp>
      <p:sp>
        <p:nvSpPr>
          <p:cNvPr id="46" name="TextBox 46"/>
          <p:cNvSpPr txBox="1"/>
          <p:nvPr/>
        </p:nvSpPr>
        <p:spPr>
          <a:xfrm>
            <a:off x="8628583" y="1823085"/>
            <a:ext cx="2459584"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Availability + Partition Tol.</a:t>
            </a:r>
          </a:p>
        </p:txBody>
      </p:sp>
      <p:sp>
        <p:nvSpPr>
          <p:cNvPr id="47" name="TextBox 47"/>
          <p:cNvSpPr txBox="1"/>
          <p:nvPr/>
        </p:nvSpPr>
        <p:spPr>
          <a:xfrm>
            <a:off x="8775406" y="2125028"/>
            <a:ext cx="2165937"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Khả dụng + Chịu lỗi phân vùng</a:t>
            </a:r>
          </a:p>
        </p:txBody>
      </p:sp>
      <p:sp>
        <p:nvSpPr>
          <p:cNvPr id="48" name="Rectangle 48"/>
          <p:cNvSpPr/>
          <p:nvPr/>
        </p:nvSpPr>
        <p:spPr>
          <a:xfrm>
            <a:off x="8477250" y="2476500"/>
            <a:ext cx="2762250" cy="19050"/>
          </a:xfrm>
          <a:prstGeom prst="rect">
            <a:avLst/>
          </a:prstGeom>
          <a:solidFill>
            <a:srgbClr val="E2E8F0"/>
          </a:solidFill>
          <a:ln>
            <a:noFill/>
          </a:ln>
        </p:spPr>
      </p:sp>
      <p:sp>
        <p:nvSpPr>
          <p:cNvPr id="49" name="TextBox 49"/>
          <p:cNvSpPr txBox="1"/>
          <p:nvPr/>
        </p:nvSpPr>
        <p:spPr>
          <a:xfrm>
            <a:off x="8952726" y="2688431"/>
            <a:ext cx="1811298"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Hy sinh tính nhất quán</a:t>
            </a:r>
          </a:p>
        </p:txBody>
      </p:sp>
      <p:sp>
        <p:nvSpPr>
          <p:cNvPr id="50" name="Freeform 50"/>
          <p:cNvSpPr/>
          <p:nvPr/>
        </p:nvSpPr>
        <p:spPr>
          <a:xfrm>
            <a:off x="8667750" y="31432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sp>
      <p:sp>
        <p:nvSpPr>
          <p:cNvPr id="51" name="TextBox 51"/>
          <p:cNvSpPr txBox="1"/>
          <p:nvPr/>
        </p:nvSpPr>
        <p:spPr>
          <a:xfrm>
            <a:off x="9387678" y="3280410"/>
            <a:ext cx="941394"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Cassandra</a:t>
            </a:r>
          </a:p>
        </p:txBody>
      </p:sp>
      <p:sp>
        <p:nvSpPr>
          <p:cNvPr id="52" name="Freeform 52"/>
          <p:cNvSpPr/>
          <p:nvPr/>
        </p:nvSpPr>
        <p:spPr>
          <a:xfrm>
            <a:off x="8667750" y="37147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sp>
      <p:sp>
        <p:nvSpPr>
          <p:cNvPr id="53" name="TextBox 53"/>
          <p:cNvSpPr txBox="1"/>
          <p:nvPr/>
        </p:nvSpPr>
        <p:spPr>
          <a:xfrm>
            <a:off x="9419882" y="3851910"/>
            <a:ext cx="876986"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DynamoDB</a:t>
            </a:r>
          </a:p>
        </p:txBody>
      </p:sp>
      <p:sp>
        <p:nvSpPr>
          <p:cNvPr id="54" name="Freeform 54"/>
          <p:cNvSpPr/>
          <p:nvPr/>
        </p:nvSpPr>
        <p:spPr>
          <a:xfrm>
            <a:off x="8667750" y="42862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sp>
      <p:sp>
        <p:nvSpPr>
          <p:cNvPr id="55" name="TextBox 55"/>
          <p:cNvSpPr txBox="1"/>
          <p:nvPr/>
        </p:nvSpPr>
        <p:spPr>
          <a:xfrm>
            <a:off x="9663713" y="4423410"/>
            <a:ext cx="389325"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Riak</a:t>
            </a:r>
          </a:p>
        </p:txBody>
      </p:sp>
      <p:sp>
        <p:nvSpPr>
          <p:cNvPr id="56" name="TextBox 56"/>
          <p:cNvSpPr txBox="1"/>
          <p:nvPr/>
        </p:nvSpPr>
        <p:spPr>
          <a:xfrm>
            <a:off x="8993934" y="5030152"/>
            <a:ext cx="1728883"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 Eventual consistency</a:t>
            </a:r>
          </a:p>
        </p:txBody>
      </p:sp>
      <p:sp>
        <p:nvSpPr>
          <p:cNvPr id="57" name="TextBox 57"/>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06 / 25</a:t>
            </a:r>
          </a:p>
        </p:txBody>
      </p:sp>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3538995"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3.4 ACID Properties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sp>
        <p:nvSpPr>
          <p:cNvPr id="6" name="TextBox 6"/>
          <p:cNvSpPr txBox="1"/>
          <p:nvPr/>
        </p:nvSpPr>
        <p:spPr>
          <a:xfrm>
            <a:off x="556260" y="775335"/>
            <a:ext cx="5630037" cy="243840"/>
          </a:xfrm>
          <a:prstGeom prst="rect">
            <a:avLst/>
          </a:prstGeom>
          <a:noFill/>
          <a:ln>
            <a:noFill/>
          </a:ln>
        </p:spPr>
        <p:txBody>
          <a:bodyPr wrap="none" lIns="0" tIns="0" rIns="0" bIns="0" anchor="t" anchorCtr="0">
            <a:spAutoFit/>
          </a:bodyPr>
          <a:lstStyle/>
          <a:p>
            <a:pPr algn="l"/>
            <a:r>
              <a:rPr lang="zh-CN" sz="1200" dirty="0">
                <a:solidFill>
                  <a:srgbClr val="718096"/>
                </a:solidFill>
                <a:latin typeface="Arial"/>
                <a:ea typeface="Microsoft YaHei"/>
                <a:cs typeface="Arial"/>
              </a:rPr>
              <a:t>Tập hợp các tính chất đảm bảo độ tin cậy của giao dịch trong CSDL</a:t>
            </a:r>
          </a:p>
        </p:txBody>
      </p:sp>
      <p:grpSp>
        <p:nvGrpSpPr>
          <p:cNvPr id="16" name="Group 16"/>
          <p:cNvGrpSpPr/>
          <p:nvPr/>
        </p:nvGrpSpPr>
        <p:grpSpPr>
          <a:xfrm>
            <a:off x="571500" y="1143000"/>
            <a:ext cx="5381625" cy="2381250"/>
            <a:chOff x="571500" y="1143000"/>
            <a:chExt cx="5381625" cy="2381250"/>
          </a:xfrm>
          <a:effectLst>
            <a:outerShdw blurRad="190500" dist="38100" dir="10799140" algn="tl" rotWithShape="0">
              <a:srgbClr val="000000">
                <a:alpha val="12000"/>
              </a:srgbClr>
            </a:outerShdw>
          </a:effectLst>
        </p:grpSpPr>
        <p:sp>
          <p:nvSpPr>
            <p:cNvPr id="7" name="Freeform 7"/>
            <p:cNvSpPr/>
            <p:nvPr/>
          </p:nvSpPr>
          <p:spPr>
            <a:xfrm>
              <a:off x="571500" y="1143000"/>
              <a:ext cx="5381625" cy="2381250"/>
            </a:xfrm>
            <a:custGeom>
              <a:avLst/>
              <a:gdLst/>
              <a:ahLst/>
              <a:cxnLst/>
              <a:rect l="l" t="t" r="r" b="b"/>
              <a:pathLst>
                <a:path w="5381625" h="2381250">
                  <a:moveTo>
                    <a:pt x="114300" y="0"/>
                  </a:moveTo>
                  <a:lnTo>
                    <a:pt x="5267325" y="0"/>
                  </a:lnTo>
                  <a:cubicBezTo>
                    <a:pt x="5330451" y="0"/>
                    <a:pt x="5381625" y="51174"/>
                    <a:pt x="5381625" y="114300"/>
                  </a:cubicBezTo>
                  <a:lnTo>
                    <a:pt x="5381625" y="2266950"/>
                  </a:lnTo>
                  <a:cubicBezTo>
                    <a:pt x="5381625" y="2330076"/>
                    <a:pt x="5330451" y="2381250"/>
                    <a:pt x="5267325"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8" name="Ellipse 8"/>
            <p:cNvSpPr/>
            <p:nvPr/>
          </p:nvSpPr>
          <p:spPr>
            <a:xfrm>
              <a:off x="790575" y="1362075"/>
              <a:ext cx="609600" cy="609600"/>
            </a:xfrm>
            <a:prstGeom prst="ellipse">
              <a:avLst/>
            </a:prstGeom>
            <a:solidFill>
              <a:srgbClr val="0B4DA2"/>
            </a:solidFill>
            <a:ln>
              <a:noFill/>
            </a:ln>
            <a:effectLst>
              <a:outerShdw blurRad="190500" dist="38100" dir="10799140" algn="tl" rotWithShape="0">
                <a:srgbClr val="000000">
                  <a:alpha val="12000"/>
                </a:srgbClr>
              </a:outerShdw>
            </a:effectLst>
          </p:spPr>
        </p:sp>
        <p:sp>
          <p:nvSpPr>
            <p:cNvPr id="9" name="TextBox 9"/>
            <p:cNvSpPr txBox="1"/>
            <p:nvPr/>
          </p:nvSpPr>
          <p:spPr>
            <a:xfrm>
              <a:off x="996606" y="155829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A</a:t>
              </a:r>
            </a:p>
          </p:txBody>
        </p:sp>
        <p:sp>
          <p:nvSpPr>
            <p:cNvPr id="10" name="TextBox 10"/>
            <p:cNvSpPr txBox="1"/>
            <p:nvPr/>
          </p:nvSpPr>
          <p:spPr>
            <a:xfrm>
              <a:off x="1550670" y="1441132"/>
              <a:ext cx="1218507"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0B4DA2"/>
                  </a:solidFill>
                  <a:latin typeface="Arial"/>
                  <a:ea typeface="Microsoft YaHei"/>
                  <a:cs typeface="Arial"/>
                </a:rPr>
                <a:t>Atomicity</a:t>
              </a:r>
            </a:p>
          </p:txBody>
        </p:sp>
        <p:sp>
          <p:nvSpPr>
            <p:cNvPr id="11" name="TextBox 11"/>
            <p:cNvSpPr txBox="1"/>
            <p:nvPr/>
          </p:nvSpPr>
          <p:spPr>
            <a:xfrm>
              <a:off x="1556385" y="1727835"/>
              <a:ext cx="1292352"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D12B1F"/>
                  </a:solidFill>
                  <a:latin typeface="Arial"/>
                  <a:ea typeface="Microsoft YaHei"/>
                  <a:cs typeface="Arial"/>
                </a:rPr>
                <a:t>Tính nguyên tử</a:t>
              </a:r>
            </a:p>
          </p:txBody>
        </p:sp>
        <p:sp>
          <p:nvSpPr>
            <p:cNvPr id="12" name="Rectangle 12"/>
            <p:cNvSpPr/>
            <p:nvPr/>
          </p:nvSpPr>
          <p:spPr>
            <a:xfrm>
              <a:off x="857250" y="2047875"/>
              <a:ext cx="4857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13" name="TextBox 13"/>
            <p:cNvSpPr txBox="1"/>
            <p:nvPr/>
          </p:nvSpPr>
          <p:spPr>
            <a:xfrm>
              <a:off x="841058" y="2243614"/>
              <a:ext cx="3039737" cy="2590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75" dirty="0">
                  <a:solidFill>
                    <a:srgbClr val="2D3748"/>
                  </a:solidFill>
                  <a:latin typeface="Arial"/>
                  <a:ea typeface="Microsoft YaHei"/>
                  <a:cs typeface="Arial"/>
                </a:rPr>
                <a:t>Tất cả thực hiện hoặc không gì cả</a:t>
              </a:r>
            </a:p>
          </p:txBody>
        </p:sp>
        <p:sp>
          <p:nvSpPr>
            <p:cNvPr id="14" name="TextBox 14"/>
            <p:cNvSpPr txBox="1"/>
            <p:nvPr/>
          </p:nvSpPr>
          <p:spPr>
            <a:xfrm>
              <a:off x="842962" y="2526506"/>
              <a:ext cx="2542461"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Không có trạng thái trung gian.</a:t>
              </a:r>
            </a:p>
          </p:txBody>
        </p:sp>
        <p:sp>
          <p:nvSpPr>
            <p:cNvPr id="15" name="TextBox 15"/>
            <p:cNvSpPr txBox="1"/>
            <p:nvPr/>
          </p:nvSpPr>
          <p:spPr>
            <a:xfrm>
              <a:off x="842962" y="2764631"/>
              <a:ext cx="2230279"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Thất bại → rollback toàn bộ.</a:t>
              </a:r>
            </a:p>
          </p:txBody>
        </p:sp>
      </p:grpSp>
      <p:grpSp>
        <p:nvGrpSpPr>
          <p:cNvPr id="26" name="Group 26"/>
          <p:cNvGrpSpPr/>
          <p:nvPr/>
        </p:nvGrpSpPr>
        <p:grpSpPr>
          <a:xfrm>
            <a:off x="6238875" y="1143000"/>
            <a:ext cx="5381625" cy="2381250"/>
            <a:chOff x="6238875" y="1143000"/>
            <a:chExt cx="5381625" cy="2381250"/>
          </a:xfrm>
          <a:effectLst>
            <a:outerShdw blurRad="190500" dist="38100" dir="10799140" algn="tl" rotWithShape="0">
              <a:srgbClr val="000000">
                <a:alpha val="12000"/>
              </a:srgbClr>
            </a:outerShdw>
          </a:effectLst>
        </p:grpSpPr>
        <p:sp>
          <p:nvSpPr>
            <p:cNvPr id="17" name="Freeform 17"/>
            <p:cNvSpPr/>
            <p:nvPr/>
          </p:nvSpPr>
          <p:spPr>
            <a:xfrm>
              <a:off x="6238875" y="1143000"/>
              <a:ext cx="5381625" cy="2381250"/>
            </a:xfrm>
            <a:custGeom>
              <a:avLst/>
              <a:gdLst/>
              <a:ahLst/>
              <a:cxnLst/>
              <a:rect l="l" t="t" r="r" b="b"/>
              <a:pathLst>
                <a:path w="5381625" h="2381250">
                  <a:moveTo>
                    <a:pt x="114300" y="0"/>
                  </a:moveTo>
                  <a:lnTo>
                    <a:pt x="5267325" y="0"/>
                  </a:lnTo>
                  <a:cubicBezTo>
                    <a:pt x="5330451" y="0"/>
                    <a:pt x="5381625" y="51174"/>
                    <a:pt x="5381625" y="114300"/>
                  </a:cubicBezTo>
                  <a:lnTo>
                    <a:pt x="5381625" y="2266950"/>
                  </a:lnTo>
                  <a:cubicBezTo>
                    <a:pt x="5381625" y="2330076"/>
                    <a:pt x="5330451" y="2381250"/>
                    <a:pt x="5267325"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18" name="Ellipse 18"/>
            <p:cNvSpPr/>
            <p:nvPr/>
          </p:nvSpPr>
          <p:spPr>
            <a:xfrm>
              <a:off x="6457950" y="1362075"/>
              <a:ext cx="609600" cy="609600"/>
            </a:xfrm>
            <a:prstGeom prst="ellipse">
              <a:avLst/>
            </a:prstGeom>
            <a:solidFill>
              <a:srgbClr val="D12B1F"/>
            </a:solidFill>
            <a:ln>
              <a:noFill/>
            </a:ln>
            <a:effectLst>
              <a:outerShdw blurRad="190500" dist="38100" dir="10799140" algn="tl" rotWithShape="0">
                <a:srgbClr val="000000">
                  <a:alpha val="12000"/>
                </a:srgbClr>
              </a:outerShdw>
            </a:effectLst>
          </p:spPr>
        </p:sp>
        <p:sp>
          <p:nvSpPr>
            <p:cNvPr id="19" name="TextBox 19"/>
            <p:cNvSpPr txBox="1"/>
            <p:nvPr/>
          </p:nvSpPr>
          <p:spPr>
            <a:xfrm>
              <a:off x="6663981" y="155829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C</a:t>
              </a:r>
            </a:p>
          </p:txBody>
        </p:sp>
        <p:sp>
          <p:nvSpPr>
            <p:cNvPr id="20" name="TextBox 20"/>
            <p:cNvSpPr txBox="1"/>
            <p:nvPr/>
          </p:nvSpPr>
          <p:spPr>
            <a:xfrm>
              <a:off x="7218045" y="1441132"/>
              <a:ext cx="1509493"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D12B1F"/>
                  </a:solidFill>
                  <a:latin typeface="Arial"/>
                  <a:ea typeface="Microsoft YaHei"/>
                  <a:cs typeface="Arial"/>
                </a:rPr>
                <a:t>Consistency</a:t>
              </a:r>
            </a:p>
          </p:txBody>
        </p:sp>
        <p:sp>
          <p:nvSpPr>
            <p:cNvPr id="21" name="TextBox 21"/>
            <p:cNvSpPr txBox="1"/>
            <p:nvPr/>
          </p:nvSpPr>
          <p:spPr>
            <a:xfrm>
              <a:off x="7223760" y="1727835"/>
              <a:ext cx="1292352"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0B4DA2"/>
                  </a:solidFill>
                  <a:latin typeface="Arial"/>
                  <a:ea typeface="Microsoft YaHei"/>
                  <a:cs typeface="Arial"/>
                </a:rPr>
                <a:t>Tính nhất quán</a:t>
              </a:r>
            </a:p>
          </p:txBody>
        </p:sp>
        <p:sp>
          <p:nvSpPr>
            <p:cNvPr id="22" name="Rectangle 22"/>
            <p:cNvSpPr/>
            <p:nvPr/>
          </p:nvSpPr>
          <p:spPr>
            <a:xfrm>
              <a:off x="6524625" y="2047875"/>
              <a:ext cx="4857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23" name="TextBox 23"/>
            <p:cNvSpPr txBox="1"/>
            <p:nvPr/>
          </p:nvSpPr>
          <p:spPr>
            <a:xfrm>
              <a:off x="6508432" y="2243614"/>
              <a:ext cx="3449407" cy="2590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75" dirty="0">
                  <a:solidFill>
                    <a:srgbClr val="2D3748"/>
                  </a:solidFill>
                  <a:latin typeface="Arial"/>
                  <a:ea typeface="Microsoft YaHei"/>
                  <a:cs typeface="Arial"/>
                </a:rPr>
                <a:t>CSDL nhất quán trước và sau giao dịch</a:t>
              </a:r>
            </a:p>
          </p:txBody>
        </p:sp>
        <p:sp>
          <p:nvSpPr>
            <p:cNvPr id="24" name="TextBox 24"/>
            <p:cNvSpPr txBox="1"/>
            <p:nvPr/>
          </p:nvSpPr>
          <p:spPr>
            <a:xfrm>
              <a:off x="6510338" y="2526506"/>
              <a:ext cx="3043595"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Ràng buộc toàn vẹn luôn được duy trì.</a:t>
              </a:r>
            </a:p>
          </p:txBody>
        </p:sp>
        <p:sp>
          <p:nvSpPr>
            <p:cNvPr id="25" name="TextBox 25"/>
            <p:cNvSpPr txBox="1"/>
            <p:nvPr/>
          </p:nvSpPr>
          <p:spPr>
            <a:xfrm>
              <a:off x="6510338" y="2764631"/>
              <a:ext cx="3413284"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VD: Cập nhật float bằng varchar → từ chối.</a:t>
              </a:r>
            </a:p>
          </p:txBody>
        </p:sp>
      </p:grpSp>
      <p:grpSp>
        <p:nvGrpSpPr>
          <p:cNvPr id="36" name="Group 36"/>
          <p:cNvGrpSpPr/>
          <p:nvPr/>
        </p:nvGrpSpPr>
        <p:grpSpPr>
          <a:xfrm>
            <a:off x="571500" y="3810000"/>
            <a:ext cx="5381625" cy="2381250"/>
            <a:chOff x="571500" y="3810000"/>
            <a:chExt cx="5381625" cy="2381250"/>
          </a:xfrm>
          <a:effectLst>
            <a:outerShdw blurRad="190500" dist="38100" dir="10799140" algn="tl" rotWithShape="0">
              <a:srgbClr val="000000">
                <a:alpha val="12000"/>
              </a:srgbClr>
            </a:outerShdw>
          </a:effectLst>
        </p:grpSpPr>
        <p:sp>
          <p:nvSpPr>
            <p:cNvPr id="27" name="Freeform 27"/>
            <p:cNvSpPr/>
            <p:nvPr/>
          </p:nvSpPr>
          <p:spPr>
            <a:xfrm>
              <a:off x="571500" y="3810000"/>
              <a:ext cx="5381625" cy="2381250"/>
            </a:xfrm>
            <a:custGeom>
              <a:avLst/>
              <a:gdLst/>
              <a:ahLst/>
              <a:cxnLst/>
              <a:rect l="l" t="t" r="r" b="b"/>
              <a:pathLst>
                <a:path w="5381625" h="2381250">
                  <a:moveTo>
                    <a:pt x="114300" y="0"/>
                  </a:moveTo>
                  <a:lnTo>
                    <a:pt x="5267325" y="0"/>
                  </a:lnTo>
                  <a:cubicBezTo>
                    <a:pt x="5330451" y="0"/>
                    <a:pt x="5381625" y="51174"/>
                    <a:pt x="5381625" y="114300"/>
                  </a:cubicBezTo>
                  <a:lnTo>
                    <a:pt x="5381625" y="2266950"/>
                  </a:lnTo>
                  <a:cubicBezTo>
                    <a:pt x="5381625" y="2330076"/>
                    <a:pt x="5330451" y="2381250"/>
                    <a:pt x="5267325"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8" name="Ellipse 28"/>
            <p:cNvSpPr/>
            <p:nvPr/>
          </p:nvSpPr>
          <p:spPr>
            <a:xfrm>
              <a:off x="790575" y="4029075"/>
              <a:ext cx="609600" cy="609600"/>
            </a:xfrm>
            <a:prstGeom prst="ellipse">
              <a:avLst/>
            </a:prstGeom>
            <a:solidFill>
              <a:srgbClr val="006AF9"/>
            </a:solidFill>
            <a:ln>
              <a:noFill/>
            </a:ln>
            <a:effectLst>
              <a:outerShdw blurRad="190500" dist="38100" dir="10799140" algn="tl" rotWithShape="0">
                <a:srgbClr val="000000">
                  <a:alpha val="12000"/>
                </a:srgbClr>
              </a:outerShdw>
            </a:effectLst>
          </p:spPr>
        </p:sp>
        <p:sp>
          <p:nvSpPr>
            <p:cNvPr id="29" name="TextBox 29"/>
            <p:cNvSpPr txBox="1"/>
            <p:nvPr/>
          </p:nvSpPr>
          <p:spPr>
            <a:xfrm>
              <a:off x="1031110" y="4225290"/>
              <a:ext cx="128530"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I</a:t>
              </a:r>
            </a:p>
          </p:txBody>
        </p:sp>
        <p:sp>
          <p:nvSpPr>
            <p:cNvPr id="30" name="TextBox 30"/>
            <p:cNvSpPr txBox="1"/>
            <p:nvPr/>
          </p:nvSpPr>
          <p:spPr>
            <a:xfrm>
              <a:off x="1550670" y="4108132"/>
              <a:ext cx="1104643"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006AF9"/>
                  </a:solidFill>
                  <a:latin typeface="Arial"/>
                  <a:ea typeface="Microsoft YaHei"/>
                  <a:cs typeface="Arial"/>
                </a:rPr>
                <a:t>Isolation</a:t>
              </a:r>
            </a:p>
          </p:txBody>
        </p:sp>
        <p:sp>
          <p:nvSpPr>
            <p:cNvPr id="31" name="TextBox 31"/>
            <p:cNvSpPr txBox="1"/>
            <p:nvPr/>
          </p:nvSpPr>
          <p:spPr>
            <a:xfrm>
              <a:off x="1556385" y="4394835"/>
              <a:ext cx="959358"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2E7D32"/>
                  </a:solidFill>
                  <a:latin typeface="Arial"/>
                  <a:ea typeface="Microsoft YaHei"/>
                  <a:cs typeface="Arial"/>
                </a:rPr>
                <a:t>Tính cô lập</a:t>
              </a:r>
            </a:p>
          </p:txBody>
        </p:sp>
        <p:sp>
          <p:nvSpPr>
            <p:cNvPr id="32" name="Rectangle 32"/>
            <p:cNvSpPr/>
            <p:nvPr/>
          </p:nvSpPr>
          <p:spPr>
            <a:xfrm>
              <a:off x="857250" y="4714875"/>
              <a:ext cx="4857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33" name="TextBox 33"/>
            <p:cNvSpPr txBox="1"/>
            <p:nvPr/>
          </p:nvSpPr>
          <p:spPr>
            <a:xfrm>
              <a:off x="841058" y="4910614"/>
              <a:ext cx="3710107" cy="2590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75" dirty="0">
                  <a:solidFill>
                    <a:srgbClr val="2D3748"/>
                  </a:solidFill>
                  <a:latin typeface="Arial"/>
                  <a:ea typeface="Microsoft YaHei"/>
                  <a:cs typeface="Arial"/>
                </a:rPr>
                <a:t>Giao dịch đồng thời không ảnh hưởng nhau</a:t>
              </a:r>
            </a:p>
          </p:txBody>
        </p:sp>
        <p:sp>
          <p:nvSpPr>
            <p:cNvPr id="34" name="TextBox 34"/>
            <p:cNvSpPr txBox="1"/>
            <p:nvPr/>
          </p:nvSpPr>
          <p:spPr>
            <a:xfrm>
              <a:off x="842962" y="5193506"/>
              <a:ext cx="3010733"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2 user cập nhật cùng bản ghi → cô lập.</a:t>
              </a:r>
            </a:p>
          </p:txBody>
        </p:sp>
        <p:sp>
          <p:nvSpPr>
            <p:cNvPr id="35" name="TextBox 35"/>
            <p:cNvSpPr txBox="1"/>
            <p:nvPr/>
          </p:nvSpPr>
          <p:spPr>
            <a:xfrm>
              <a:off x="842962" y="5431631"/>
              <a:ext cx="1770221"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Không ghi đè lẫn nhau.</a:t>
              </a:r>
            </a:p>
          </p:txBody>
        </p:sp>
      </p:grpSp>
      <p:grpSp>
        <p:nvGrpSpPr>
          <p:cNvPr id="46" name="Group 46"/>
          <p:cNvGrpSpPr/>
          <p:nvPr/>
        </p:nvGrpSpPr>
        <p:grpSpPr>
          <a:xfrm>
            <a:off x="6238875" y="3810000"/>
            <a:ext cx="5381625" cy="2381250"/>
            <a:chOff x="6238875" y="3810000"/>
            <a:chExt cx="5381625" cy="2381250"/>
          </a:xfrm>
          <a:effectLst>
            <a:outerShdw blurRad="190500" dist="38100" dir="10799140" algn="tl" rotWithShape="0">
              <a:srgbClr val="000000">
                <a:alpha val="12000"/>
              </a:srgbClr>
            </a:outerShdw>
          </a:effectLst>
        </p:grpSpPr>
        <p:sp>
          <p:nvSpPr>
            <p:cNvPr id="37" name="Freeform 37"/>
            <p:cNvSpPr/>
            <p:nvPr/>
          </p:nvSpPr>
          <p:spPr>
            <a:xfrm>
              <a:off x="6238875" y="3810000"/>
              <a:ext cx="5381625" cy="2381250"/>
            </a:xfrm>
            <a:custGeom>
              <a:avLst/>
              <a:gdLst/>
              <a:ahLst/>
              <a:cxnLst/>
              <a:rect l="l" t="t" r="r" b="b"/>
              <a:pathLst>
                <a:path w="5381625" h="2381250">
                  <a:moveTo>
                    <a:pt x="114300" y="0"/>
                  </a:moveTo>
                  <a:lnTo>
                    <a:pt x="5267325" y="0"/>
                  </a:lnTo>
                  <a:cubicBezTo>
                    <a:pt x="5330451" y="0"/>
                    <a:pt x="5381625" y="51174"/>
                    <a:pt x="5381625" y="114300"/>
                  </a:cubicBezTo>
                  <a:lnTo>
                    <a:pt x="5381625" y="2266950"/>
                  </a:lnTo>
                  <a:cubicBezTo>
                    <a:pt x="5381625" y="2330076"/>
                    <a:pt x="5330451" y="2381250"/>
                    <a:pt x="5267325"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8" name="Ellipse 38"/>
            <p:cNvSpPr/>
            <p:nvPr/>
          </p:nvSpPr>
          <p:spPr>
            <a:xfrm>
              <a:off x="6457950" y="4029075"/>
              <a:ext cx="609600" cy="609600"/>
            </a:xfrm>
            <a:prstGeom prst="ellipse">
              <a:avLst/>
            </a:prstGeom>
            <a:solidFill>
              <a:srgbClr val="2E7D32"/>
            </a:solidFill>
            <a:ln>
              <a:noFill/>
            </a:ln>
            <a:effectLst>
              <a:outerShdw blurRad="190500" dist="38100" dir="10799140" algn="tl" rotWithShape="0">
                <a:srgbClr val="000000">
                  <a:alpha val="12000"/>
                </a:srgbClr>
              </a:outerShdw>
            </a:effectLst>
          </p:spPr>
        </p:sp>
        <p:sp>
          <p:nvSpPr>
            <p:cNvPr id="39" name="TextBox 39"/>
            <p:cNvSpPr txBox="1"/>
            <p:nvPr/>
          </p:nvSpPr>
          <p:spPr>
            <a:xfrm>
              <a:off x="6663981" y="422529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D</a:t>
              </a:r>
            </a:p>
          </p:txBody>
        </p:sp>
        <p:sp>
          <p:nvSpPr>
            <p:cNvPr id="40" name="TextBox 40"/>
            <p:cNvSpPr txBox="1"/>
            <p:nvPr/>
          </p:nvSpPr>
          <p:spPr>
            <a:xfrm>
              <a:off x="7218045" y="4108132"/>
              <a:ext cx="1243810"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E7D32"/>
                  </a:solidFill>
                  <a:latin typeface="Arial"/>
                  <a:ea typeface="Microsoft YaHei"/>
                  <a:cs typeface="Arial"/>
                </a:rPr>
                <a:t>Durability</a:t>
              </a:r>
            </a:p>
          </p:txBody>
        </p:sp>
        <p:sp>
          <p:nvSpPr>
            <p:cNvPr id="41" name="TextBox 41"/>
            <p:cNvSpPr txBox="1"/>
            <p:nvPr/>
          </p:nvSpPr>
          <p:spPr>
            <a:xfrm>
              <a:off x="7223760" y="4394835"/>
              <a:ext cx="1195959"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006AF9"/>
                  </a:solidFill>
                  <a:latin typeface="Arial"/>
                  <a:ea typeface="Microsoft YaHei"/>
                  <a:cs typeface="Arial"/>
                </a:rPr>
                <a:t>Tính bền vững</a:t>
              </a:r>
            </a:p>
          </p:txBody>
        </p:sp>
        <p:sp>
          <p:nvSpPr>
            <p:cNvPr id="42" name="Rectangle 42"/>
            <p:cNvSpPr/>
            <p:nvPr/>
          </p:nvSpPr>
          <p:spPr>
            <a:xfrm>
              <a:off x="6524625" y="4714875"/>
              <a:ext cx="4857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43" name="TextBox 43"/>
            <p:cNvSpPr txBox="1"/>
            <p:nvPr/>
          </p:nvSpPr>
          <p:spPr>
            <a:xfrm>
              <a:off x="6508432" y="4910614"/>
              <a:ext cx="3337679" cy="2590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75" dirty="0">
                  <a:solidFill>
                    <a:srgbClr val="2D3748"/>
                  </a:solidFill>
                  <a:latin typeface="Arial"/>
                  <a:ea typeface="Microsoft YaHei"/>
                  <a:cs typeface="Arial"/>
                </a:rPr>
                <a:t>Dữ liệu được lưu vĩnh viễn sau commit</a:t>
              </a:r>
            </a:p>
          </p:txBody>
        </p:sp>
        <p:sp>
          <p:nvSpPr>
            <p:cNvPr id="44" name="TextBox 44"/>
            <p:cNvSpPr txBox="1"/>
            <p:nvPr/>
          </p:nvSpPr>
          <p:spPr>
            <a:xfrm>
              <a:off x="6510338" y="5193506"/>
              <a:ext cx="3281839"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Dù hệ thống crash → dữ liệu vẫn bảo toàn.</a:t>
              </a:r>
            </a:p>
          </p:txBody>
        </p:sp>
        <p:sp>
          <p:nvSpPr>
            <p:cNvPr id="45" name="TextBox 45"/>
            <p:cNvSpPr txBox="1"/>
            <p:nvPr/>
          </p:nvSpPr>
          <p:spPr>
            <a:xfrm>
              <a:off x="6510338" y="5431631"/>
              <a:ext cx="2550676"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Ghi vào disk trước khi xác nhận.</a:t>
              </a:r>
            </a:p>
          </p:txBody>
        </p:sp>
      </p:grpSp>
      <p:sp>
        <p:nvSpPr>
          <p:cNvPr id="47" name="TextBox 47"/>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07 / 25</a:t>
            </a:r>
          </a:p>
        </p:txBody>
      </p:sp>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5158397"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So sánh ACID: RDBMS vs Redis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sp>
        <p:nvSpPr>
          <p:cNvPr id="6" name="Freeform 6"/>
          <p:cNvSpPr/>
          <p:nvPr/>
        </p:nvSpPr>
        <p:spPr>
          <a:xfrm>
            <a:off x="571500" y="952500"/>
            <a:ext cx="11049000" cy="4572000"/>
          </a:xfrm>
          <a:custGeom>
            <a:avLst/>
            <a:gdLst/>
            <a:ahLst/>
            <a:cxnLst/>
            <a:rect l="l" t="t" r="r" b="b"/>
            <a:pathLst>
              <a:path w="11049000" h="4572000">
                <a:moveTo>
                  <a:pt x="114300" y="0"/>
                </a:moveTo>
                <a:lnTo>
                  <a:pt x="10934700" y="0"/>
                </a:lnTo>
                <a:cubicBezTo>
                  <a:pt x="10997826" y="0"/>
                  <a:pt x="11049000" y="51174"/>
                  <a:pt x="11049000" y="114300"/>
                </a:cubicBezTo>
                <a:lnTo>
                  <a:pt x="11049000" y="4457700"/>
                </a:lnTo>
                <a:cubicBezTo>
                  <a:pt x="11049000" y="4520826"/>
                  <a:pt x="10997826" y="4572000"/>
                  <a:pt x="1093470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52500"/>
            <a:ext cx="11049000" cy="523875"/>
          </a:xfrm>
          <a:custGeom>
            <a:avLst/>
            <a:gdLst/>
            <a:ahLst/>
            <a:cxnLst/>
            <a:rect l="l" t="t" r="r" b="b"/>
            <a:pathLst>
              <a:path w="11049000" h="523875">
                <a:moveTo>
                  <a:pt x="114300" y="0"/>
                </a:moveTo>
                <a:lnTo>
                  <a:pt x="10934700" y="0"/>
                </a:lnTo>
                <a:cubicBezTo>
                  <a:pt x="10997826" y="0"/>
                  <a:pt x="11049000" y="51174"/>
                  <a:pt x="11049000" y="114300"/>
                </a:cubicBezTo>
                <a:lnTo>
                  <a:pt x="11049000" y="409575"/>
                </a:lnTo>
                <a:cubicBezTo>
                  <a:pt x="11049000" y="472701"/>
                  <a:pt x="10997826" y="523875"/>
                  <a:pt x="10934700" y="523875"/>
                </a:cubicBezTo>
                <a:lnTo>
                  <a:pt x="114300" y="523875"/>
                </a:lnTo>
                <a:cubicBezTo>
                  <a:pt x="51174" y="523875"/>
                  <a:pt x="0" y="472701"/>
                  <a:pt x="0" y="409575"/>
                </a:cubicBezTo>
                <a:lnTo>
                  <a:pt x="0" y="114300"/>
                </a:lnTo>
                <a:cubicBezTo>
                  <a:pt x="0" y="51174"/>
                  <a:pt x="51174" y="0"/>
                  <a:pt x="114300" y="0"/>
                </a:cubicBezTo>
                <a:close/>
              </a:path>
            </a:pathLst>
          </a:custGeom>
          <a:solidFill>
            <a:srgbClr val="0B4DA2"/>
          </a:solidFill>
          <a:ln>
            <a:noFill/>
          </a:ln>
        </p:spPr>
      </p:sp>
      <p:sp>
        <p:nvSpPr>
          <p:cNvPr id="8" name="Rectangle 8"/>
          <p:cNvSpPr/>
          <p:nvPr/>
        </p:nvSpPr>
        <p:spPr>
          <a:xfrm>
            <a:off x="571500" y="1362075"/>
            <a:ext cx="11049000" cy="114300"/>
          </a:xfrm>
          <a:prstGeom prst="rect">
            <a:avLst/>
          </a:prstGeom>
          <a:solidFill>
            <a:srgbClr val="0B4DA2"/>
          </a:solidFill>
          <a:ln>
            <a:noFill/>
          </a:ln>
        </p:spPr>
      </p:sp>
      <p:sp>
        <p:nvSpPr>
          <p:cNvPr id="9" name="TextBox 9"/>
          <p:cNvSpPr txBox="1"/>
          <p:nvPr/>
        </p:nvSpPr>
        <p:spPr>
          <a:xfrm>
            <a:off x="1591844" y="1140142"/>
            <a:ext cx="100731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Tính chất</a:t>
            </a:r>
          </a:p>
        </p:txBody>
      </p:sp>
      <p:sp>
        <p:nvSpPr>
          <p:cNvPr id="10" name="TextBox 10"/>
          <p:cNvSpPr txBox="1"/>
          <p:nvPr/>
        </p:nvSpPr>
        <p:spPr>
          <a:xfrm>
            <a:off x="4820992" y="1140142"/>
            <a:ext cx="64501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RDBMS</a:t>
            </a:r>
          </a:p>
        </p:txBody>
      </p:sp>
      <p:sp>
        <p:nvSpPr>
          <p:cNvPr id="11" name="TextBox 11"/>
          <p:cNvSpPr txBox="1"/>
          <p:nvPr/>
        </p:nvSpPr>
        <p:spPr>
          <a:xfrm>
            <a:off x="8296573" y="1140142"/>
            <a:ext cx="55185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Redis</a:t>
            </a:r>
          </a:p>
        </p:txBody>
      </p:sp>
      <p:sp>
        <p:nvSpPr>
          <p:cNvPr id="12" name="Freeform 12"/>
          <p:cNvSpPr/>
          <p:nvPr/>
        </p:nvSpPr>
        <p:spPr>
          <a:xfrm>
            <a:off x="762000" y="1619250"/>
            <a:ext cx="2286000" cy="857250"/>
          </a:xfrm>
          <a:custGeom>
            <a:avLst/>
            <a:gdLst/>
            <a:ahLst/>
            <a:cxnLst/>
            <a:rect l="l" t="t" r="r" b="b"/>
            <a:pathLst>
              <a:path w="2286000" h="857250">
                <a:moveTo>
                  <a:pt x="76200" y="0"/>
                </a:moveTo>
                <a:lnTo>
                  <a:pt x="2209800" y="0"/>
                </a:lnTo>
                <a:cubicBezTo>
                  <a:pt x="2251884" y="0"/>
                  <a:pt x="2286000" y="34116"/>
                  <a:pt x="2286000" y="76200"/>
                </a:cubicBezTo>
                <a:lnTo>
                  <a:pt x="2286000" y="781050"/>
                </a:lnTo>
                <a:cubicBezTo>
                  <a:pt x="2286000" y="823134"/>
                  <a:pt x="2251884" y="857250"/>
                  <a:pt x="2209800" y="857250"/>
                </a:cubicBezTo>
                <a:lnTo>
                  <a:pt x="76200" y="857250"/>
                </a:lnTo>
                <a:cubicBezTo>
                  <a:pt x="34116" y="857250"/>
                  <a:pt x="0" y="823134"/>
                  <a:pt x="0" y="781050"/>
                </a:cubicBezTo>
                <a:lnTo>
                  <a:pt x="0" y="76200"/>
                </a:lnTo>
                <a:cubicBezTo>
                  <a:pt x="0" y="34116"/>
                  <a:pt x="34116" y="0"/>
                  <a:pt x="76200" y="0"/>
                </a:cubicBezTo>
                <a:close/>
              </a:path>
            </a:pathLst>
          </a:custGeom>
          <a:solidFill>
            <a:srgbClr val="E5F4F9"/>
          </a:solidFill>
          <a:ln>
            <a:noFill/>
          </a:ln>
        </p:spPr>
      </p:sp>
      <p:sp>
        <p:nvSpPr>
          <p:cNvPr id="13" name="Ellipse 13"/>
          <p:cNvSpPr/>
          <p:nvPr/>
        </p:nvSpPr>
        <p:spPr>
          <a:xfrm>
            <a:off x="885825" y="1838325"/>
            <a:ext cx="419100" cy="419100"/>
          </a:xfrm>
          <a:prstGeom prst="ellipse">
            <a:avLst/>
          </a:prstGeom>
          <a:solidFill>
            <a:srgbClr val="0B4DA2"/>
          </a:solidFill>
          <a:ln>
            <a:noFill/>
          </a:ln>
        </p:spPr>
      </p:sp>
      <p:sp>
        <p:nvSpPr>
          <p:cNvPr id="14" name="TextBox 14"/>
          <p:cNvSpPr txBox="1"/>
          <p:nvPr/>
        </p:nvSpPr>
        <p:spPr>
          <a:xfrm>
            <a:off x="1021298" y="196881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A</a:t>
            </a:r>
          </a:p>
        </p:txBody>
      </p:sp>
      <p:sp>
        <p:nvSpPr>
          <p:cNvPr id="15" name="TextBox 15"/>
          <p:cNvSpPr txBox="1"/>
          <p:nvPr/>
        </p:nvSpPr>
        <p:spPr>
          <a:xfrm>
            <a:off x="1412558" y="1843564"/>
            <a:ext cx="941574" cy="259080"/>
          </a:xfrm>
          <a:prstGeom prst="rect">
            <a:avLst/>
          </a:prstGeom>
          <a:noFill/>
          <a:ln>
            <a:noFill/>
          </a:ln>
        </p:spPr>
        <p:txBody>
          <a:bodyPr wrap="none" lIns="0" tIns="0" rIns="0" bIns="0" anchor="t" anchorCtr="0">
            <a:spAutoFit/>
          </a:bodyPr>
          <a:lstStyle/>
          <a:p>
            <a:pPr algn="l"/>
            <a:r>
              <a:rPr lang="zh-CN" sz="1275" b="1" dirty="0">
                <a:solidFill>
                  <a:srgbClr val="0B4DA2"/>
                </a:solidFill>
                <a:latin typeface="Arial"/>
                <a:ea typeface="Microsoft YaHei"/>
                <a:cs typeface="Arial"/>
              </a:rPr>
              <a:t>Atomicity</a:t>
            </a:r>
          </a:p>
        </p:txBody>
      </p:sp>
      <p:sp>
        <p:nvSpPr>
          <p:cNvPr id="16" name="TextBox 16"/>
          <p:cNvSpPr txBox="1"/>
          <p:nvPr/>
        </p:nvSpPr>
        <p:spPr>
          <a:xfrm>
            <a:off x="1415415" y="2077402"/>
            <a:ext cx="1130808"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Tính nguyên tử</a:t>
            </a:r>
          </a:p>
        </p:txBody>
      </p:sp>
      <p:sp>
        <p:nvSpPr>
          <p:cNvPr id="17" name="Freeform 17"/>
          <p:cNvSpPr/>
          <p:nvPr/>
        </p:nvSpPr>
        <p:spPr>
          <a:xfrm>
            <a:off x="3238500" y="1619250"/>
            <a:ext cx="3524250" cy="857250"/>
          </a:xfrm>
          <a:custGeom>
            <a:avLst/>
            <a:gdLst/>
            <a:ahLst/>
            <a:cxnLst/>
            <a:rect l="l" t="t" r="r" b="b"/>
            <a:pathLst>
              <a:path w="3524250" h="857250">
                <a:moveTo>
                  <a:pt x="76200" y="0"/>
                </a:moveTo>
                <a:lnTo>
                  <a:pt x="3448050" y="0"/>
                </a:lnTo>
                <a:cubicBezTo>
                  <a:pt x="3490134" y="0"/>
                  <a:pt x="3524250" y="34116"/>
                  <a:pt x="3524250" y="76200"/>
                </a:cubicBezTo>
                <a:lnTo>
                  <a:pt x="3524250" y="781050"/>
                </a:lnTo>
                <a:cubicBezTo>
                  <a:pt x="3524250" y="823134"/>
                  <a:pt x="3490134" y="857250"/>
                  <a:pt x="34480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sp>
      <p:sp>
        <p:nvSpPr>
          <p:cNvPr id="18" name="TextBox 18"/>
          <p:cNvSpPr txBox="1"/>
          <p:nvPr/>
        </p:nvSpPr>
        <p:spPr>
          <a:xfrm>
            <a:off x="4626540" y="1851660"/>
            <a:ext cx="7481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Đầy đủ ✓</a:t>
            </a:r>
          </a:p>
        </p:txBody>
      </p:sp>
      <p:sp>
        <p:nvSpPr>
          <p:cNvPr id="19" name="TextBox 19"/>
          <p:cNvSpPr txBox="1"/>
          <p:nvPr/>
        </p:nvSpPr>
        <p:spPr>
          <a:xfrm>
            <a:off x="4216694" y="2096452"/>
            <a:ext cx="1567863"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Full ACID transaction</a:t>
            </a:r>
          </a:p>
        </p:txBody>
      </p:sp>
      <p:sp>
        <p:nvSpPr>
          <p:cNvPr id="20" name="Freeform 20"/>
          <p:cNvSpPr/>
          <p:nvPr/>
        </p:nvSpPr>
        <p:spPr>
          <a:xfrm>
            <a:off x="6953250" y="1619250"/>
            <a:ext cx="4476750" cy="857250"/>
          </a:xfrm>
          <a:custGeom>
            <a:avLst/>
            <a:gdLst/>
            <a:ahLst/>
            <a:cxnLst/>
            <a:rect l="l" t="t" r="r" b="b"/>
            <a:pathLst>
              <a:path w="4476750" h="857250">
                <a:moveTo>
                  <a:pt x="76200" y="0"/>
                </a:moveTo>
                <a:lnTo>
                  <a:pt x="4400550" y="0"/>
                </a:lnTo>
                <a:cubicBezTo>
                  <a:pt x="4442634" y="0"/>
                  <a:pt x="4476750" y="34116"/>
                  <a:pt x="4476750" y="76200"/>
                </a:cubicBezTo>
                <a:lnTo>
                  <a:pt x="4476750" y="781050"/>
                </a:lnTo>
                <a:cubicBezTo>
                  <a:pt x="4476750" y="823134"/>
                  <a:pt x="4442634" y="857250"/>
                  <a:pt x="4400550" y="857250"/>
                </a:cubicBezTo>
                <a:lnTo>
                  <a:pt x="76200" y="857250"/>
                </a:lnTo>
                <a:cubicBezTo>
                  <a:pt x="34116" y="857250"/>
                  <a:pt x="0" y="823134"/>
                  <a:pt x="0" y="781050"/>
                </a:cubicBezTo>
                <a:lnTo>
                  <a:pt x="0" y="76200"/>
                </a:lnTo>
                <a:cubicBezTo>
                  <a:pt x="0" y="34116"/>
                  <a:pt x="34116" y="0"/>
                  <a:pt x="76200" y="0"/>
                </a:cubicBezTo>
                <a:close/>
              </a:path>
            </a:pathLst>
          </a:custGeom>
          <a:solidFill>
            <a:srgbClr val="FF6B35">
              <a:alpha val="6000"/>
            </a:srgbClr>
          </a:solidFill>
          <a:ln>
            <a:noFill/>
          </a:ln>
        </p:spPr>
      </p:sp>
      <p:sp>
        <p:nvSpPr>
          <p:cNvPr id="21" name="TextBox 21"/>
          <p:cNvSpPr txBox="1"/>
          <p:nvPr/>
        </p:nvSpPr>
        <p:spPr>
          <a:xfrm>
            <a:off x="8187261" y="1851660"/>
            <a:ext cx="2008727" cy="243840"/>
          </a:xfrm>
          <a:prstGeom prst="rect">
            <a:avLst/>
          </a:prstGeom>
          <a:noFill/>
          <a:ln>
            <a:noFill/>
          </a:ln>
        </p:spPr>
        <p:txBody>
          <a:bodyPr wrap="none" lIns="0" tIns="0" rIns="0" bIns="0" anchor="t" anchorCtr="0">
            <a:spAutoFit/>
          </a:bodyPr>
          <a:lstStyle/>
          <a:p>
            <a:pPr algn="ctr"/>
            <a:r>
              <a:rPr lang="zh-CN" sz="1200" b="1" dirty="0">
                <a:solidFill>
                  <a:srgbClr val="FF6B35"/>
                </a:solidFill>
                <a:latin typeface="Arial"/>
                <a:ea typeface="Microsoft YaHei"/>
                <a:cs typeface="Arial"/>
              </a:rPr>
              <a:t>Hỗ trợ qua MULTI/EXEC</a:t>
            </a:r>
          </a:p>
        </p:txBody>
      </p:sp>
      <p:sp>
        <p:nvSpPr>
          <p:cNvPr id="22" name="TextBox 22"/>
          <p:cNvSpPr txBox="1"/>
          <p:nvPr/>
        </p:nvSpPr>
        <p:spPr>
          <a:xfrm>
            <a:off x="8476702" y="2096452"/>
            <a:ext cx="1429845"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Transaction cơ bản</a:t>
            </a:r>
          </a:p>
        </p:txBody>
      </p:sp>
      <p:sp>
        <p:nvSpPr>
          <p:cNvPr id="23" name="Freeform 23"/>
          <p:cNvSpPr/>
          <p:nvPr/>
        </p:nvSpPr>
        <p:spPr>
          <a:xfrm>
            <a:off x="762000" y="2619375"/>
            <a:ext cx="2286000" cy="857250"/>
          </a:xfrm>
          <a:custGeom>
            <a:avLst/>
            <a:gdLst/>
            <a:ahLst/>
            <a:cxnLst/>
            <a:rect l="l" t="t" r="r" b="b"/>
            <a:pathLst>
              <a:path w="2286000" h="857250">
                <a:moveTo>
                  <a:pt x="76200" y="0"/>
                </a:moveTo>
                <a:lnTo>
                  <a:pt x="2209800" y="0"/>
                </a:lnTo>
                <a:cubicBezTo>
                  <a:pt x="2251884" y="0"/>
                  <a:pt x="2286000" y="34116"/>
                  <a:pt x="2286000" y="76200"/>
                </a:cubicBezTo>
                <a:lnTo>
                  <a:pt x="2286000" y="781050"/>
                </a:lnTo>
                <a:cubicBezTo>
                  <a:pt x="2286000" y="823134"/>
                  <a:pt x="2251884" y="857250"/>
                  <a:pt x="2209800" y="857250"/>
                </a:cubicBezTo>
                <a:lnTo>
                  <a:pt x="76200" y="857250"/>
                </a:lnTo>
                <a:cubicBezTo>
                  <a:pt x="34116" y="857250"/>
                  <a:pt x="0" y="823134"/>
                  <a:pt x="0" y="781050"/>
                </a:cubicBezTo>
                <a:lnTo>
                  <a:pt x="0" y="76200"/>
                </a:lnTo>
                <a:cubicBezTo>
                  <a:pt x="0" y="34116"/>
                  <a:pt x="34116" y="0"/>
                  <a:pt x="76200" y="0"/>
                </a:cubicBezTo>
                <a:close/>
              </a:path>
            </a:pathLst>
          </a:custGeom>
          <a:solidFill>
            <a:srgbClr val="F5F7FA"/>
          </a:solidFill>
          <a:ln>
            <a:noFill/>
          </a:ln>
        </p:spPr>
      </p:sp>
      <p:sp>
        <p:nvSpPr>
          <p:cNvPr id="24" name="Ellipse 24"/>
          <p:cNvSpPr/>
          <p:nvPr/>
        </p:nvSpPr>
        <p:spPr>
          <a:xfrm>
            <a:off x="885825" y="2838450"/>
            <a:ext cx="419100" cy="419100"/>
          </a:xfrm>
          <a:prstGeom prst="ellipse">
            <a:avLst/>
          </a:prstGeom>
          <a:solidFill>
            <a:srgbClr val="D12B1F"/>
          </a:solidFill>
          <a:ln>
            <a:noFill/>
          </a:ln>
        </p:spPr>
      </p:sp>
      <p:sp>
        <p:nvSpPr>
          <p:cNvPr id="25" name="TextBox 25"/>
          <p:cNvSpPr txBox="1"/>
          <p:nvPr/>
        </p:nvSpPr>
        <p:spPr>
          <a:xfrm>
            <a:off x="1021298" y="296894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C</a:t>
            </a:r>
          </a:p>
        </p:txBody>
      </p:sp>
      <p:sp>
        <p:nvSpPr>
          <p:cNvPr id="26" name="TextBox 26"/>
          <p:cNvSpPr txBox="1"/>
          <p:nvPr/>
        </p:nvSpPr>
        <p:spPr>
          <a:xfrm>
            <a:off x="1412558" y="2843689"/>
            <a:ext cx="1166427" cy="259080"/>
          </a:xfrm>
          <a:prstGeom prst="rect">
            <a:avLst/>
          </a:prstGeom>
          <a:noFill/>
          <a:ln>
            <a:noFill/>
          </a:ln>
        </p:spPr>
        <p:txBody>
          <a:bodyPr wrap="none" lIns="0" tIns="0" rIns="0" bIns="0" anchor="t" anchorCtr="0">
            <a:spAutoFit/>
          </a:bodyPr>
          <a:lstStyle/>
          <a:p>
            <a:pPr algn="l"/>
            <a:r>
              <a:rPr lang="zh-CN" sz="1275" b="1" dirty="0">
                <a:solidFill>
                  <a:srgbClr val="D12B1F"/>
                </a:solidFill>
                <a:latin typeface="Arial"/>
                <a:ea typeface="Microsoft YaHei"/>
                <a:cs typeface="Arial"/>
              </a:rPr>
              <a:t>Consistency</a:t>
            </a:r>
          </a:p>
        </p:txBody>
      </p:sp>
      <p:sp>
        <p:nvSpPr>
          <p:cNvPr id="27" name="TextBox 27"/>
          <p:cNvSpPr txBox="1"/>
          <p:nvPr/>
        </p:nvSpPr>
        <p:spPr>
          <a:xfrm>
            <a:off x="1415415" y="3077528"/>
            <a:ext cx="1130808"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Tính nhất quán</a:t>
            </a:r>
          </a:p>
        </p:txBody>
      </p:sp>
      <p:sp>
        <p:nvSpPr>
          <p:cNvPr id="28" name="Freeform 28"/>
          <p:cNvSpPr/>
          <p:nvPr/>
        </p:nvSpPr>
        <p:spPr>
          <a:xfrm>
            <a:off x="3238500" y="2619375"/>
            <a:ext cx="3524250" cy="857250"/>
          </a:xfrm>
          <a:custGeom>
            <a:avLst/>
            <a:gdLst/>
            <a:ahLst/>
            <a:cxnLst/>
            <a:rect l="l" t="t" r="r" b="b"/>
            <a:pathLst>
              <a:path w="3524250" h="857250">
                <a:moveTo>
                  <a:pt x="76200" y="0"/>
                </a:moveTo>
                <a:lnTo>
                  <a:pt x="3448050" y="0"/>
                </a:lnTo>
                <a:cubicBezTo>
                  <a:pt x="3490134" y="0"/>
                  <a:pt x="3524250" y="34116"/>
                  <a:pt x="3524250" y="76200"/>
                </a:cubicBezTo>
                <a:lnTo>
                  <a:pt x="3524250" y="781050"/>
                </a:lnTo>
                <a:cubicBezTo>
                  <a:pt x="3524250" y="823134"/>
                  <a:pt x="3490134" y="857250"/>
                  <a:pt x="34480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sp>
      <p:sp>
        <p:nvSpPr>
          <p:cNvPr id="29" name="TextBox 29"/>
          <p:cNvSpPr txBox="1"/>
          <p:nvPr/>
        </p:nvSpPr>
        <p:spPr>
          <a:xfrm>
            <a:off x="4626540" y="2918460"/>
            <a:ext cx="7481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Đầy đủ ✓</a:t>
            </a:r>
          </a:p>
        </p:txBody>
      </p:sp>
      <p:sp>
        <p:nvSpPr>
          <p:cNvPr id="30" name="Freeform 30"/>
          <p:cNvSpPr/>
          <p:nvPr/>
        </p:nvSpPr>
        <p:spPr>
          <a:xfrm>
            <a:off x="6953250" y="2619375"/>
            <a:ext cx="4476750" cy="857250"/>
          </a:xfrm>
          <a:custGeom>
            <a:avLst/>
            <a:gdLst/>
            <a:ahLst/>
            <a:cxnLst/>
            <a:rect l="l" t="t" r="r" b="b"/>
            <a:pathLst>
              <a:path w="4476750" h="857250">
                <a:moveTo>
                  <a:pt x="76200" y="0"/>
                </a:moveTo>
                <a:lnTo>
                  <a:pt x="4400550" y="0"/>
                </a:lnTo>
                <a:cubicBezTo>
                  <a:pt x="4442634" y="0"/>
                  <a:pt x="4476750" y="34116"/>
                  <a:pt x="4476750" y="76200"/>
                </a:cubicBezTo>
                <a:lnTo>
                  <a:pt x="4476750" y="781050"/>
                </a:lnTo>
                <a:cubicBezTo>
                  <a:pt x="4476750" y="823134"/>
                  <a:pt x="4442634" y="857250"/>
                  <a:pt x="4400550" y="857250"/>
                </a:cubicBezTo>
                <a:lnTo>
                  <a:pt x="76200" y="857250"/>
                </a:lnTo>
                <a:cubicBezTo>
                  <a:pt x="34116" y="857250"/>
                  <a:pt x="0" y="823134"/>
                  <a:pt x="0" y="781050"/>
                </a:cubicBezTo>
                <a:lnTo>
                  <a:pt x="0" y="76200"/>
                </a:lnTo>
                <a:cubicBezTo>
                  <a:pt x="0" y="34116"/>
                  <a:pt x="34116" y="0"/>
                  <a:pt x="76200" y="0"/>
                </a:cubicBezTo>
                <a:close/>
              </a:path>
            </a:pathLst>
          </a:custGeom>
          <a:solidFill>
            <a:srgbClr val="FF6B35">
              <a:alpha val="6000"/>
            </a:srgbClr>
          </a:solidFill>
          <a:ln>
            <a:noFill/>
          </a:ln>
        </p:spPr>
      </p:sp>
      <p:sp>
        <p:nvSpPr>
          <p:cNvPr id="31" name="TextBox 31"/>
          <p:cNvSpPr txBox="1"/>
          <p:nvPr/>
        </p:nvSpPr>
        <p:spPr>
          <a:xfrm>
            <a:off x="8615115" y="2851785"/>
            <a:ext cx="1153020" cy="243840"/>
          </a:xfrm>
          <a:prstGeom prst="rect">
            <a:avLst/>
          </a:prstGeom>
          <a:noFill/>
          <a:ln>
            <a:noFill/>
          </a:ln>
        </p:spPr>
        <p:txBody>
          <a:bodyPr wrap="none" lIns="0" tIns="0" rIns="0" bIns="0" anchor="t" anchorCtr="0">
            <a:spAutoFit/>
          </a:bodyPr>
          <a:lstStyle/>
          <a:p>
            <a:pPr algn="ctr"/>
            <a:r>
              <a:rPr lang="zh-CN" sz="1200" b="1" dirty="0">
                <a:solidFill>
                  <a:srgbClr val="FF6B35"/>
                </a:solidFill>
                <a:latin typeface="Arial"/>
                <a:ea typeface="Microsoft YaHei"/>
                <a:cs typeface="Arial"/>
              </a:rPr>
              <a:t>Tùy cấu hình</a:t>
            </a:r>
          </a:p>
        </p:txBody>
      </p:sp>
      <p:sp>
        <p:nvSpPr>
          <p:cNvPr id="32" name="TextBox 32"/>
          <p:cNvSpPr txBox="1"/>
          <p:nvPr/>
        </p:nvSpPr>
        <p:spPr>
          <a:xfrm>
            <a:off x="8354020" y="3096578"/>
            <a:ext cx="1675209"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RDB / AOF persistence</a:t>
            </a:r>
          </a:p>
        </p:txBody>
      </p:sp>
      <p:sp>
        <p:nvSpPr>
          <p:cNvPr id="33" name="Freeform 33"/>
          <p:cNvSpPr/>
          <p:nvPr/>
        </p:nvSpPr>
        <p:spPr>
          <a:xfrm>
            <a:off x="762000" y="3619500"/>
            <a:ext cx="2286000" cy="857250"/>
          </a:xfrm>
          <a:custGeom>
            <a:avLst/>
            <a:gdLst/>
            <a:ahLst/>
            <a:cxnLst/>
            <a:rect l="l" t="t" r="r" b="b"/>
            <a:pathLst>
              <a:path w="2286000" h="857250">
                <a:moveTo>
                  <a:pt x="76200" y="0"/>
                </a:moveTo>
                <a:lnTo>
                  <a:pt x="2209800" y="0"/>
                </a:lnTo>
                <a:cubicBezTo>
                  <a:pt x="2251884" y="0"/>
                  <a:pt x="2286000" y="34116"/>
                  <a:pt x="2286000" y="76200"/>
                </a:cubicBezTo>
                <a:lnTo>
                  <a:pt x="2286000" y="781050"/>
                </a:lnTo>
                <a:cubicBezTo>
                  <a:pt x="2286000" y="823134"/>
                  <a:pt x="2251884" y="857250"/>
                  <a:pt x="2209800" y="857250"/>
                </a:cubicBezTo>
                <a:lnTo>
                  <a:pt x="76200" y="857250"/>
                </a:lnTo>
                <a:cubicBezTo>
                  <a:pt x="34116" y="857250"/>
                  <a:pt x="0" y="823134"/>
                  <a:pt x="0" y="781050"/>
                </a:cubicBezTo>
                <a:lnTo>
                  <a:pt x="0" y="76200"/>
                </a:lnTo>
                <a:cubicBezTo>
                  <a:pt x="0" y="34116"/>
                  <a:pt x="34116" y="0"/>
                  <a:pt x="76200" y="0"/>
                </a:cubicBezTo>
                <a:close/>
              </a:path>
            </a:pathLst>
          </a:custGeom>
          <a:solidFill>
            <a:srgbClr val="E5F4F9"/>
          </a:solidFill>
          <a:ln>
            <a:noFill/>
          </a:ln>
        </p:spPr>
      </p:sp>
      <p:sp>
        <p:nvSpPr>
          <p:cNvPr id="34" name="Ellipse 34"/>
          <p:cNvSpPr/>
          <p:nvPr/>
        </p:nvSpPr>
        <p:spPr>
          <a:xfrm>
            <a:off x="885825" y="3838575"/>
            <a:ext cx="419100" cy="419100"/>
          </a:xfrm>
          <a:prstGeom prst="ellipse">
            <a:avLst/>
          </a:prstGeom>
          <a:solidFill>
            <a:srgbClr val="006AF9"/>
          </a:solidFill>
          <a:ln>
            <a:noFill/>
          </a:ln>
        </p:spPr>
      </p:sp>
      <p:sp>
        <p:nvSpPr>
          <p:cNvPr id="35" name="TextBox 35"/>
          <p:cNvSpPr txBox="1"/>
          <p:nvPr/>
        </p:nvSpPr>
        <p:spPr>
          <a:xfrm>
            <a:off x="1047176" y="3969068"/>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I</a:t>
            </a:r>
          </a:p>
        </p:txBody>
      </p:sp>
      <p:sp>
        <p:nvSpPr>
          <p:cNvPr id="36" name="TextBox 36"/>
          <p:cNvSpPr txBox="1"/>
          <p:nvPr/>
        </p:nvSpPr>
        <p:spPr>
          <a:xfrm>
            <a:off x="1412558" y="3843814"/>
            <a:ext cx="853588" cy="259080"/>
          </a:xfrm>
          <a:prstGeom prst="rect">
            <a:avLst/>
          </a:prstGeom>
          <a:noFill/>
          <a:ln>
            <a:noFill/>
          </a:ln>
        </p:spPr>
        <p:txBody>
          <a:bodyPr wrap="none" lIns="0" tIns="0" rIns="0" bIns="0" anchor="t" anchorCtr="0">
            <a:spAutoFit/>
          </a:bodyPr>
          <a:lstStyle/>
          <a:p>
            <a:pPr algn="l"/>
            <a:r>
              <a:rPr lang="zh-CN" sz="1275" b="1" dirty="0">
                <a:solidFill>
                  <a:srgbClr val="006AF9"/>
                </a:solidFill>
                <a:latin typeface="Arial"/>
                <a:ea typeface="Microsoft YaHei"/>
                <a:cs typeface="Arial"/>
              </a:rPr>
              <a:t>Isolation</a:t>
            </a:r>
          </a:p>
        </p:txBody>
      </p:sp>
      <p:sp>
        <p:nvSpPr>
          <p:cNvPr id="37" name="TextBox 37"/>
          <p:cNvSpPr txBox="1"/>
          <p:nvPr/>
        </p:nvSpPr>
        <p:spPr>
          <a:xfrm>
            <a:off x="1415415" y="4077652"/>
            <a:ext cx="839438"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Tính cô lập</a:t>
            </a:r>
          </a:p>
        </p:txBody>
      </p:sp>
      <p:sp>
        <p:nvSpPr>
          <p:cNvPr id="38" name="Freeform 38"/>
          <p:cNvSpPr/>
          <p:nvPr/>
        </p:nvSpPr>
        <p:spPr>
          <a:xfrm>
            <a:off x="3238500" y="3619500"/>
            <a:ext cx="3524250" cy="857250"/>
          </a:xfrm>
          <a:custGeom>
            <a:avLst/>
            <a:gdLst/>
            <a:ahLst/>
            <a:cxnLst/>
            <a:rect l="l" t="t" r="r" b="b"/>
            <a:pathLst>
              <a:path w="3524250" h="857250">
                <a:moveTo>
                  <a:pt x="76200" y="0"/>
                </a:moveTo>
                <a:lnTo>
                  <a:pt x="3448050" y="0"/>
                </a:lnTo>
                <a:cubicBezTo>
                  <a:pt x="3490134" y="0"/>
                  <a:pt x="3524250" y="34116"/>
                  <a:pt x="3524250" y="76200"/>
                </a:cubicBezTo>
                <a:lnTo>
                  <a:pt x="3524250" y="781050"/>
                </a:lnTo>
                <a:cubicBezTo>
                  <a:pt x="3524250" y="823134"/>
                  <a:pt x="3490134" y="857250"/>
                  <a:pt x="34480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sp>
      <p:sp>
        <p:nvSpPr>
          <p:cNvPr id="39" name="TextBox 39"/>
          <p:cNvSpPr txBox="1"/>
          <p:nvPr/>
        </p:nvSpPr>
        <p:spPr>
          <a:xfrm>
            <a:off x="4626540" y="3918585"/>
            <a:ext cx="7481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Đầy đủ ✓</a:t>
            </a:r>
          </a:p>
        </p:txBody>
      </p:sp>
      <p:sp>
        <p:nvSpPr>
          <p:cNvPr id="40" name="Freeform 40"/>
          <p:cNvSpPr/>
          <p:nvPr/>
        </p:nvSpPr>
        <p:spPr>
          <a:xfrm>
            <a:off x="6953250" y="3619500"/>
            <a:ext cx="4476750" cy="857250"/>
          </a:xfrm>
          <a:custGeom>
            <a:avLst/>
            <a:gdLst/>
            <a:ahLst/>
            <a:cxnLst/>
            <a:rect l="l" t="t" r="r" b="b"/>
            <a:pathLst>
              <a:path w="4476750" h="857250">
                <a:moveTo>
                  <a:pt x="76200" y="0"/>
                </a:moveTo>
                <a:lnTo>
                  <a:pt x="4400550" y="0"/>
                </a:lnTo>
                <a:cubicBezTo>
                  <a:pt x="4442634" y="0"/>
                  <a:pt x="4476750" y="34116"/>
                  <a:pt x="4476750" y="76200"/>
                </a:cubicBezTo>
                <a:lnTo>
                  <a:pt x="4476750" y="781050"/>
                </a:lnTo>
                <a:cubicBezTo>
                  <a:pt x="4476750" y="823134"/>
                  <a:pt x="4442634" y="857250"/>
                  <a:pt x="44005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sp>
      <p:sp>
        <p:nvSpPr>
          <p:cNvPr id="41" name="TextBox 41"/>
          <p:cNvSpPr txBox="1"/>
          <p:nvPr/>
        </p:nvSpPr>
        <p:spPr>
          <a:xfrm>
            <a:off x="8454095" y="3851910"/>
            <a:ext cx="1475061"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Tự nhiên cô lập ✓</a:t>
            </a:r>
          </a:p>
        </p:txBody>
      </p:sp>
      <p:sp>
        <p:nvSpPr>
          <p:cNvPr id="42" name="TextBox 42"/>
          <p:cNvSpPr txBox="1"/>
          <p:nvPr/>
        </p:nvSpPr>
        <p:spPr>
          <a:xfrm>
            <a:off x="8173831" y="4096702"/>
            <a:ext cx="2035588"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Single-threaded → tự cô lập</a:t>
            </a:r>
          </a:p>
        </p:txBody>
      </p:sp>
      <p:sp>
        <p:nvSpPr>
          <p:cNvPr id="43" name="Freeform 43"/>
          <p:cNvSpPr/>
          <p:nvPr/>
        </p:nvSpPr>
        <p:spPr>
          <a:xfrm>
            <a:off x="762000" y="4619625"/>
            <a:ext cx="2286000" cy="857250"/>
          </a:xfrm>
          <a:custGeom>
            <a:avLst/>
            <a:gdLst/>
            <a:ahLst/>
            <a:cxnLst/>
            <a:rect l="l" t="t" r="r" b="b"/>
            <a:pathLst>
              <a:path w="2286000" h="857250">
                <a:moveTo>
                  <a:pt x="76200" y="0"/>
                </a:moveTo>
                <a:lnTo>
                  <a:pt x="2209800" y="0"/>
                </a:lnTo>
                <a:cubicBezTo>
                  <a:pt x="2251884" y="0"/>
                  <a:pt x="2286000" y="34116"/>
                  <a:pt x="2286000" y="76200"/>
                </a:cubicBezTo>
                <a:lnTo>
                  <a:pt x="2286000" y="781050"/>
                </a:lnTo>
                <a:cubicBezTo>
                  <a:pt x="2286000" y="823134"/>
                  <a:pt x="2251884" y="857250"/>
                  <a:pt x="2209800" y="857250"/>
                </a:cubicBezTo>
                <a:lnTo>
                  <a:pt x="76200" y="857250"/>
                </a:lnTo>
                <a:cubicBezTo>
                  <a:pt x="34116" y="857250"/>
                  <a:pt x="0" y="823134"/>
                  <a:pt x="0" y="781050"/>
                </a:cubicBezTo>
                <a:lnTo>
                  <a:pt x="0" y="76200"/>
                </a:lnTo>
                <a:cubicBezTo>
                  <a:pt x="0" y="34116"/>
                  <a:pt x="34116" y="0"/>
                  <a:pt x="76200" y="0"/>
                </a:cubicBezTo>
                <a:close/>
              </a:path>
            </a:pathLst>
          </a:custGeom>
          <a:solidFill>
            <a:srgbClr val="F5F7FA"/>
          </a:solidFill>
          <a:ln>
            <a:noFill/>
          </a:ln>
        </p:spPr>
      </p:sp>
      <p:sp>
        <p:nvSpPr>
          <p:cNvPr id="44" name="Ellipse 44"/>
          <p:cNvSpPr/>
          <p:nvPr/>
        </p:nvSpPr>
        <p:spPr>
          <a:xfrm>
            <a:off x="885825" y="4838700"/>
            <a:ext cx="419100" cy="419100"/>
          </a:xfrm>
          <a:prstGeom prst="ellipse">
            <a:avLst/>
          </a:prstGeom>
          <a:solidFill>
            <a:srgbClr val="2E7D32"/>
          </a:solidFill>
          <a:ln>
            <a:noFill/>
          </a:ln>
        </p:spPr>
      </p:sp>
      <p:sp>
        <p:nvSpPr>
          <p:cNvPr id="45" name="TextBox 45"/>
          <p:cNvSpPr txBox="1"/>
          <p:nvPr/>
        </p:nvSpPr>
        <p:spPr>
          <a:xfrm>
            <a:off x="1021298" y="496919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D</a:t>
            </a:r>
          </a:p>
        </p:txBody>
      </p:sp>
      <p:sp>
        <p:nvSpPr>
          <p:cNvPr id="46" name="TextBox 46"/>
          <p:cNvSpPr txBox="1"/>
          <p:nvPr/>
        </p:nvSpPr>
        <p:spPr>
          <a:xfrm>
            <a:off x="1412558" y="4843939"/>
            <a:ext cx="961126" cy="259080"/>
          </a:xfrm>
          <a:prstGeom prst="rect">
            <a:avLst/>
          </a:prstGeom>
          <a:noFill/>
          <a:ln>
            <a:noFill/>
          </a:ln>
        </p:spPr>
        <p:txBody>
          <a:bodyPr wrap="none" lIns="0" tIns="0" rIns="0" bIns="0" anchor="t" anchorCtr="0">
            <a:spAutoFit/>
          </a:bodyPr>
          <a:lstStyle/>
          <a:p>
            <a:pPr algn="l"/>
            <a:r>
              <a:rPr lang="zh-CN" sz="1275" b="1" dirty="0">
                <a:solidFill>
                  <a:srgbClr val="2E7D32"/>
                </a:solidFill>
                <a:latin typeface="Arial"/>
                <a:ea typeface="Microsoft YaHei"/>
                <a:cs typeface="Arial"/>
              </a:rPr>
              <a:t>Durability</a:t>
            </a:r>
          </a:p>
        </p:txBody>
      </p:sp>
      <p:sp>
        <p:nvSpPr>
          <p:cNvPr id="47" name="TextBox 47"/>
          <p:cNvSpPr txBox="1"/>
          <p:nvPr/>
        </p:nvSpPr>
        <p:spPr>
          <a:xfrm>
            <a:off x="1415415" y="5077778"/>
            <a:ext cx="1046464"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Tính bền vững</a:t>
            </a:r>
          </a:p>
        </p:txBody>
      </p:sp>
      <p:sp>
        <p:nvSpPr>
          <p:cNvPr id="48" name="Freeform 48"/>
          <p:cNvSpPr/>
          <p:nvPr/>
        </p:nvSpPr>
        <p:spPr>
          <a:xfrm>
            <a:off x="3238500" y="4619625"/>
            <a:ext cx="3524250" cy="857250"/>
          </a:xfrm>
          <a:custGeom>
            <a:avLst/>
            <a:gdLst/>
            <a:ahLst/>
            <a:cxnLst/>
            <a:rect l="l" t="t" r="r" b="b"/>
            <a:pathLst>
              <a:path w="3524250" h="857250">
                <a:moveTo>
                  <a:pt x="76200" y="0"/>
                </a:moveTo>
                <a:lnTo>
                  <a:pt x="3448050" y="0"/>
                </a:lnTo>
                <a:cubicBezTo>
                  <a:pt x="3490134" y="0"/>
                  <a:pt x="3524250" y="34116"/>
                  <a:pt x="3524250" y="76200"/>
                </a:cubicBezTo>
                <a:lnTo>
                  <a:pt x="3524250" y="781050"/>
                </a:lnTo>
                <a:cubicBezTo>
                  <a:pt x="3524250" y="823134"/>
                  <a:pt x="3490134" y="857250"/>
                  <a:pt x="34480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sp>
      <p:sp>
        <p:nvSpPr>
          <p:cNvPr id="49" name="TextBox 49"/>
          <p:cNvSpPr txBox="1"/>
          <p:nvPr/>
        </p:nvSpPr>
        <p:spPr>
          <a:xfrm>
            <a:off x="4626540" y="4918710"/>
            <a:ext cx="7481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Đầy đủ ✓</a:t>
            </a:r>
          </a:p>
        </p:txBody>
      </p:sp>
      <p:sp>
        <p:nvSpPr>
          <p:cNvPr id="50" name="Freeform 50"/>
          <p:cNvSpPr/>
          <p:nvPr/>
        </p:nvSpPr>
        <p:spPr>
          <a:xfrm>
            <a:off x="6953250" y="4619625"/>
            <a:ext cx="4476750" cy="857250"/>
          </a:xfrm>
          <a:custGeom>
            <a:avLst/>
            <a:gdLst/>
            <a:ahLst/>
            <a:cxnLst/>
            <a:rect l="l" t="t" r="r" b="b"/>
            <a:pathLst>
              <a:path w="4476750" h="857250">
                <a:moveTo>
                  <a:pt x="76200" y="0"/>
                </a:moveTo>
                <a:lnTo>
                  <a:pt x="4400550" y="0"/>
                </a:lnTo>
                <a:cubicBezTo>
                  <a:pt x="4442634" y="0"/>
                  <a:pt x="4476750" y="34116"/>
                  <a:pt x="4476750" y="76200"/>
                </a:cubicBezTo>
                <a:lnTo>
                  <a:pt x="4476750" y="781050"/>
                </a:lnTo>
                <a:cubicBezTo>
                  <a:pt x="4476750" y="823134"/>
                  <a:pt x="4442634" y="857250"/>
                  <a:pt x="4400550" y="857250"/>
                </a:cubicBezTo>
                <a:lnTo>
                  <a:pt x="76200" y="857250"/>
                </a:lnTo>
                <a:cubicBezTo>
                  <a:pt x="34116" y="857250"/>
                  <a:pt x="0" y="823134"/>
                  <a:pt x="0" y="781050"/>
                </a:cubicBezTo>
                <a:lnTo>
                  <a:pt x="0" y="76200"/>
                </a:lnTo>
                <a:cubicBezTo>
                  <a:pt x="0" y="34116"/>
                  <a:pt x="34116" y="0"/>
                  <a:pt x="76200" y="0"/>
                </a:cubicBezTo>
                <a:close/>
              </a:path>
            </a:pathLst>
          </a:custGeom>
          <a:solidFill>
            <a:srgbClr val="FF6B35">
              <a:alpha val="6000"/>
            </a:srgbClr>
          </a:solidFill>
          <a:ln>
            <a:noFill/>
          </a:ln>
        </p:spPr>
      </p:sp>
      <p:sp>
        <p:nvSpPr>
          <p:cNvPr id="51" name="TextBox 51"/>
          <p:cNvSpPr txBox="1"/>
          <p:nvPr/>
        </p:nvSpPr>
        <p:spPr>
          <a:xfrm>
            <a:off x="8794537" y="4852035"/>
            <a:ext cx="794175" cy="243840"/>
          </a:xfrm>
          <a:prstGeom prst="rect">
            <a:avLst/>
          </a:prstGeom>
          <a:noFill/>
          <a:ln>
            <a:noFill/>
          </a:ln>
        </p:spPr>
        <p:txBody>
          <a:bodyPr wrap="none" lIns="0" tIns="0" rIns="0" bIns="0" anchor="t" anchorCtr="0">
            <a:spAutoFit/>
          </a:bodyPr>
          <a:lstStyle/>
          <a:p>
            <a:pPr algn="ctr"/>
            <a:r>
              <a:rPr lang="zh-CN" sz="1200" b="1" dirty="0">
                <a:solidFill>
                  <a:srgbClr val="FF6B35"/>
                </a:solidFill>
                <a:latin typeface="Arial"/>
                <a:ea typeface="Microsoft YaHei"/>
                <a:cs typeface="Arial"/>
              </a:rPr>
              <a:t>Tùy chọn</a:t>
            </a:r>
          </a:p>
        </p:txBody>
      </p:sp>
      <p:sp>
        <p:nvSpPr>
          <p:cNvPr id="52" name="TextBox 52"/>
          <p:cNvSpPr txBox="1"/>
          <p:nvPr/>
        </p:nvSpPr>
        <p:spPr>
          <a:xfrm>
            <a:off x="8331017" y="5096828"/>
            <a:ext cx="1721215"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RDB snapshot / AOF log</a:t>
            </a:r>
          </a:p>
        </p:txBody>
      </p:sp>
      <p:sp>
        <p:nvSpPr>
          <p:cNvPr id="53" name="Freeform 53"/>
          <p:cNvSpPr/>
          <p:nvPr/>
        </p:nvSpPr>
        <p:spPr>
          <a:xfrm>
            <a:off x="571500" y="5715000"/>
            <a:ext cx="11049000" cy="571500"/>
          </a:xfrm>
          <a:custGeom>
            <a:avLst/>
            <a:gdLst/>
            <a:ahLst/>
            <a:cxnLst/>
            <a:rect l="l" t="t" r="r" b="b"/>
            <a:pathLst>
              <a:path w="11049000" h="571500">
                <a:moveTo>
                  <a:pt x="95250" y="0"/>
                </a:moveTo>
                <a:lnTo>
                  <a:pt x="10953750" y="0"/>
                </a:lnTo>
                <a:cubicBezTo>
                  <a:pt x="11006355" y="0"/>
                  <a:pt x="11049000" y="42645"/>
                  <a:pt x="11049000" y="95250"/>
                </a:cubicBezTo>
                <a:lnTo>
                  <a:pt x="11049000" y="476250"/>
                </a:lnTo>
                <a:cubicBezTo>
                  <a:pt x="11049000" y="528855"/>
                  <a:pt x="11006355" y="571500"/>
                  <a:pt x="10953750" y="571500"/>
                </a:cubicBezTo>
                <a:lnTo>
                  <a:pt x="95250" y="571500"/>
                </a:lnTo>
                <a:cubicBezTo>
                  <a:pt x="42645" y="571500"/>
                  <a:pt x="0" y="528855"/>
                  <a:pt x="0" y="476250"/>
                </a:cubicBezTo>
                <a:lnTo>
                  <a:pt x="0" y="95250"/>
                </a:lnTo>
                <a:cubicBezTo>
                  <a:pt x="0" y="42645"/>
                  <a:pt x="42645" y="0"/>
                  <a:pt x="95250" y="0"/>
                </a:cubicBezTo>
                <a:close/>
              </a:path>
            </a:pathLst>
          </a:custGeom>
          <a:solidFill>
            <a:srgbClr val="D12B1F">
              <a:alpha val="6000"/>
            </a:srgbClr>
          </a:solidFill>
          <a:ln w="9525">
            <a:solidFill>
              <a:srgbClr val="D12B1F">
                <a:alpha val="30000"/>
              </a:srgbClr>
            </a:solidFill>
          </a:ln>
        </p:spPr>
      </p:sp>
      <p:sp>
        <p:nvSpPr>
          <p:cNvPr id="54" name="Freeform 54"/>
          <p:cNvSpPr/>
          <p:nvPr/>
        </p:nvSpPr>
        <p:spPr>
          <a:xfrm>
            <a:off x="776288" y="5886450"/>
            <a:ext cx="200025" cy="228600"/>
          </a:xfrm>
          <a:custGeom>
            <a:avLst/>
            <a:gdLst/>
            <a:ahLst/>
            <a:cxnLst/>
            <a:rect l="l" t="t" r="r" b="b"/>
            <a:pathLst>
              <a:path w="200025" h="228600">
                <a:moveTo>
                  <a:pt x="100012" y="228600"/>
                </a:moveTo>
                <a:lnTo>
                  <a:pt x="47864" y="191351"/>
                </a:lnTo>
                <a:cubicBezTo>
                  <a:pt x="17827" y="169896"/>
                  <a:pt x="0" y="135255"/>
                  <a:pt x="0" y="98342"/>
                </a:cubicBezTo>
                <a:lnTo>
                  <a:pt x="0" y="42862"/>
                </a:lnTo>
                <a:lnTo>
                  <a:pt x="100012" y="0"/>
                </a:lnTo>
                <a:lnTo>
                  <a:pt x="200025" y="42862"/>
                </a:lnTo>
                <a:lnTo>
                  <a:pt x="200025" y="98342"/>
                </a:lnTo>
                <a:cubicBezTo>
                  <a:pt x="200025" y="135255"/>
                  <a:pt x="182198" y="169896"/>
                  <a:pt x="152160" y="191351"/>
                </a:cubicBezTo>
                <a:lnTo>
                  <a:pt x="100012" y="228600"/>
                </a:lnTo>
                <a:close/>
                <a:moveTo>
                  <a:pt x="160121" y="81540"/>
                </a:moveTo>
                <a:lnTo>
                  <a:pt x="139916" y="61335"/>
                </a:lnTo>
                <a:lnTo>
                  <a:pt x="85725" y="115526"/>
                </a:lnTo>
                <a:lnTo>
                  <a:pt x="60109" y="89910"/>
                </a:lnTo>
                <a:lnTo>
                  <a:pt x="39903" y="110115"/>
                </a:lnTo>
                <a:lnTo>
                  <a:pt x="85725" y="155937"/>
                </a:lnTo>
                <a:lnTo>
                  <a:pt x="160121" y="81540"/>
                </a:lnTo>
                <a:close/>
              </a:path>
            </a:pathLst>
          </a:custGeom>
          <a:solidFill>
            <a:srgbClr val="D12B1F"/>
          </a:solidFill>
          <a:ln>
            <a:noFill/>
          </a:ln>
        </p:spPr>
      </p:sp>
      <p:sp>
        <p:nvSpPr>
          <p:cNvPr id="55" name="TextBox 55"/>
          <p:cNvSpPr txBox="1"/>
          <p:nvPr/>
        </p:nvSpPr>
        <p:spPr>
          <a:xfrm>
            <a:off x="1080135" y="5928360"/>
            <a:ext cx="591750" cy="243840"/>
          </a:xfrm>
          <a:prstGeom prst="rect">
            <a:avLst/>
          </a:prstGeom>
          <a:noFill/>
          <a:ln>
            <a:noFill/>
          </a:ln>
        </p:spPr>
        <p:txBody>
          <a:bodyPr wrap="none" lIns="0" tIns="0" rIns="0" bIns="0" anchor="t" anchorCtr="0">
            <a:spAutoFit/>
          </a:bodyPr>
          <a:lstStyle/>
          <a:p>
            <a:pPr algn="l"/>
            <a:r>
              <a:rPr lang="zh-CN" sz="1200" b="1" dirty="0">
                <a:solidFill>
                  <a:srgbClr val="D12B1F"/>
                </a:solidFill>
                <a:latin typeface="Arial"/>
                <a:ea typeface="Microsoft YaHei"/>
                <a:cs typeface="Arial"/>
              </a:rPr>
              <a:t>Lưu ý:</a:t>
            </a:r>
          </a:p>
        </p:txBody>
      </p:sp>
      <p:sp>
        <p:nvSpPr>
          <p:cNvPr id="56" name="TextBox 56"/>
          <p:cNvSpPr txBox="1"/>
          <p:nvPr/>
        </p:nvSpPr>
        <p:spPr>
          <a:xfrm>
            <a:off x="1747838" y="5936456"/>
            <a:ext cx="6896576"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Redis không đảm bảo đầy đủ ACID như RDBMS. Redis theo mô hình BASE (phần tiếp theo).</a:t>
            </a:r>
          </a:p>
        </p:txBody>
      </p:sp>
      <p:sp>
        <p:nvSpPr>
          <p:cNvPr id="57" name="TextBox 57"/>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08 / 25</a:t>
            </a:r>
          </a:p>
        </p:txBody>
      </p:sp>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3631006"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3.5 BASE Properties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sp>
        <p:nvSpPr>
          <p:cNvPr id="6" name="TextBox 6"/>
          <p:cNvSpPr txBox="1"/>
          <p:nvPr/>
        </p:nvSpPr>
        <p:spPr>
          <a:xfrm>
            <a:off x="556260" y="775335"/>
            <a:ext cx="5875401" cy="243840"/>
          </a:xfrm>
          <a:prstGeom prst="rect">
            <a:avLst/>
          </a:prstGeom>
          <a:noFill/>
          <a:ln>
            <a:noFill/>
          </a:ln>
        </p:spPr>
        <p:txBody>
          <a:bodyPr wrap="none" lIns="0" tIns="0" rIns="0" bIns="0" anchor="t" anchorCtr="0">
            <a:spAutoFit/>
          </a:bodyPr>
          <a:lstStyle/>
          <a:p>
            <a:pPr algn="l"/>
            <a:r>
              <a:rPr lang="zh-CN" sz="1200" dirty="0">
                <a:solidFill>
                  <a:srgbClr val="718096"/>
                </a:solidFill>
                <a:latin typeface="Arial"/>
                <a:ea typeface="Microsoft YaHei"/>
                <a:cs typeface="Arial"/>
              </a:rPr>
              <a:t>Mô hình thiết kế CSDL đối lập với ACID — NoSQL (Redis) tuân theo BASE</a:t>
            </a:r>
          </a:p>
        </p:txBody>
      </p:sp>
      <p:grpSp>
        <p:nvGrpSpPr>
          <p:cNvPr id="23" name="Group 23"/>
          <p:cNvGrpSpPr/>
          <p:nvPr/>
        </p:nvGrpSpPr>
        <p:grpSpPr>
          <a:xfrm>
            <a:off x="571500" y="1143000"/>
            <a:ext cx="3524250" cy="4572000"/>
            <a:chOff x="571500" y="1143000"/>
            <a:chExt cx="3524250" cy="4572000"/>
          </a:xfrm>
          <a:effectLst>
            <a:outerShdw blurRad="190500" dist="38100" dir="10799140" algn="tl" rotWithShape="0">
              <a:srgbClr val="000000">
                <a:alpha val="12000"/>
              </a:srgbClr>
            </a:outerShdw>
          </a:effectLst>
        </p:grpSpPr>
        <p:sp>
          <p:nvSpPr>
            <p:cNvPr id="7" name="Freeform 7"/>
            <p:cNvSpPr/>
            <p:nvPr/>
          </p:nvSpPr>
          <p:spPr>
            <a:xfrm>
              <a:off x="571500" y="1143000"/>
              <a:ext cx="3524250" cy="4572000"/>
            </a:xfrm>
            <a:custGeom>
              <a:avLst/>
              <a:gdLst/>
              <a:ahLst/>
              <a:cxnLst/>
              <a:rect l="l" t="t" r="r" b="b"/>
              <a:pathLst>
                <a:path w="3524250" h="4572000">
                  <a:moveTo>
                    <a:pt x="114300" y="0"/>
                  </a:moveTo>
                  <a:lnTo>
                    <a:pt x="3409950" y="0"/>
                  </a:lnTo>
                  <a:cubicBezTo>
                    <a:pt x="3473076" y="0"/>
                    <a:pt x="3524250" y="51174"/>
                    <a:pt x="3524250" y="114300"/>
                  </a:cubicBezTo>
                  <a:lnTo>
                    <a:pt x="3524250" y="4457700"/>
                  </a:lnTo>
                  <a:cubicBezTo>
                    <a:pt x="3524250" y="4520826"/>
                    <a:pt x="3473076" y="4572000"/>
                    <a:pt x="340995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8" name="Freeform 8"/>
            <p:cNvSpPr/>
            <p:nvPr/>
          </p:nvSpPr>
          <p:spPr>
            <a:xfrm>
              <a:off x="571500" y="1143000"/>
              <a:ext cx="3524250" cy="76200"/>
            </a:xfrm>
            <a:custGeom>
              <a:avLst/>
              <a:gdLst/>
              <a:ahLst/>
              <a:cxnLst/>
              <a:rect l="l" t="t" r="r" b="b"/>
              <a:pathLst>
                <a:path w="3524250" h="76200">
                  <a:moveTo>
                    <a:pt x="38100" y="0"/>
                  </a:moveTo>
                  <a:lnTo>
                    <a:pt x="3486150" y="0"/>
                  </a:lnTo>
                  <a:cubicBezTo>
                    <a:pt x="3507192" y="0"/>
                    <a:pt x="3524250" y="17058"/>
                    <a:pt x="3524250" y="38100"/>
                  </a:cubicBezTo>
                  <a:lnTo>
                    <a:pt x="3524250" y="38100"/>
                  </a:lnTo>
                  <a:cubicBezTo>
                    <a:pt x="3524250" y="59142"/>
                    <a:pt x="3507192" y="76200"/>
                    <a:pt x="3486150" y="76200"/>
                  </a:cubicBezTo>
                  <a:lnTo>
                    <a:pt x="38100" y="76200"/>
                  </a:lnTo>
                  <a:cubicBezTo>
                    <a:pt x="17058" y="76200"/>
                    <a:pt x="0" y="59142"/>
                    <a:pt x="0" y="38100"/>
                  </a:cubicBezTo>
                  <a:lnTo>
                    <a:pt x="0" y="38100"/>
                  </a:lnTo>
                  <a:cubicBezTo>
                    <a:pt x="0" y="17058"/>
                    <a:pt x="17058" y="0"/>
                    <a:pt x="38100"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9" name="Ellipse 9"/>
            <p:cNvSpPr/>
            <p:nvPr/>
          </p:nvSpPr>
          <p:spPr>
            <a:xfrm>
              <a:off x="1952625" y="1476375"/>
              <a:ext cx="762000" cy="762000"/>
            </a:xfrm>
            <a:prstGeom prst="ellipse">
              <a:avLst/>
            </a:prstGeom>
            <a:solidFill>
              <a:srgbClr val="0B4DA2">
                <a:alpha val="10000"/>
              </a:srgbClr>
            </a:solidFill>
            <a:ln>
              <a:noFill/>
            </a:ln>
            <a:effectLst>
              <a:outerShdw blurRad="190500" dist="38100" dir="10799140" algn="tl" rotWithShape="0">
                <a:srgbClr val="000000">
                  <a:alpha val="12000"/>
                </a:srgbClr>
              </a:outerShdw>
            </a:effectLst>
          </p:spPr>
        </p:sp>
        <p:sp>
          <p:nvSpPr>
            <p:cNvPr id="10" name="TextBox 10"/>
            <p:cNvSpPr txBox="1"/>
            <p:nvPr/>
          </p:nvSpPr>
          <p:spPr>
            <a:xfrm>
              <a:off x="2100720" y="1645920"/>
              <a:ext cx="465811" cy="4876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2400" b="1" dirty="0">
                  <a:solidFill>
                    <a:srgbClr val="0B4DA2"/>
                  </a:solidFill>
                  <a:latin typeface="Arial"/>
                  <a:ea typeface="Microsoft YaHei"/>
                  <a:cs typeface="Arial"/>
                </a:rPr>
                <a:t>BA</a:t>
              </a:r>
            </a:p>
          </p:txBody>
        </p:sp>
        <p:sp>
          <p:nvSpPr>
            <p:cNvPr id="11" name="TextBox 11"/>
            <p:cNvSpPr txBox="1"/>
            <p:nvPr/>
          </p:nvSpPr>
          <p:spPr>
            <a:xfrm>
              <a:off x="1313950" y="2314575"/>
              <a:ext cx="2039350"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500" b="1" dirty="0">
                  <a:solidFill>
                    <a:srgbClr val="0B4DA2"/>
                  </a:solidFill>
                  <a:latin typeface="Arial"/>
                  <a:ea typeface="Microsoft YaHei"/>
                  <a:cs typeface="Arial"/>
                </a:rPr>
                <a:t>Basically Available</a:t>
              </a:r>
            </a:p>
          </p:txBody>
        </p:sp>
        <p:sp>
          <p:nvSpPr>
            <p:cNvPr id="12" name="TextBox 12"/>
            <p:cNvSpPr txBox="1"/>
            <p:nvPr/>
          </p:nvSpPr>
          <p:spPr>
            <a:xfrm>
              <a:off x="1661160" y="2613660"/>
              <a:ext cx="1344930"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200" dirty="0">
                  <a:solidFill>
                    <a:srgbClr val="D12B1F"/>
                  </a:solidFill>
                  <a:latin typeface="Arial"/>
                  <a:ea typeface="Microsoft YaHei"/>
                  <a:cs typeface="Arial"/>
                </a:rPr>
                <a:t>Cơ bản khả dụng</a:t>
              </a:r>
            </a:p>
          </p:txBody>
        </p:sp>
        <p:sp>
          <p:nvSpPr>
            <p:cNvPr id="13" name="Rectangle 13"/>
            <p:cNvSpPr/>
            <p:nvPr/>
          </p:nvSpPr>
          <p:spPr>
            <a:xfrm>
              <a:off x="857250" y="2952750"/>
              <a:ext cx="2952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14" name="TextBox 14"/>
            <p:cNvSpPr txBox="1"/>
            <p:nvPr/>
          </p:nvSpPr>
          <p:spPr>
            <a:xfrm>
              <a:off x="938212" y="3164681"/>
              <a:ext cx="1811298"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Hệ thống luôn sẵn sàng</a:t>
              </a:r>
            </a:p>
          </p:txBody>
        </p:sp>
        <p:sp>
          <p:nvSpPr>
            <p:cNvPr id="15" name="TextBox 15"/>
            <p:cNvSpPr txBox="1"/>
            <p:nvPr/>
          </p:nvSpPr>
          <p:spPr>
            <a:xfrm>
              <a:off x="938212" y="3402806"/>
              <a:ext cx="1959173"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phục vụ dù có lỗi xảy ra.</a:t>
              </a:r>
            </a:p>
          </p:txBody>
        </p:sp>
        <p:sp>
          <p:nvSpPr>
            <p:cNvPr id="16" name="Freeform 16"/>
            <p:cNvSpPr/>
            <p:nvPr/>
          </p:nvSpPr>
          <p:spPr>
            <a:xfrm>
              <a:off x="857250" y="3810000"/>
              <a:ext cx="2952750" cy="571500"/>
            </a:xfrm>
            <a:custGeom>
              <a:avLst/>
              <a:gdLst/>
              <a:ahLst/>
              <a:cxnLst/>
              <a:rect l="l" t="t" r="r" b="b"/>
              <a:pathLst>
                <a:path w="2952750" h="571500">
                  <a:moveTo>
                    <a:pt x="76200" y="0"/>
                  </a:moveTo>
                  <a:lnTo>
                    <a:pt x="2876550" y="0"/>
                  </a:lnTo>
                  <a:cubicBezTo>
                    <a:pt x="2918634" y="0"/>
                    <a:pt x="2952750" y="34116"/>
                    <a:pt x="2952750" y="76200"/>
                  </a:cubicBezTo>
                  <a:lnTo>
                    <a:pt x="2952750" y="495300"/>
                  </a:lnTo>
                  <a:cubicBezTo>
                    <a:pt x="2952750" y="537384"/>
                    <a:pt x="2918634" y="571500"/>
                    <a:pt x="2876550" y="571500"/>
                  </a:cubicBezTo>
                  <a:lnTo>
                    <a:pt x="76200" y="571500"/>
                  </a:lnTo>
                  <a:cubicBezTo>
                    <a:pt x="34116" y="571500"/>
                    <a:pt x="0" y="537384"/>
                    <a:pt x="0" y="495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sp>
        <p:grpSp>
          <p:nvGrpSpPr>
            <p:cNvPr id="20" name="Group 20"/>
            <p:cNvGrpSpPr/>
            <p:nvPr/>
          </p:nvGrpSpPr>
          <p:grpSpPr>
            <a:xfrm>
              <a:off x="985838" y="3952875"/>
              <a:ext cx="200025" cy="266700"/>
              <a:chOff x="985838" y="3952875"/>
              <a:chExt cx="200025" cy="266700"/>
            </a:xfrm>
          </p:grpSpPr>
          <p:sp>
            <p:nvSpPr>
              <p:cNvPr id="17" name="Freeform 17"/>
              <p:cNvSpPr/>
              <p:nvPr/>
            </p:nvSpPr>
            <p:spPr>
              <a:xfrm>
                <a:off x="985838" y="4059555"/>
                <a:ext cx="200025" cy="76676"/>
              </a:xfrm>
              <a:custGeom>
                <a:avLst/>
                <a:gdLst/>
                <a:ahLst/>
                <a:cxnLst/>
                <a:rect l="l" t="t" r="r" b="b"/>
                <a:pathLst>
                  <a:path w="200025" h="76676">
                    <a:moveTo>
                      <a:pt x="185642" y="8504"/>
                    </a:moveTo>
                    <a:cubicBezTo>
                      <a:pt x="190330" y="6159"/>
                      <a:pt x="195229" y="3330"/>
                      <a:pt x="200025" y="0"/>
                    </a:cubicBezTo>
                    <a:lnTo>
                      <a:pt x="200025" y="26670"/>
                    </a:lnTo>
                    <a:cubicBezTo>
                      <a:pt x="200025" y="54287"/>
                      <a:pt x="155248" y="76676"/>
                      <a:pt x="100012" y="76676"/>
                    </a:cubicBezTo>
                    <a:cubicBezTo>
                      <a:pt x="44777" y="76676"/>
                      <a:pt x="0" y="54287"/>
                      <a:pt x="0" y="26670"/>
                    </a:cubicBezTo>
                    <a:lnTo>
                      <a:pt x="0" y="0"/>
                    </a:lnTo>
                    <a:cubicBezTo>
                      <a:pt x="4796" y="3330"/>
                      <a:pt x="9694" y="6159"/>
                      <a:pt x="14384" y="8504"/>
                    </a:cubicBezTo>
                    <a:cubicBezTo>
                      <a:pt x="38021" y="20322"/>
                      <a:pt x="68342" y="26670"/>
                      <a:pt x="100012" y="26670"/>
                    </a:cubicBezTo>
                    <a:cubicBezTo>
                      <a:pt x="131683" y="26670"/>
                      <a:pt x="162004" y="20322"/>
                      <a:pt x="185642" y="8504"/>
                    </a:cubicBezTo>
                    <a:close/>
                  </a:path>
                </a:pathLst>
              </a:custGeom>
              <a:solidFill>
                <a:srgbClr val="D12B1F"/>
              </a:solidFill>
              <a:ln>
                <a:noFill/>
              </a:ln>
              <a:effectLst>
                <a:outerShdw blurRad="190500" dist="38100" dir="10799140" algn="tl" rotWithShape="0">
                  <a:srgbClr val="000000">
                    <a:alpha val="12000"/>
                  </a:srgbClr>
                </a:outerShdw>
              </a:effectLst>
            </p:spPr>
          </p:sp>
          <p:sp>
            <p:nvSpPr>
              <p:cNvPr id="18" name="Freeform 18"/>
              <p:cNvSpPr/>
              <p:nvPr/>
            </p:nvSpPr>
            <p:spPr>
              <a:xfrm>
                <a:off x="985838" y="4142899"/>
                <a:ext cx="200025" cy="76676"/>
              </a:xfrm>
              <a:custGeom>
                <a:avLst/>
                <a:gdLst/>
                <a:ahLst/>
                <a:cxnLst/>
                <a:rect l="l" t="t" r="r" b="b"/>
                <a:pathLst>
                  <a:path w="200025" h="76676">
                    <a:moveTo>
                      <a:pt x="0" y="0"/>
                    </a:moveTo>
                    <a:lnTo>
                      <a:pt x="0" y="26670"/>
                    </a:lnTo>
                    <a:cubicBezTo>
                      <a:pt x="0" y="54288"/>
                      <a:pt x="44777" y="76676"/>
                      <a:pt x="100012" y="76676"/>
                    </a:cubicBezTo>
                    <a:cubicBezTo>
                      <a:pt x="155248" y="76676"/>
                      <a:pt x="200025" y="54288"/>
                      <a:pt x="200025" y="26670"/>
                    </a:cubicBezTo>
                    <a:lnTo>
                      <a:pt x="200025" y="0"/>
                    </a:lnTo>
                    <a:cubicBezTo>
                      <a:pt x="195229" y="3330"/>
                      <a:pt x="190330" y="6159"/>
                      <a:pt x="185642" y="8504"/>
                    </a:cubicBezTo>
                    <a:cubicBezTo>
                      <a:pt x="162004" y="20323"/>
                      <a:pt x="131683" y="26670"/>
                      <a:pt x="100012" y="26670"/>
                    </a:cubicBezTo>
                    <a:cubicBezTo>
                      <a:pt x="68342" y="26670"/>
                      <a:pt x="38021" y="20323"/>
                      <a:pt x="14384" y="8504"/>
                    </a:cubicBezTo>
                    <a:cubicBezTo>
                      <a:pt x="9694" y="6159"/>
                      <a:pt x="4796" y="3330"/>
                      <a:pt x="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19" name="Freeform 19"/>
              <p:cNvSpPr/>
              <p:nvPr/>
            </p:nvSpPr>
            <p:spPr>
              <a:xfrm>
                <a:off x="985838" y="3952875"/>
                <a:ext cx="200025" cy="100012"/>
              </a:xfrm>
              <a:custGeom>
                <a:avLst/>
                <a:gdLst/>
                <a:ahLst/>
                <a:cxnLst/>
                <a:rect l="l" t="t" r="r" b="b"/>
                <a:pathLst>
                  <a:path w="200025" h="100012">
                    <a:moveTo>
                      <a:pt x="100012" y="0"/>
                    </a:moveTo>
                    <a:cubicBezTo>
                      <a:pt x="155248" y="0"/>
                      <a:pt x="200025" y="22389"/>
                      <a:pt x="200025" y="50006"/>
                    </a:cubicBezTo>
                    <a:cubicBezTo>
                      <a:pt x="200025" y="77624"/>
                      <a:pt x="155248" y="100012"/>
                      <a:pt x="100012" y="100012"/>
                    </a:cubicBezTo>
                    <a:cubicBezTo>
                      <a:pt x="44777" y="100012"/>
                      <a:pt x="0" y="77624"/>
                      <a:pt x="0" y="50006"/>
                    </a:cubicBezTo>
                    <a:cubicBezTo>
                      <a:pt x="0" y="22389"/>
                      <a:pt x="44777" y="0"/>
                      <a:pt x="100012" y="0"/>
                    </a:cubicBezTo>
                    <a:close/>
                  </a:path>
                </a:pathLst>
              </a:custGeom>
              <a:solidFill>
                <a:srgbClr val="D12B1F"/>
              </a:solidFill>
              <a:ln>
                <a:noFill/>
              </a:ln>
              <a:effectLst>
                <a:outerShdw blurRad="190500" dist="38100" dir="10799140" algn="tl" rotWithShape="0">
                  <a:srgbClr val="000000">
                    <a:alpha val="12000"/>
                  </a:srgbClr>
                </a:outerShdw>
              </a:effectLst>
            </p:spPr>
          </p:sp>
        </p:grpSp>
        <p:sp>
          <p:nvSpPr>
            <p:cNvPr id="21" name="TextBox 21"/>
            <p:cNvSpPr txBox="1"/>
            <p:nvPr/>
          </p:nvSpPr>
          <p:spPr>
            <a:xfrm>
              <a:off x="1320165" y="3963352"/>
              <a:ext cx="517781"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D12B1F"/>
                  </a:solidFill>
                  <a:latin typeface="Arial"/>
                  <a:ea typeface="Microsoft YaHei"/>
                  <a:cs typeface="Arial"/>
                </a:rPr>
                <a:t>Redis:</a:t>
              </a:r>
            </a:p>
          </p:txBody>
        </p:sp>
        <p:sp>
          <p:nvSpPr>
            <p:cNvPr id="22" name="TextBox 22"/>
            <p:cNvSpPr txBox="1"/>
            <p:nvPr/>
          </p:nvSpPr>
          <p:spPr>
            <a:xfrm>
              <a:off x="1321118" y="4161949"/>
              <a:ext cx="1733550"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Sentinel tự động failover</a:t>
              </a:r>
            </a:p>
          </p:txBody>
        </p:sp>
      </p:grpSp>
      <p:grpSp>
        <p:nvGrpSpPr>
          <p:cNvPr id="40" name="Group 40"/>
          <p:cNvGrpSpPr/>
          <p:nvPr/>
        </p:nvGrpSpPr>
        <p:grpSpPr>
          <a:xfrm>
            <a:off x="4333875" y="1143000"/>
            <a:ext cx="3524250" cy="4572000"/>
            <a:chOff x="4333875" y="1143000"/>
            <a:chExt cx="3524250" cy="4572000"/>
          </a:xfrm>
          <a:effectLst>
            <a:outerShdw blurRad="190500" dist="38100" dir="10799140" algn="tl" rotWithShape="0">
              <a:srgbClr val="000000">
                <a:alpha val="12000"/>
              </a:srgbClr>
            </a:outerShdw>
          </a:effectLst>
        </p:grpSpPr>
        <p:sp>
          <p:nvSpPr>
            <p:cNvPr id="24" name="Freeform 24"/>
            <p:cNvSpPr/>
            <p:nvPr/>
          </p:nvSpPr>
          <p:spPr>
            <a:xfrm>
              <a:off x="4333875" y="1143000"/>
              <a:ext cx="3524250" cy="4572000"/>
            </a:xfrm>
            <a:custGeom>
              <a:avLst/>
              <a:gdLst/>
              <a:ahLst/>
              <a:cxnLst/>
              <a:rect l="l" t="t" r="r" b="b"/>
              <a:pathLst>
                <a:path w="3524250" h="4572000">
                  <a:moveTo>
                    <a:pt x="114300" y="0"/>
                  </a:moveTo>
                  <a:lnTo>
                    <a:pt x="3409950" y="0"/>
                  </a:lnTo>
                  <a:cubicBezTo>
                    <a:pt x="3473076" y="0"/>
                    <a:pt x="3524250" y="51174"/>
                    <a:pt x="3524250" y="114300"/>
                  </a:cubicBezTo>
                  <a:lnTo>
                    <a:pt x="3524250" y="4457700"/>
                  </a:lnTo>
                  <a:cubicBezTo>
                    <a:pt x="3524250" y="4520826"/>
                    <a:pt x="3473076" y="4572000"/>
                    <a:pt x="340995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5" name="Freeform 25"/>
            <p:cNvSpPr/>
            <p:nvPr/>
          </p:nvSpPr>
          <p:spPr>
            <a:xfrm>
              <a:off x="4333875" y="1143000"/>
              <a:ext cx="3524250" cy="76200"/>
            </a:xfrm>
            <a:custGeom>
              <a:avLst/>
              <a:gdLst/>
              <a:ahLst/>
              <a:cxnLst/>
              <a:rect l="l" t="t" r="r" b="b"/>
              <a:pathLst>
                <a:path w="3524250" h="76200">
                  <a:moveTo>
                    <a:pt x="38100" y="0"/>
                  </a:moveTo>
                  <a:lnTo>
                    <a:pt x="3486150" y="0"/>
                  </a:lnTo>
                  <a:cubicBezTo>
                    <a:pt x="3507192" y="0"/>
                    <a:pt x="3524250" y="17058"/>
                    <a:pt x="3524250" y="38100"/>
                  </a:cubicBezTo>
                  <a:lnTo>
                    <a:pt x="3524250" y="38100"/>
                  </a:lnTo>
                  <a:cubicBezTo>
                    <a:pt x="3524250" y="59142"/>
                    <a:pt x="3507192" y="76200"/>
                    <a:pt x="3486150" y="76200"/>
                  </a:cubicBezTo>
                  <a:lnTo>
                    <a:pt x="38100" y="76200"/>
                  </a:lnTo>
                  <a:cubicBezTo>
                    <a:pt x="17058" y="76200"/>
                    <a:pt x="0" y="59142"/>
                    <a:pt x="0" y="38100"/>
                  </a:cubicBezTo>
                  <a:lnTo>
                    <a:pt x="0" y="38100"/>
                  </a:lnTo>
                  <a:cubicBezTo>
                    <a:pt x="0" y="17058"/>
                    <a:pt x="17058" y="0"/>
                    <a:pt x="3810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26" name="Ellipse 26"/>
            <p:cNvSpPr/>
            <p:nvPr/>
          </p:nvSpPr>
          <p:spPr>
            <a:xfrm>
              <a:off x="5715000" y="1476375"/>
              <a:ext cx="762000" cy="762000"/>
            </a:xfrm>
            <a:prstGeom prst="ellipse">
              <a:avLst/>
            </a:prstGeom>
            <a:solidFill>
              <a:srgbClr val="D12B1F">
                <a:alpha val="10000"/>
              </a:srgbClr>
            </a:solidFill>
            <a:ln>
              <a:noFill/>
            </a:ln>
            <a:effectLst>
              <a:outerShdw blurRad="190500" dist="38100" dir="10799140" algn="tl" rotWithShape="0">
                <a:srgbClr val="000000">
                  <a:alpha val="12000"/>
                </a:srgbClr>
              </a:outerShdw>
            </a:effectLst>
          </p:spPr>
        </p:sp>
        <p:sp>
          <p:nvSpPr>
            <p:cNvPr id="27" name="TextBox 27"/>
            <p:cNvSpPr txBox="1"/>
            <p:nvPr/>
          </p:nvSpPr>
          <p:spPr>
            <a:xfrm>
              <a:off x="5964307" y="1693545"/>
              <a:ext cx="263385" cy="4876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2400" b="1" dirty="0">
                  <a:solidFill>
                    <a:srgbClr val="D12B1F"/>
                  </a:solidFill>
                  <a:latin typeface="Arial"/>
                  <a:ea typeface="Microsoft YaHei"/>
                  <a:cs typeface="Arial"/>
                </a:rPr>
                <a:t>S</a:t>
              </a:r>
            </a:p>
          </p:txBody>
        </p:sp>
        <p:sp>
          <p:nvSpPr>
            <p:cNvPr id="28" name="TextBox 28"/>
            <p:cNvSpPr txBox="1"/>
            <p:nvPr/>
          </p:nvSpPr>
          <p:spPr>
            <a:xfrm>
              <a:off x="5473125" y="2314575"/>
              <a:ext cx="1245751"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500" b="1" dirty="0">
                  <a:solidFill>
                    <a:srgbClr val="D12B1F"/>
                  </a:solidFill>
                  <a:latin typeface="Arial"/>
                  <a:ea typeface="Microsoft YaHei"/>
                  <a:cs typeface="Arial"/>
                </a:rPr>
                <a:t>Soft State</a:t>
              </a:r>
            </a:p>
          </p:txBody>
        </p:sp>
        <p:sp>
          <p:nvSpPr>
            <p:cNvPr id="29" name="TextBox 29"/>
            <p:cNvSpPr txBox="1"/>
            <p:nvPr/>
          </p:nvSpPr>
          <p:spPr>
            <a:xfrm>
              <a:off x="5436680" y="2613660"/>
              <a:ext cx="1318641"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200" dirty="0">
                  <a:solidFill>
                    <a:srgbClr val="0B4DA2"/>
                  </a:solidFill>
                  <a:latin typeface="Arial"/>
                  <a:ea typeface="Microsoft YaHei"/>
                  <a:cs typeface="Arial"/>
                </a:rPr>
                <a:t>Trạng thái mềm</a:t>
              </a:r>
            </a:p>
          </p:txBody>
        </p:sp>
        <p:sp>
          <p:nvSpPr>
            <p:cNvPr id="30" name="Rectangle 30"/>
            <p:cNvSpPr/>
            <p:nvPr/>
          </p:nvSpPr>
          <p:spPr>
            <a:xfrm>
              <a:off x="4619625" y="2952750"/>
              <a:ext cx="2952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31" name="TextBox 31"/>
            <p:cNvSpPr txBox="1"/>
            <p:nvPr/>
          </p:nvSpPr>
          <p:spPr>
            <a:xfrm>
              <a:off x="4700588" y="3164681"/>
              <a:ext cx="1778437"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Dữ liệu có thể thay đổi</a:t>
              </a:r>
            </a:p>
          </p:txBody>
        </p:sp>
        <p:sp>
          <p:nvSpPr>
            <p:cNvPr id="32" name="TextBox 32"/>
            <p:cNvSpPr txBox="1"/>
            <p:nvPr/>
          </p:nvSpPr>
          <p:spPr>
            <a:xfrm>
              <a:off x="4700588" y="3402806"/>
              <a:ext cx="2271355"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theo thời gian (stale data).</a:t>
              </a:r>
            </a:p>
          </p:txBody>
        </p:sp>
        <p:sp>
          <p:nvSpPr>
            <p:cNvPr id="33" name="Freeform 33"/>
            <p:cNvSpPr/>
            <p:nvPr/>
          </p:nvSpPr>
          <p:spPr>
            <a:xfrm>
              <a:off x="4619625" y="3810000"/>
              <a:ext cx="2952750" cy="571500"/>
            </a:xfrm>
            <a:custGeom>
              <a:avLst/>
              <a:gdLst/>
              <a:ahLst/>
              <a:cxnLst/>
              <a:rect l="l" t="t" r="r" b="b"/>
              <a:pathLst>
                <a:path w="2952750" h="571500">
                  <a:moveTo>
                    <a:pt x="76200" y="0"/>
                  </a:moveTo>
                  <a:lnTo>
                    <a:pt x="2876550" y="0"/>
                  </a:lnTo>
                  <a:cubicBezTo>
                    <a:pt x="2918634" y="0"/>
                    <a:pt x="2952750" y="34116"/>
                    <a:pt x="2952750" y="76200"/>
                  </a:cubicBezTo>
                  <a:lnTo>
                    <a:pt x="2952750" y="495300"/>
                  </a:lnTo>
                  <a:cubicBezTo>
                    <a:pt x="2952750" y="537384"/>
                    <a:pt x="2918634" y="571500"/>
                    <a:pt x="2876550" y="571500"/>
                  </a:cubicBezTo>
                  <a:lnTo>
                    <a:pt x="76200" y="571500"/>
                  </a:lnTo>
                  <a:cubicBezTo>
                    <a:pt x="34116" y="571500"/>
                    <a:pt x="0" y="537384"/>
                    <a:pt x="0" y="495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sp>
        <p:grpSp>
          <p:nvGrpSpPr>
            <p:cNvPr id="37" name="Group 37"/>
            <p:cNvGrpSpPr/>
            <p:nvPr/>
          </p:nvGrpSpPr>
          <p:grpSpPr>
            <a:xfrm>
              <a:off x="4748212" y="3952875"/>
              <a:ext cx="200025" cy="266700"/>
              <a:chOff x="4748212" y="3952875"/>
              <a:chExt cx="200025" cy="266700"/>
            </a:xfrm>
          </p:grpSpPr>
          <p:sp>
            <p:nvSpPr>
              <p:cNvPr id="34" name="Freeform 34"/>
              <p:cNvSpPr/>
              <p:nvPr/>
            </p:nvSpPr>
            <p:spPr>
              <a:xfrm>
                <a:off x="4748212" y="4059555"/>
                <a:ext cx="200025" cy="76676"/>
              </a:xfrm>
              <a:custGeom>
                <a:avLst/>
                <a:gdLst/>
                <a:ahLst/>
                <a:cxnLst/>
                <a:rect l="l" t="t" r="r" b="b"/>
                <a:pathLst>
                  <a:path w="200025" h="76676">
                    <a:moveTo>
                      <a:pt x="185642" y="8504"/>
                    </a:moveTo>
                    <a:cubicBezTo>
                      <a:pt x="190330" y="6159"/>
                      <a:pt x="195229" y="3330"/>
                      <a:pt x="200025" y="0"/>
                    </a:cubicBezTo>
                    <a:lnTo>
                      <a:pt x="200025" y="26670"/>
                    </a:lnTo>
                    <a:cubicBezTo>
                      <a:pt x="200025" y="54287"/>
                      <a:pt x="155248" y="76676"/>
                      <a:pt x="100012" y="76676"/>
                    </a:cubicBezTo>
                    <a:cubicBezTo>
                      <a:pt x="44777" y="76676"/>
                      <a:pt x="0" y="54287"/>
                      <a:pt x="0" y="26670"/>
                    </a:cubicBezTo>
                    <a:lnTo>
                      <a:pt x="0" y="0"/>
                    </a:lnTo>
                    <a:cubicBezTo>
                      <a:pt x="4796" y="3330"/>
                      <a:pt x="9694" y="6159"/>
                      <a:pt x="14384" y="8504"/>
                    </a:cubicBezTo>
                    <a:cubicBezTo>
                      <a:pt x="38021" y="20322"/>
                      <a:pt x="68342" y="26670"/>
                      <a:pt x="100012" y="26670"/>
                    </a:cubicBezTo>
                    <a:cubicBezTo>
                      <a:pt x="131683" y="26670"/>
                      <a:pt x="162004" y="20322"/>
                      <a:pt x="185642" y="8504"/>
                    </a:cubicBezTo>
                    <a:close/>
                  </a:path>
                </a:pathLst>
              </a:custGeom>
              <a:solidFill>
                <a:srgbClr val="D12B1F"/>
              </a:solidFill>
              <a:ln>
                <a:noFill/>
              </a:ln>
              <a:effectLst>
                <a:outerShdw blurRad="190500" dist="38100" dir="10799140" algn="tl" rotWithShape="0">
                  <a:srgbClr val="000000">
                    <a:alpha val="12000"/>
                  </a:srgbClr>
                </a:outerShdw>
              </a:effectLst>
            </p:spPr>
          </p:sp>
          <p:sp>
            <p:nvSpPr>
              <p:cNvPr id="35" name="Freeform 35"/>
              <p:cNvSpPr/>
              <p:nvPr/>
            </p:nvSpPr>
            <p:spPr>
              <a:xfrm>
                <a:off x="4748212" y="4142899"/>
                <a:ext cx="200025" cy="76676"/>
              </a:xfrm>
              <a:custGeom>
                <a:avLst/>
                <a:gdLst/>
                <a:ahLst/>
                <a:cxnLst/>
                <a:rect l="l" t="t" r="r" b="b"/>
                <a:pathLst>
                  <a:path w="200025" h="76676">
                    <a:moveTo>
                      <a:pt x="0" y="0"/>
                    </a:moveTo>
                    <a:lnTo>
                      <a:pt x="0" y="26670"/>
                    </a:lnTo>
                    <a:cubicBezTo>
                      <a:pt x="0" y="54288"/>
                      <a:pt x="44777" y="76676"/>
                      <a:pt x="100012" y="76676"/>
                    </a:cubicBezTo>
                    <a:cubicBezTo>
                      <a:pt x="155248" y="76676"/>
                      <a:pt x="200025" y="54288"/>
                      <a:pt x="200025" y="26670"/>
                    </a:cubicBezTo>
                    <a:lnTo>
                      <a:pt x="200025" y="0"/>
                    </a:lnTo>
                    <a:cubicBezTo>
                      <a:pt x="195229" y="3330"/>
                      <a:pt x="190330" y="6159"/>
                      <a:pt x="185642" y="8504"/>
                    </a:cubicBezTo>
                    <a:cubicBezTo>
                      <a:pt x="162004" y="20323"/>
                      <a:pt x="131683" y="26670"/>
                      <a:pt x="100012" y="26670"/>
                    </a:cubicBezTo>
                    <a:cubicBezTo>
                      <a:pt x="68342" y="26670"/>
                      <a:pt x="38021" y="20323"/>
                      <a:pt x="14384" y="8504"/>
                    </a:cubicBezTo>
                    <a:cubicBezTo>
                      <a:pt x="9694" y="6159"/>
                      <a:pt x="4796" y="3330"/>
                      <a:pt x="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36" name="Freeform 36"/>
              <p:cNvSpPr/>
              <p:nvPr/>
            </p:nvSpPr>
            <p:spPr>
              <a:xfrm>
                <a:off x="4748212" y="3952875"/>
                <a:ext cx="200025" cy="100012"/>
              </a:xfrm>
              <a:custGeom>
                <a:avLst/>
                <a:gdLst/>
                <a:ahLst/>
                <a:cxnLst/>
                <a:rect l="l" t="t" r="r" b="b"/>
                <a:pathLst>
                  <a:path w="200025" h="100012">
                    <a:moveTo>
                      <a:pt x="100012" y="0"/>
                    </a:moveTo>
                    <a:cubicBezTo>
                      <a:pt x="155248" y="0"/>
                      <a:pt x="200025" y="22389"/>
                      <a:pt x="200025" y="50006"/>
                    </a:cubicBezTo>
                    <a:cubicBezTo>
                      <a:pt x="200025" y="77624"/>
                      <a:pt x="155248" y="100012"/>
                      <a:pt x="100012" y="100012"/>
                    </a:cubicBezTo>
                    <a:cubicBezTo>
                      <a:pt x="44777" y="100012"/>
                      <a:pt x="0" y="77624"/>
                      <a:pt x="0" y="50006"/>
                    </a:cubicBezTo>
                    <a:cubicBezTo>
                      <a:pt x="0" y="22389"/>
                      <a:pt x="44777" y="0"/>
                      <a:pt x="100012" y="0"/>
                    </a:cubicBezTo>
                    <a:close/>
                  </a:path>
                </a:pathLst>
              </a:custGeom>
              <a:solidFill>
                <a:srgbClr val="D12B1F"/>
              </a:solidFill>
              <a:ln>
                <a:noFill/>
              </a:ln>
              <a:effectLst>
                <a:outerShdw blurRad="190500" dist="38100" dir="10799140" algn="tl" rotWithShape="0">
                  <a:srgbClr val="000000">
                    <a:alpha val="12000"/>
                  </a:srgbClr>
                </a:outerShdw>
              </a:effectLst>
            </p:spPr>
          </p:sp>
        </p:grpSp>
        <p:sp>
          <p:nvSpPr>
            <p:cNvPr id="38" name="TextBox 38"/>
            <p:cNvSpPr txBox="1"/>
            <p:nvPr/>
          </p:nvSpPr>
          <p:spPr>
            <a:xfrm>
              <a:off x="5082540" y="3963352"/>
              <a:ext cx="517781"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D12B1F"/>
                  </a:solidFill>
                  <a:latin typeface="Arial"/>
                  <a:ea typeface="Microsoft YaHei"/>
                  <a:cs typeface="Arial"/>
                </a:rPr>
                <a:t>Redis:</a:t>
              </a:r>
            </a:p>
          </p:txBody>
        </p:sp>
        <p:sp>
          <p:nvSpPr>
            <p:cNvPr id="39" name="TextBox 39"/>
            <p:cNvSpPr txBox="1"/>
            <p:nvPr/>
          </p:nvSpPr>
          <p:spPr>
            <a:xfrm>
              <a:off x="5083492" y="4161949"/>
              <a:ext cx="1769150"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Cluster có độ trễ đồng bộ</a:t>
              </a:r>
            </a:p>
          </p:txBody>
        </p:sp>
      </p:grpSp>
      <p:grpSp>
        <p:nvGrpSpPr>
          <p:cNvPr id="57" name="Group 57"/>
          <p:cNvGrpSpPr/>
          <p:nvPr/>
        </p:nvGrpSpPr>
        <p:grpSpPr>
          <a:xfrm>
            <a:off x="8096250" y="1143000"/>
            <a:ext cx="3524250" cy="4572000"/>
            <a:chOff x="8096250" y="1143000"/>
            <a:chExt cx="3524250" cy="4572000"/>
          </a:xfrm>
          <a:effectLst>
            <a:outerShdw blurRad="190500" dist="38100" dir="10799140" algn="tl" rotWithShape="0">
              <a:srgbClr val="000000">
                <a:alpha val="12000"/>
              </a:srgbClr>
            </a:outerShdw>
          </a:effectLst>
        </p:grpSpPr>
        <p:sp>
          <p:nvSpPr>
            <p:cNvPr id="41" name="Freeform 41"/>
            <p:cNvSpPr/>
            <p:nvPr/>
          </p:nvSpPr>
          <p:spPr>
            <a:xfrm>
              <a:off x="8096250" y="1143000"/>
              <a:ext cx="3524250" cy="4572000"/>
            </a:xfrm>
            <a:custGeom>
              <a:avLst/>
              <a:gdLst/>
              <a:ahLst/>
              <a:cxnLst/>
              <a:rect l="l" t="t" r="r" b="b"/>
              <a:pathLst>
                <a:path w="3524250" h="4572000">
                  <a:moveTo>
                    <a:pt x="114300" y="0"/>
                  </a:moveTo>
                  <a:lnTo>
                    <a:pt x="3409950" y="0"/>
                  </a:lnTo>
                  <a:cubicBezTo>
                    <a:pt x="3473076" y="0"/>
                    <a:pt x="3524250" y="51174"/>
                    <a:pt x="3524250" y="114300"/>
                  </a:cubicBezTo>
                  <a:lnTo>
                    <a:pt x="3524250" y="4457700"/>
                  </a:lnTo>
                  <a:cubicBezTo>
                    <a:pt x="3524250" y="4520826"/>
                    <a:pt x="3473076" y="4572000"/>
                    <a:pt x="340995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42" name="Freeform 42"/>
            <p:cNvSpPr/>
            <p:nvPr/>
          </p:nvSpPr>
          <p:spPr>
            <a:xfrm>
              <a:off x="8096250" y="1143000"/>
              <a:ext cx="3524250" cy="76200"/>
            </a:xfrm>
            <a:custGeom>
              <a:avLst/>
              <a:gdLst/>
              <a:ahLst/>
              <a:cxnLst/>
              <a:rect l="l" t="t" r="r" b="b"/>
              <a:pathLst>
                <a:path w="3524250" h="76200">
                  <a:moveTo>
                    <a:pt x="38100" y="0"/>
                  </a:moveTo>
                  <a:lnTo>
                    <a:pt x="3486150" y="0"/>
                  </a:lnTo>
                  <a:cubicBezTo>
                    <a:pt x="3507192" y="0"/>
                    <a:pt x="3524250" y="17058"/>
                    <a:pt x="3524250" y="38100"/>
                  </a:cubicBezTo>
                  <a:lnTo>
                    <a:pt x="3524250" y="38100"/>
                  </a:lnTo>
                  <a:cubicBezTo>
                    <a:pt x="3524250" y="59142"/>
                    <a:pt x="3507192" y="76200"/>
                    <a:pt x="3486150" y="76200"/>
                  </a:cubicBezTo>
                  <a:lnTo>
                    <a:pt x="38100" y="76200"/>
                  </a:lnTo>
                  <a:cubicBezTo>
                    <a:pt x="17058" y="76200"/>
                    <a:pt x="0" y="59142"/>
                    <a:pt x="0" y="38100"/>
                  </a:cubicBezTo>
                  <a:lnTo>
                    <a:pt x="0" y="38100"/>
                  </a:lnTo>
                  <a:cubicBezTo>
                    <a:pt x="0" y="17058"/>
                    <a:pt x="17058" y="0"/>
                    <a:pt x="38100" y="0"/>
                  </a:cubicBezTo>
                  <a:close/>
                </a:path>
              </a:pathLst>
            </a:custGeom>
            <a:solidFill>
              <a:srgbClr val="2E7D32"/>
            </a:solidFill>
            <a:ln>
              <a:noFill/>
            </a:ln>
            <a:effectLst>
              <a:outerShdw blurRad="190500" dist="38100" dir="10799140" algn="tl" rotWithShape="0">
                <a:srgbClr val="000000">
                  <a:alpha val="12000"/>
                </a:srgbClr>
              </a:outerShdw>
            </a:effectLst>
          </p:spPr>
        </p:sp>
        <p:sp>
          <p:nvSpPr>
            <p:cNvPr id="43" name="Ellipse 43"/>
            <p:cNvSpPr/>
            <p:nvPr/>
          </p:nvSpPr>
          <p:spPr>
            <a:xfrm>
              <a:off x="9477375" y="1476375"/>
              <a:ext cx="762000" cy="762000"/>
            </a:xfrm>
            <a:prstGeom prst="ellipse">
              <a:avLst/>
            </a:prstGeom>
            <a:solidFill>
              <a:srgbClr val="2E7D32">
                <a:alpha val="10000"/>
              </a:srgbClr>
            </a:solidFill>
            <a:ln>
              <a:noFill/>
            </a:ln>
            <a:effectLst>
              <a:outerShdw blurRad="190500" dist="38100" dir="10799140" algn="tl" rotWithShape="0">
                <a:srgbClr val="000000">
                  <a:alpha val="12000"/>
                </a:srgbClr>
              </a:outerShdw>
            </a:effectLst>
          </p:spPr>
        </p:sp>
        <p:sp>
          <p:nvSpPr>
            <p:cNvPr id="44" name="TextBox 44"/>
            <p:cNvSpPr txBox="1"/>
            <p:nvPr/>
          </p:nvSpPr>
          <p:spPr>
            <a:xfrm>
              <a:off x="9726682" y="1693545"/>
              <a:ext cx="263385" cy="4876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2400" b="1" dirty="0">
                  <a:solidFill>
                    <a:srgbClr val="2E7D32"/>
                  </a:solidFill>
                  <a:latin typeface="Arial"/>
                  <a:ea typeface="Microsoft YaHei"/>
                  <a:cs typeface="Arial"/>
                </a:rPr>
                <a:t>E</a:t>
              </a:r>
            </a:p>
          </p:txBody>
        </p:sp>
        <p:sp>
          <p:nvSpPr>
            <p:cNvPr id="45" name="TextBox 45"/>
            <p:cNvSpPr txBox="1"/>
            <p:nvPr/>
          </p:nvSpPr>
          <p:spPr>
            <a:xfrm>
              <a:off x="8780222" y="2330768"/>
              <a:ext cx="2156305"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2E7D32"/>
                  </a:solidFill>
                  <a:latin typeface="Arial"/>
                  <a:ea typeface="Microsoft YaHei"/>
                  <a:cs typeface="Arial"/>
                </a:rPr>
                <a:t>Eventual Consistency</a:t>
              </a:r>
            </a:p>
          </p:txBody>
        </p:sp>
        <p:sp>
          <p:nvSpPr>
            <p:cNvPr id="46" name="TextBox 46"/>
            <p:cNvSpPr txBox="1"/>
            <p:nvPr/>
          </p:nvSpPr>
          <p:spPr>
            <a:xfrm>
              <a:off x="9015032" y="2613660"/>
              <a:ext cx="1686687"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200" dirty="0">
                  <a:solidFill>
                    <a:srgbClr val="006AF9"/>
                  </a:solidFill>
                  <a:latin typeface="Arial"/>
                  <a:ea typeface="Microsoft YaHei"/>
                  <a:cs typeface="Arial"/>
                </a:rPr>
                <a:t>Nhất quán cuối cùng</a:t>
              </a:r>
            </a:p>
          </p:txBody>
        </p:sp>
        <p:sp>
          <p:nvSpPr>
            <p:cNvPr id="47" name="Rectangle 47"/>
            <p:cNvSpPr/>
            <p:nvPr/>
          </p:nvSpPr>
          <p:spPr>
            <a:xfrm>
              <a:off x="8382000" y="2952750"/>
              <a:ext cx="2952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48" name="TextBox 48"/>
            <p:cNvSpPr txBox="1"/>
            <p:nvPr/>
          </p:nvSpPr>
          <p:spPr>
            <a:xfrm>
              <a:off x="8462962" y="3164681"/>
              <a:ext cx="1589484"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Dữ liệu sẽ nhất quán</a:t>
              </a:r>
            </a:p>
          </p:txBody>
        </p:sp>
        <p:sp>
          <p:nvSpPr>
            <p:cNvPr id="49" name="TextBox 49"/>
            <p:cNvSpPr txBox="1"/>
            <p:nvPr/>
          </p:nvSpPr>
          <p:spPr>
            <a:xfrm>
              <a:off x="8462962" y="3402806"/>
              <a:ext cx="2074188"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sau một khoảng thời gian.</a:t>
              </a:r>
            </a:p>
          </p:txBody>
        </p:sp>
        <p:sp>
          <p:nvSpPr>
            <p:cNvPr id="50" name="Freeform 50"/>
            <p:cNvSpPr/>
            <p:nvPr/>
          </p:nvSpPr>
          <p:spPr>
            <a:xfrm>
              <a:off x="8382000" y="3810000"/>
              <a:ext cx="2952750" cy="571500"/>
            </a:xfrm>
            <a:custGeom>
              <a:avLst/>
              <a:gdLst/>
              <a:ahLst/>
              <a:cxnLst/>
              <a:rect l="l" t="t" r="r" b="b"/>
              <a:pathLst>
                <a:path w="2952750" h="571500">
                  <a:moveTo>
                    <a:pt x="76200" y="0"/>
                  </a:moveTo>
                  <a:lnTo>
                    <a:pt x="2876550" y="0"/>
                  </a:lnTo>
                  <a:cubicBezTo>
                    <a:pt x="2918634" y="0"/>
                    <a:pt x="2952750" y="34116"/>
                    <a:pt x="2952750" y="76200"/>
                  </a:cubicBezTo>
                  <a:lnTo>
                    <a:pt x="2952750" y="495300"/>
                  </a:lnTo>
                  <a:cubicBezTo>
                    <a:pt x="2952750" y="537384"/>
                    <a:pt x="2918634" y="571500"/>
                    <a:pt x="2876550" y="571500"/>
                  </a:cubicBezTo>
                  <a:lnTo>
                    <a:pt x="76200" y="571500"/>
                  </a:lnTo>
                  <a:cubicBezTo>
                    <a:pt x="34116" y="571500"/>
                    <a:pt x="0" y="537384"/>
                    <a:pt x="0" y="495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sp>
        <p:grpSp>
          <p:nvGrpSpPr>
            <p:cNvPr id="54" name="Group 54"/>
            <p:cNvGrpSpPr/>
            <p:nvPr/>
          </p:nvGrpSpPr>
          <p:grpSpPr>
            <a:xfrm>
              <a:off x="8510588" y="3952875"/>
              <a:ext cx="200025" cy="266700"/>
              <a:chOff x="8510588" y="3952875"/>
              <a:chExt cx="200025" cy="266700"/>
            </a:xfrm>
          </p:grpSpPr>
          <p:sp>
            <p:nvSpPr>
              <p:cNvPr id="51" name="Freeform 51"/>
              <p:cNvSpPr/>
              <p:nvPr/>
            </p:nvSpPr>
            <p:spPr>
              <a:xfrm>
                <a:off x="8510588" y="4059555"/>
                <a:ext cx="200025" cy="76676"/>
              </a:xfrm>
              <a:custGeom>
                <a:avLst/>
                <a:gdLst/>
                <a:ahLst/>
                <a:cxnLst/>
                <a:rect l="l" t="t" r="r" b="b"/>
                <a:pathLst>
                  <a:path w="200025" h="76676">
                    <a:moveTo>
                      <a:pt x="185642" y="8504"/>
                    </a:moveTo>
                    <a:cubicBezTo>
                      <a:pt x="190330" y="6159"/>
                      <a:pt x="195229" y="3330"/>
                      <a:pt x="200025" y="0"/>
                    </a:cubicBezTo>
                    <a:lnTo>
                      <a:pt x="200025" y="26670"/>
                    </a:lnTo>
                    <a:cubicBezTo>
                      <a:pt x="200025" y="54287"/>
                      <a:pt x="155248" y="76676"/>
                      <a:pt x="100012" y="76676"/>
                    </a:cubicBezTo>
                    <a:cubicBezTo>
                      <a:pt x="44777" y="76676"/>
                      <a:pt x="0" y="54287"/>
                      <a:pt x="0" y="26670"/>
                    </a:cubicBezTo>
                    <a:lnTo>
                      <a:pt x="0" y="0"/>
                    </a:lnTo>
                    <a:cubicBezTo>
                      <a:pt x="4796" y="3330"/>
                      <a:pt x="9694" y="6159"/>
                      <a:pt x="14384" y="8504"/>
                    </a:cubicBezTo>
                    <a:cubicBezTo>
                      <a:pt x="38021" y="20322"/>
                      <a:pt x="68342" y="26670"/>
                      <a:pt x="100012" y="26670"/>
                    </a:cubicBezTo>
                    <a:cubicBezTo>
                      <a:pt x="131683" y="26670"/>
                      <a:pt x="162004" y="20322"/>
                      <a:pt x="185642" y="8504"/>
                    </a:cubicBezTo>
                    <a:close/>
                  </a:path>
                </a:pathLst>
              </a:custGeom>
              <a:solidFill>
                <a:srgbClr val="D12B1F"/>
              </a:solidFill>
              <a:ln>
                <a:noFill/>
              </a:ln>
              <a:effectLst>
                <a:outerShdw blurRad="190500" dist="38100" dir="10799140" algn="tl" rotWithShape="0">
                  <a:srgbClr val="000000">
                    <a:alpha val="12000"/>
                  </a:srgbClr>
                </a:outerShdw>
              </a:effectLst>
            </p:spPr>
          </p:sp>
          <p:sp>
            <p:nvSpPr>
              <p:cNvPr id="52" name="Freeform 52"/>
              <p:cNvSpPr/>
              <p:nvPr/>
            </p:nvSpPr>
            <p:spPr>
              <a:xfrm>
                <a:off x="8510588" y="4142899"/>
                <a:ext cx="200025" cy="76676"/>
              </a:xfrm>
              <a:custGeom>
                <a:avLst/>
                <a:gdLst/>
                <a:ahLst/>
                <a:cxnLst/>
                <a:rect l="l" t="t" r="r" b="b"/>
                <a:pathLst>
                  <a:path w="200025" h="76676">
                    <a:moveTo>
                      <a:pt x="0" y="0"/>
                    </a:moveTo>
                    <a:lnTo>
                      <a:pt x="0" y="26670"/>
                    </a:lnTo>
                    <a:cubicBezTo>
                      <a:pt x="0" y="54288"/>
                      <a:pt x="44777" y="76676"/>
                      <a:pt x="100012" y="76676"/>
                    </a:cubicBezTo>
                    <a:cubicBezTo>
                      <a:pt x="155248" y="76676"/>
                      <a:pt x="200025" y="54288"/>
                      <a:pt x="200025" y="26670"/>
                    </a:cubicBezTo>
                    <a:lnTo>
                      <a:pt x="200025" y="0"/>
                    </a:lnTo>
                    <a:cubicBezTo>
                      <a:pt x="195229" y="3330"/>
                      <a:pt x="190330" y="6159"/>
                      <a:pt x="185642" y="8504"/>
                    </a:cubicBezTo>
                    <a:cubicBezTo>
                      <a:pt x="162004" y="20323"/>
                      <a:pt x="131683" y="26670"/>
                      <a:pt x="100012" y="26670"/>
                    </a:cubicBezTo>
                    <a:cubicBezTo>
                      <a:pt x="68342" y="26670"/>
                      <a:pt x="38021" y="20323"/>
                      <a:pt x="14384" y="8504"/>
                    </a:cubicBezTo>
                    <a:cubicBezTo>
                      <a:pt x="9694" y="6159"/>
                      <a:pt x="4796" y="3330"/>
                      <a:pt x="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53" name="Freeform 53"/>
              <p:cNvSpPr/>
              <p:nvPr/>
            </p:nvSpPr>
            <p:spPr>
              <a:xfrm>
                <a:off x="8510588" y="3952875"/>
                <a:ext cx="200025" cy="100012"/>
              </a:xfrm>
              <a:custGeom>
                <a:avLst/>
                <a:gdLst/>
                <a:ahLst/>
                <a:cxnLst/>
                <a:rect l="l" t="t" r="r" b="b"/>
                <a:pathLst>
                  <a:path w="200025" h="100012">
                    <a:moveTo>
                      <a:pt x="100012" y="0"/>
                    </a:moveTo>
                    <a:cubicBezTo>
                      <a:pt x="155248" y="0"/>
                      <a:pt x="200025" y="22389"/>
                      <a:pt x="200025" y="50006"/>
                    </a:cubicBezTo>
                    <a:cubicBezTo>
                      <a:pt x="200025" y="77624"/>
                      <a:pt x="155248" y="100012"/>
                      <a:pt x="100012" y="100012"/>
                    </a:cubicBezTo>
                    <a:cubicBezTo>
                      <a:pt x="44777" y="100012"/>
                      <a:pt x="0" y="77624"/>
                      <a:pt x="0" y="50006"/>
                    </a:cubicBezTo>
                    <a:cubicBezTo>
                      <a:pt x="0" y="22389"/>
                      <a:pt x="44777" y="0"/>
                      <a:pt x="100012" y="0"/>
                    </a:cubicBezTo>
                    <a:close/>
                  </a:path>
                </a:pathLst>
              </a:custGeom>
              <a:solidFill>
                <a:srgbClr val="D12B1F"/>
              </a:solidFill>
              <a:ln>
                <a:noFill/>
              </a:ln>
              <a:effectLst>
                <a:outerShdw blurRad="190500" dist="38100" dir="10799140" algn="tl" rotWithShape="0">
                  <a:srgbClr val="000000">
                    <a:alpha val="12000"/>
                  </a:srgbClr>
                </a:outerShdw>
              </a:effectLst>
            </p:spPr>
          </p:sp>
        </p:grpSp>
        <p:sp>
          <p:nvSpPr>
            <p:cNvPr id="55" name="TextBox 55"/>
            <p:cNvSpPr txBox="1"/>
            <p:nvPr/>
          </p:nvSpPr>
          <p:spPr>
            <a:xfrm>
              <a:off x="8844915" y="3963352"/>
              <a:ext cx="517781"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D12B1F"/>
                  </a:solidFill>
                  <a:latin typeface="Arial"/>
                  <a:ea typeface="Microsoft YaHei"/>
                  <a:cs typeface="Arial"/>
                </a:rPr>
                <a:t>Redis:</a:t>
              </a:r>
            </a:p>
          </p:txBody>
        </p:sp>
        <p:sp>
          <p:nvSpPr>
            <p:cNvPr id="56" name="TextBox 56"/>
            <p:cNvSpPr txBox="1"/>
            <p:nvPr/>
          </p:nvSpPr>
          <p:spPr>
            <a:xfrm>
              <a:off x="8845868" y="4161949"/>
              <a:ext cx="121379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Async replication</a:t>
              </a:r>
            </a:p>
          </p:txBody>
        </p:sp>
      </p:grpSp>
      <p:sp>
        <p:nvSpPr>
          <p:cNvPr id="58" name="TextBox 58"/>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09 / 25</a:t>
            </a:r>
          </a:p>
        </p:txBody>
      </p:sp>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3649408"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So sánh ACID vs BASE</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grpSp>
        <p:nvGrpSpPr>
          <p:cNvPr id="10" name="Group 10"/>
          <p:cNvGrpSpPr/>
          <p:nvPr/>
        </p:nvGrpSpPr>
        <p:grpSpPr>
          <a:xfrm>
            <a:off x="571500" y="952500"/>
            <a:ext cx="5334000" cy="5048250"/>
            <a:chOff x="571500" y="952500"/>
            <a:chExt cx="5334000" cy="5048250"/>
          </a:xfrm>
          <a:effectLst>
            <a:outerShdw blurRad="190500" dist="38100" dir="10799140" algn="tl" rotWithShape="0">
              <a:srgbClr val="000000">
                <a:alpha val="12000"/>
              </a:srgbClr>
            </a:outerShdw>
          </a:effectLst>
        </p:grpSpPr>
        <p:sp>
          <p:nvSpPr>
            <p:cNvPr id="6" name="Freeform 6"/>
            <p:cNvSpPr/>
            <p:nvPr/>
          </p:nvSpPr>
          <p:spPr>
            <a:xfrm>
              <a:off x="571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52500"/>
              <a:ext cx="5334000" cy="523875"/>
            </a:xfrm>
            <a:custGeom>
              <a:avLst/>
              <a:gdLst/>
              <a:ahLst/>
              <a:cxnLst/>
              <a:rect l="l" t="t" r="r" b="b"/>
              <a:pathLst>
                <a:path w="5334000" h="523875">
                  <a:moveTo>
                    <a:pt x="114300" y="0"/>
                  </a:moveTo>
                  <a:lnTo>
                    <a:pt x="5219700" y="0"/>
                  </a:lnTo>
                  <a:cubicBezTo>
                    <a:pt x="5282826" y="0"/>
                    <a:pt x="5334000" y="51174"/>
                    <a:pt x="5334000" y="114300"/>
                  </a:cubicBezTo>
                  <a:lnTo>
                    <a:pt x="5334000" y="409575"/>
                  </a:lnTo>
                  <a:cubicBezTo>
                    <a:pt x="5334000" y="472701"/>
                    <a:pt x="5282826" y="523875"/>
                    <a:pt x="5219700" y="523875"/>
                  </a:cubicBezTo>
                  <a:lnTo>
                    <a:pt x="114300" y="523875"/>
                  </a:lnTo>
                  <a:cubicBezTo>
                    <a:pt x="51174" y="523875"/>
                    <a:pt x="0" y="472701"/>
                    <a:pt x="0" y="409575"/>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8" name="Rectangle 8"/>
            <p:cNvSpPr/>
            <p:nvPr/>
          </p:nvSpPr>
          <p:spPr>
            <a:xfrm>
              <a:off x="571500" y="1362075"/>
              <a:ext cx="5334000" cy="114300"/>
            </a:xfrm>
            <a:prstGeom prst="rect">
              <a:avLst/>
            </a:prstGeom>
            <a:solidFill>
              <a:srgbClr val="0B4DA2"/>
            </a:solidFill>
            <a:ln>
              <a:noFill/>
            </a:ln>
            <a:effectLst>
              <a:outerShdw blurRad="190500" dist="38100" dir="10799140" algn="tl" rotWithShape="0">
                <a:srgbClr val="000000">
                  <a:alpha val="12000"/>
                </a:srgbClr>
              </a:outerShdw>
            </a:effectLst>
          </p:spPr>
        </p:sp>
        <p:sp>
          <p:nvSpPr>
            <p:cNvPr id="9" name="TextBox 9"/>
            <p:cNvSpPr txBox="1"/>
            <p:nvPr/>
          </p:nvSpPr>
          <p:spPr>
            <a:xfrm>
              <a:off x="2420495" y="1107758"/>
              <a:ext cx="1636009"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ACID (RDBMS)</a:t>
              </a:r>
            </a:p>
          </p:txBody>
        </p:sp>
      </p:grpSp>
      <p:sp>
        <p:nvSpPr>
          <p:cNvPr id="11" name="Freeform 11"/>
          <p:cNvSpPr/>
          <p:nvPr/>
        </p:nvSpPr>
        <p:spPr>
          <a:xfrm>
            <a:off x="857250" y="16668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E5F4F9"/>
          </a:solidFill>
          <a:ln>
            <a:noFill/>
          </a:ln>
        </p:spPr>
      </p:sp>
      <p:sp>
        <p:nvSpPr>
          <p:cNvPr id="12" name="TextBox 12"/>
          <p:cNvSpPr txBox="1"/>
          <p:nvPr/>
        </p:nvSpPr>
        <p:spPr>
          <a:xfrm>
            <a:off x="2176081" y="1851660"/>
            <a:ext cx="2124837"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Consistency ngay lập tức</a:t>
            </a:r>
          </a:p>
        </p:txBody>
      </p:sp>
      <p:sp>
        <p:nvSpPr>
          <p:cNvPr id="13" name="Freeform 13"/>
          <p:cNvSpPr/>
          <p:nvPr/>
        </p:nvSpPr>
        <p:spPr>
          <a:xfrm>
            <a:off x="857250" y="233362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F5F7FA"/>
          </a:solidFill>
          <a:ln>
            <a:noFill/>
          </a:ln>
        </p:spPr>
      </p:sp>
      <p:sp>
        <p:nvSpPr>
          <p:cNvPr id="14" name="TextBox 14"/>
          <p:cNvSpPr txBox="1"/>
          <p:nvPr/>
        </p:nvSpPr>
        <p:spPr>
          <a:xfrm>
            <a:off x="2320671" y="2518410"/>
            <a:ext cx="1835658"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Ưu tiên tính đúng đắn</a:t>
            </a:r>
          </a:p>
        </p:txBody>
      </p:sp>
      <p:sp>
        <p:nvSpPr>
          <p:cNvPr id="15" name="Freeform 15"/>
          <p:cNvSpPr/>
          <p:nvPr/>
        </p:nvSpPr>
        <p:spPr>
          <a:xfrm>
            <a:off x="857250" y="30003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E5F4F9"/>
          </a:solidFill>
          <a:ln>
            <a:noFill/>
          </a:ln>
        </p:spPr>
      </p:sp>
      <p:sp>
        <p:nvSpPr>
          <p:cNvPr id="16" name="TextBox 16"/>
          <p:cNvSpPr txBox="1"/>
          <p:nvPr/>
        </p:nvSpPr>
        <p:spPr>
          <a:xfrm>
            <a:off x="2325052" y="3185160"/>
            <a:ext cx="1826895"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Bi quan (Pessimistic)</a:t>
            </a:r>
          </a:p>
        </p:txBody>
      </p:sp>
      <p:sp>
        <p:nvSpPr>
          <p:cNvPr id="17" name="Freeform 17"/>
          <p:cNvSpPr/>
          <p:nvPr/>
        </p:nvSpPr>
        <p:spPr>
          <a:xfrm>
            <a:off x="857250" y="366712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F5F7FA"/>
          </a:solidFill>
          <a:ln>
            <a:noFill/>
          </a:ln>
        </p:spPr>
      </p:sp>
      <p:sp>
        <p:nvSpPr>
          <p:cNvPr id="18" name="TextBox 18"/>
          <p:cNvSpPr txBox="1"/>
          <p:nvPr/>
        </p:nvSpPr>
        <p:spPr>
          <a:xfrm>
            <a:off x="2373249" y="3851910"/>
            <a:ext cx="1730502"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Phức tạp, cứng nhắc</a:t>
            </a:r>
          </a:p>
        </p:txBody>
      </p:sp>
      <p:sp>
        <p:nvSpPr>
          <p:cNvPr id="19" name="Freeform 19"/>
          <p:cNvSpPr/>
          <p:nvPr/>
        </p:nvSpPr>
        <p:spPr>
          <a:xfrm>
            <a:off x="857250" y="43338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E5F4F9"/>
          </a:solidFill>
          <a:ln>
            <a:noFill/>
          </a:ln>
        </p:spPr>
      </p:sp>
      <p:sp>
        <p:nvSpPr>
          <p:cNvPr id="20" name="TextBox 20"/>
          <p:cNvSpPr txBox="1"/>
          <p:nvPr/>
        </p:nvSpPr>
        <p:spPr>
          <a:xfrm>
            <a:off x="1935099" y="4518660"/>
            <a:ext cx="2606802"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Mở rộng dọc (Vertical Scaling)</a:t>
            </a:r>
          </a:p>
        </p:txBody>
      </p:sp>
      <p:sp>
        <p:nvSpPr>
          <p:cNvPr id="21" name="Freeform 21"/>
          <p:cNvSpPr/>
          <p:nvPr/>
        </p:nvSpPr>
        <p:spPr>
          <a:xfrm>
            <a:off x="857250" y="5143500"/>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0B4DA2">
              <a:alpha val="8000"/>
            </a:srgbClr>
          </a:solidFill>
          <a:ln>
            <a:noFill/>
          </a:ln>
        </p:spPr>
      </p:sp>
      <p:sp>
        <p:nvSpPr>
          <p:cNvPr id="22" name="TextBox 22"/>
          <p:cNvSpPr txBox="1"/>
          <p:nvPr/>
        </p:nvSpPr>
        <p:spPr>
          <a:xfrm>
            <a:off x="1953501" y="5328285"/>
            <a:ext cx="2569997"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MySQL, PostgreSQL, Oracle</a:t>
            </a:r>
          </a:p>
        </p:txBody>
      </p:sp>
      <p:grpSp>
        <p:nvGrpSpPr>
          <p:cNvPr id="27" name="Group 27"/>
          <p:cNvGrpSpPr/>
          <p:nvPr/>
        </p:nvGrpSpPr>
        <p:grpSpPr>
          <a:xfrm>
            <a:off x="6286500" y="952500"/>
            <a:ext cx="5334000" cy="5048250"/>
            <a:chOff x="6286500" y="952500"/>
            <a:chExt cx="5334000" cy="5048250"/>
          </a:xfrm>
          <a:effectLst>
            <a:outerShdw blurRad="190500" dist="38100" dir="10799140" algn="tl" rotWithShape="0">
              <a:srgbClr val="000000">
                <a:alpha val="12000"/>
              </a:srgbClr>
            </a:outerShdw>
          </a:effectLst>
        </p:grpSpPr>
        <p:sp>
          <p:nvSpPr>
            <p:cNvPr id="23" name="Freeform 23"/>
            <p:cNvSpPr/>
            <p:nvPr/>
          </p:nvSpPr>
          <p:spPr>
            <a:xfrm>
              <a:off x="6286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4" name="Freeform 24"/>
            <p:cNvSpPr/>
            <p:nvPr/>
          </p:nvSpPr>
          <p:spPr>
            <a:xfrm>
              <a:off x="6286500" y="952500"/>
              <a:ext cx="5334000" cy="523875"/>
            </a:xfrm>
            <a:custGeom>
              <a:avLst/>
              <a:gdLst/>
              <a:ahLst/>
              <a:cxnLst/>
              <a:rect l="l" t="t" r="r" b="b"/>
              <a:pathLst>
                <a:path w="5334000" h="523875">
                  <a:moveTo>
                    <a:pt x="114300" y="0"/>
                  </a:moveTo>
                  <a:lnTo>
                    <a:pt x="5219700" y="0"/>
                  </a:lnTo>
                  <a:cubicBezTo>
                    <a:pt x="5282826" y="0"/>
                    <a:pt x="5334000" y="51174"/>
                    <a:pt x="5334000" y="114300"/>
                  </a:cubicBezTo>
                  <a:lnTo>
                    <a:pt x="5334000" y="409575"/>
                  </a:lnTo>
                  <a:cubicBezTo>
                    <a:pt x="5334000" y="472701"/>
                    <a:pt x="5282826" y="523875"/>
                    <a:pt x="5219700" y="523875"/>
                  </a:cubicBezTo>
                  <a:lnTo>
                    <a:pt x="114300" y="523875"/>
                  </a:lnTo>
                  <a:cubicBezTo>
                    <a:pt x="51174" y="523875"/>
                    <a:pt x="0" y="472701"/>
                    <a:pt x="0" y="409575"/>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25" name="Rectangle 25"/>
            <p:cNvSpPr/>
            <p:nvPr/>
          </p:nvSpPr>
          <p:spPr>
            <a:xfrm>
              <a:off x="6286500" y="1362075"/>
              <a:ext cx="5334000" cy="114300"/>
            </a:xfrm>
            <a:prstGeom prst="rect">
              <a:avLst/>
            </a:prstGeom>
            <a:solidFill>
              <a:srgbClr val="D12B1F"/>
            </a:solidFill>
            <a:ln>
              <a:noFill/>
            </a:ln>
            <a:effectLst>
              <a:outerShdw blurRad="190500" dist="38100" dir="10799140" algn="tl" rotWithShape="0">
                <a:srgbClr val="000000">
                  <a:alpha val="12000"/>
                </a:srgbClr>
              </a:outerShdw>
            </a:effectLst>
          </p:spPr>
        </p:sp>
        <p:sp>
          <p:nvSpPr>
            <p:cNvPr id="26" name="TextBox 26"/>
            <p:cNvSpPr txBox="1"/>
            <p:nvPr/>
          </p:nvSpPr>
          <p:spPr>
            <a:xfrm>
              <a:off x="7642084" y="1107758"/>
              <a:ext cx="2622833"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BASE (NoSQL / Redis)</a:t>
              </a:r>
            </a:p>
          </p:txBody>
        </p:sp>
      </p:grpSp>
      <p:sp>
        <p:nvSpPr>
          <p:cNvPr id="28" name="Freeform 28"/>
          <p:cNvSpPr/>
          <p:nvPr/>
        </p:nvSpPr>
        <p:spPr>
          <a:xfrm>
            <a:off x="6572250" y="16668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D12B1F">
              <a:alpha val="6000"/>
            </a:srgbClr>
          </a:solidFill>
          <a:ln>
            <a:noFill/>
          </a:ln>
        </p:spPr>
      </p:sp>
      <p:sp>
        <p:nvSpPr>
          <p:cNvPr id="29" name="TextBox 29"/>
          <p:cNvSpPr txBox="1"/>
          <p:nvPr/>
        </p:nvSpPr>
        <p:spPr>
          <a:xfrm>
            <a:off x="8040052" y="1851660"/>
            <a:ext cx="1826895"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Eventual Consistency</a:t>
            </a:r>
          </a:p>
        </p:txBody>
      </p:sp>
      <p:sp>
        <p:nvSpPr>
          <p:cNvPr id="30" name="Freeform 30"/>
          <p:cNvSpPr/>
          <p:nvPr/>
        </p:nvSpPr>
        <p:spPr>
          <a:xfrm>
            <a:off x="6572250" y="233362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F5F7FA"/>
          </a:solidFill>
          <a:ln>
            <a:noFill/>
          </a:ln>
        </p:spPr>
      </p:sp>
      <p:sp>
        <p:nvSpPr>
          <p:cNvPr id="31" name="TextBox 31"/>
          <p:cNvSpPr txBox="1"/>
          <p:nvPr/>
        </p:nvSpPr>
        <p:spPr>
          <a:xfrm>
            <a:off x="8035671" y="2518410"/>
            <a:ext cx="1835658"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Ưu tiên tính khả dụng</a:t>
            </a:r>
          </a:p>
        </p:txBody>
      </p:sp>
      <p:sp>
        <p:nvSpPr>
          <p:cNvPr id="32" name="Freeform 32"/>
          <p:cNvSpPr/>
          <p:nvPr/>
        </p:nvSpPr>
        <p:spPr>
          <a:xfrm>
            <a:off x="6572250" y="30003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D12B1F">
              <a:alpha val="6000"/>
            </a:srgbClr>
          </a:solidFill>
          <a:ln>
            <a:noFill/>
          </a:ln>
        </p:spPr>
      </p:sp>
      <p:sp>
        <p:nvSpPr>
          <p:cNvPr id="33" name="TextBox 33"/>
          <p:cNvSpPr txBox="1"/>
          <p:nvPr/>
        </p:nvSpPr>
        <p:spPr>
          <a:xfrm>
            <a:off x="8000619" y="3185160"/>
            <a:ext cx="1905762"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Lạc quan (Optimistic)</a:t>
            </a:r>
          </a:p>
        </p:txBody>
      </p:sp>
      <p:sp>
        <p:nvSpPr>
          <p:cNvPr id="34" name="Freeform 34"/>
          <p:cNvSpPr/>
          <p:nvPr/>
        </p:nvSpPr>
        <p:spPr>
          <a:xfrm>
            <a:off x="6572250" y="366712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F5F7FA"/>
          </a:solidFill>
          <a:ln>
            <a:noFill/>
          </a:ln>
        </p:spPr>
      </p:sp>
      <p:sp>
        <p:nvSpPr>
          <p:cNvPr id="35" name="TextBox 35"/>
          <p:cNvSpPr txBox="1"/>
          <p:nvPr/>
        </p:nvSpPr>
        <p:spPr>
          <a:xfrm>
            <a:off x="8153971" y="3851910"/>
            <a:ext cx="1599057"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Đơn giản, linh hoạt</a:t>
            </a:r>
          </a:p>
        </p:txBody>
      </p:sp>
      <p:sp>
        <p:nvSpPr>
          <p:cNvPr id="36" name="Freeform 36"/>
          <p:cNvSpPr/>
          <p:nvPr/>
        </p:nvSpPr>
        <p:spPr>
          <a:xfrm>
            <a:off x="6572250" y="43338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D12B1F">
              <a:alpha val="6000"/>
            </a:srgbClr>
          </a:solidFill>
          <a:ln>
            <a:noFill/>
          </a:ln>
        </p:spPr>
      </p:sp>
      <p:sp>
        <p:nvSpPr>
          <p:cNvPr id="37" name="TextBox 37"/>
          <p:cNvSpPr txBox="1"/>
          <p:nvPr/>
        </p:nvSpPr>
        <p:spPr>
          <a:xfrm>
            <a:off x="7457313" y="4518660"/>
            <a:ext cx="2992374"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Mở rộng ngang (Horizontal Scaling)</a:t>
            </a:r>
          </a:p>
        </p:txBody>
      </p:sp>
      <p:sp>
        <p:nvSpPr>
          <p:cNvPr id="38" name="Freeform 38"/>
          <p:cNvSpPr/>
          <p:nvPr/>
        </p:nvSpPr>
        <p:spPr>
          <a:xfrm>
            <a:off x="6572250" y="5143500"/>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D12B1F">
              <a:alpha val="10000"/>
            </a:srgbClr>
          </a:solidFill>
          <a:ln>
            <a:noFill/>
          </a:ln>
        </p:spPr>
      </p:sp>
      <p:sp>
        <p:nvSpPr>
          <p:cNvPr id="39" name="TextBox 39"/>
          <p:cNvSpPr txBox="1"/>
          <p:nvPr/>
        </p:nvSpPr>
        <p:spPr>
          <a:xfrm>
            <a:off x="7723708" y="5328285"/>
            <a:ext cx="2459584"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Redis, MongoDB, Cassandra</a:t>
            </a:r>
          </a:p>
        </p:txBody>
      </p:sp>
      <p:sp>
        <p:nvSpPr>
          <p:cNvPr id="40" name="Ellipse 40"/>
          <p:cNvSpPr/>
          <p:nvPr/>
        </p:nvSpPr>
        <p:spPr>
          <a:xfrm>
            <a:off x="5829300" y="3352800"/>
            <a:ext cx="533400" cy="533400"/>
          </a:xfrm>
          <a:prstGeom prst="ellipse">
            <a:avLst/>
          </a:prstGeom>
          <a:solidFill>
            <a:srgbClr val="FF6B35"/>
          </a:solidFill>
          <a:ln>
            <a:noFill/>
          </a:ln>
        </p:spPr>
      </p:sp>
      <p:sp>
        <p:nvSpPr>
          <p:cNvPr id="41" name="TextBox 41"/>
          <p:cNvSpPr txBox="1"/>
          <p:nvPr/>
        </p:nvSpPr>
        <p:spPr>
          <a:xfrm>
            <a:off x="5979547" y="3566160"/>
            <a:ext cx="23290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VS</a:t>
            </a:r>
          </a:p>
        </p:txBody>
      </p:sp>
      <p:sp>
        <p:nvSpPr>
          <p:cNvPr id="42" name="TextBox 42"/>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10 / 25</a:t>
            </a:r>
          </a:p>
        </p:txBody>
      </p:sp>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4385500"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3.6-3.7 NoSQL vs RDBMS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sp>
        <p:nvSpPr>
          <p:cNvPr id="6" name="Freeform 6"/>
          <p:cNvSpPr/>
          <p:nvPr/>
        </p:nvSpPr>
        <p:spPr>
          <a:xfrm>
            <a:off x="571500" y="904875"/>
            <a:ext cx="11049000" cy="5334000"/>
          </a:xfrm>
          <a:custGeom>
            <a:avLst/>
            <a:gdLst/>
            <a:ahLst/>
            <a:cxnLst/>
            <a:rect l="l" t="t" r="r" b="b"/>
            <a:pathLst>
              <a:path w="11049000" h="5334000">
                <a:moveTo>
                  <a:pt x="114300" y="0"/>
                </a:moveTo>
                <a:lnTo>
                  <a:pt x="10934700" y="0"/>
                </a:lnTo>
                <a:cubicBezTo>
                  <a:pt x="10997826" y="0"/>
                  <a:pt x="11049000" y="51174"/>
                  <a:pt x="11049000" y="114300"/>
                </a:cubicBezTo>
                <a:lnTo>
                  <a:pt x="11049000" y="5219700"/>
                </a:lnTo>
                <a:cubicBezTo>
                  <a:pt x="11049000" y="5282826"/>
                  <a:pt x="10997826" y="5334000"/>
                  <a:pt x="10934700" y="5334000"/>
                </a:cubicBezTo>
                <a:lnTo>
                  <a:pt x="114300" y="5334000"/>
                </a:lnTo>
                <a:cubicBezTo>
                  <a:pt x="51174" y="5334000"/>
                  <a:pt x="0" y="5282826"/>
                  <a:pt x="0" y="5219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04875"/>
            <a:ext cx="11049000" cy="476250"/>
          </a:xfrm>
          <a:custGeom>
            <a:avLst/>
            <a:gdLst/>
            <a:ahLst/>
            <a:cxnLst/>
            <a:rect l="l" t="t" r="r" b="b"/>
            <a:pathLst>
              <a:path w="11049000" h="476250">
                <a:moveTo>
                  <a:pt x="114300" y="0"/>
                </a:moveTo>
                <a:lnTo>
                  <a:pt x="10934700" y="0"/>
                </a:lnTo>
                <a:cubicBezTo>
                  <a:pt x="10997826" y="0"/>
                  <a:pt x="11049000" y="51174"/>
                  <a:pt x="11049000" y="114300"/>
                </a:cubicBezTo>
                <a:lnTo>
                  <a:pt x="11049000" y="361950"/>
                </a:lnTo>
                <a:cubicBezTo>
                  <a:pt x="11049000" y="425076"/>
                  <a:pt x="10997826" y="476250"/>
                  <a:pt x="10934700" y="476250"/>
                </a:cubicBezTo>
                <a:lnTo>
                  <a:pt x="114300" y="476250"/>
                </a:lnTo>
                <a:cubicBezTo>
                  <a:pt x="51174" y="476250"/>
                  <a:pt x="0" y="425076"/>
                  <a:pt x="0" y="361950"/>
                </a:cubicBezTo>
                <a:lnTo>
                  <a:pt x="0" y="114300"/>
                </a:lnTo>
                <a:cubicBezTo>
                  <a:pt x="0" y="51174"/>
                  <a:pt x="51174" y="0"/>
                  <a:pt x="114300" y="0"/>
                </a:cubicBezTo>
                <a:close/>
              </a:path>
            </a:pathLst>
          </a:custGeom>
          <a:solidFill>
            <a:srgbClr val="0B4DA2"/>
          </a:solidFill>
          <a:ln>
            <a:noFill/>
          </a:ln>
        </p:spPr>
      </p:sp>
      <p:sp>
        <p:nvSpPr>
          <p:cNvPr id="8" name="Rectangle 8"/>
          <p:cNvSpPr/>
          <p:nvPr/>
        </p:nvSpPr>
        <p:spPr>
          <a:xfrm>
            <a:off x="571500" y="1266825"/>
            <a:ext cx="11049000" cy="114300"/>
          </a:xfrm>
          <a:prstGeom prst="rect">
            <a:avLst/>
          </a:prstGeom>
          <a:solidFill>
            <a:srgbClr val="0B4DA2"/>
          </a:solidFill>
          <a:ln>
            <a:noFill/>
          </a:ln>
        </p:spPr>
      </p:sp>
      <p:sp>
        <p:nvSpPr>
          <p:cNvPr id="9" name="TextBox 9"/>
          <p:cNvSpPr txBox="1"/>
          <p:nvPr/>
        </p:nvSpPr>
        <p:spPr>
          <a:xfrm>
            <a:off x="1816665" y="1080135"/>
            <a:ext cx="748170"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Tiêu chí</a:t>
            </a:r>
          </a:p>
        </p:txBody>
      </p:sp>
      <p:sp>
        <p:nvSpPr>
          <p:cNvPr id="10" name="TextBox 10"/>
          <p:cNvSpPr txBox="1"/>
          <p:nvPr/>
        </p:nvSpPr>
        <p:spPr>
          <a:xfrm>
            <a:off x="5047326" y="1080135"/>
            <a:ext cx="57334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RDBMS</a:t>
            </a:r>
          </a:p>
        </p:txBody>
      </p:sp>
      <p:sp>
        <p:nvSpPr>
          <p:cNvPr id="11" name="TextBox 11"/>
          <p:cNvSpPr txBox="1"/>
          <p:nvPr/>
        </p:nvSpPr>
        <p:spPr>
          <a:xfrm>
            <a:off x="8117481" y="1080135"/>
            <a:ext cx="129103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NoSQL (Redis)</a:t>
            </a:r>
          </a:p>
        </p:txBody>
      </p:sp>
      <p:sp>
        <p:nvSpPr>
          <p:cNvPr id="12" name="Freeform 12"/>
          <p:cNvSpPr/>
          <p:nvPr/>
        </p:nvSpPr>
        <p:spPr>
          <a:xfrm>
            <a:off x="762000" y="150495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E5F4F9"/>
          </a:solidFill>
          <a:ln>
            <a:noFill/>
          </a:ln>
        </p:spPr>
      </p:sp>
      <p:sp>
        <p:nvSpPr>
          <p:cNvPr id="13" name="TextBox 13"/>
          <p:cNvSpPr txBox="1"/>
          <p:nvPr/>
        </p:nvSpPr>
        <p:spPr>
          <a:xfrm>
            <a:off x="1525194" y="1716881"/>
            <a:ext cx="1331113"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Cấu trúc dữ liệu</a:t>
            </a:r>
          </a:p>
        </p:txBody>
      </p:sp>
      <p:sp>
        <p:nvSpPr>
          <p:cNvPr id="14" name="TextBox 14"/>
          <p:cNvSpPr txBox="1"/>
          <p:nvPr/>
        </p:nvSpPr>
        <p:spPr>
          <a:xfrm>
            <a:off x="4321552" y="1716881"/>
            <a:ext cx="2024896"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Rigid schema (bảng, cột)</a:t>
            </a:r>
          </a:p>
        </p:txBody>
      </p:sp>
      <p:sp>
        <p:nvSpPr>
          <p:cNvPr id="15" name="TextBox 15"/>
          <p:cNvSpPr txBox="1"/>
          <p:nvPr/>
        </p:nvSpPr>
        <p:spPr>
          <a:xfrm>
            <a:off x="7812167" y="1716881"/>
            <a:ext cx="1901666"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Flexible (key-value...)</a:t>
            </a:r>
          </a:p>
        </p:txBody>
      </p:sp>
      <p:sp>
        <p:nvSpPr>
          <p:cNvPr id="16" name="Freeform 16"/>
          <p:cNvSpPr/>
          <p:nvPr/>
        </p:nvSpPr>
        <p:spPr>
          <a:xfrm>
            <a:off x="762000" y="217170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F5F7FA"/>
          </a:solidFill>
          <a:ln>
            <a:noFill/>
          </a:ln>
        </p:spPr>
      </p:sp>
      <p:sp>
        <p:nvSpPr>
          <p:cNvPr id="17" name="TextBox 17"/>
          <p:cNvSpPr txBox="1"/>
          <p:nvPr/>
        </p:nvSpPr>
        <p:spPr>
          <a:xfrm>
            <a:off x="2034132" y="2383631"/>
            <a:ext cx="313236"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ETL</a:t>
            </a:r>
          </a:p>
        </p:txBody>
      </p:sp>
      <p:sp>
        <p:nvSpPr>
          <p:cNvPr id="18" name="TextBox 18"/>
          <p:cNvSpPr txBox="1"/>
          <p:nvPr/>
        </p:nvSpPr>
        <p:spPr>
          <a:xfrm>
            <a:off x="4978777" y="2383631"/>
            <a:ext cx="710446"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Bắt buộc</a:t>
            </a:r>
          </a:p>
        </p:txBody>
      </p:sp>
      <p:sp>
        <p:nvSpPr>
          <p:cNvPr id="19" name="TextBox 19"/>
          <p:cNvSpPr txBox="1"/>
          <p:nvPr/>
        </p:nvSpPr>
        <p:spPr>
          <a:xfrm>
            <a:off x="8157210" y="2383631"/>
            <a:ext cx="1211580"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Không bắt buộc</a:t>
            </a:r>
          </a:p>
        </p:txBody>
      </p:sp>
      <p:sp>
        <p:nvSpPr>
          <p:cNvPr id="20" name="Freeform 20"/>
          <p:cNvSpPr/>
          <p:nvPr/>
        </p:nvSpPr>
        <p:spPr>
          <a:xfrm>
            <a:off x="762000" y="283845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E5F4F9"/>
          </a:solidFill>
          <a:ln>
            <a:noFill/>
          </a:ln>
        </p:spPr>
      </p:sp>
      <p:sp>
        <p:nvSpPr>
          <p:cNvPr id="21" name="TextBox 21"/>
          <p:cNvSpPr txBox="1"/>
          <p:nvPr/>
        </p:nvSpPr>
        <p:spPr>
          <a:xfrm>
            <a:off x="1865924" y="3050381"/>
            <a:ext cx="649653"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Lưu trữ</a:t>
            </a:r>
          </a:p>
        </p:txBody>
      </p:sp>
      <p:sp>
        <p:nvSpPr>
          <p:cNvPr id="22" name="TextBox 22"/>
          <p:cNvSpPr txBox="1"/>
          <p:nvPr/>
        </p:nvSpPr>
        <p:spPr>
          <a:xfrm>
            <a:off x="4863763" y="3050381"/>
            <a:ext cx="940475"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Hàng và cột</a:t>
            </a:r>
          </a:p>
        </p:txBody>
      </p:sp>
      <p:sp>
        <p:nvSpPr>
          <p:cNvPr id="23" name="TextBox 23"/>
          <p:cNvSpPr txBox="1"/>
          <p:nvPr/>
        </p:nvSpPr>
        <p:spPr>
          <a:xfrm>
            <a:off x="7524631" y="3050381"/>
            <a:ext cx="2476738"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Key-Value, Doc, Column, Graph</a:t>
            </a:r>
          </a:p>
        </p:txBody>
      </p:sp>
      <p:sp>
        <p:nvSpPr>
          <p:cNvPr id="24" name="Freeform 24"/>
          <p:cNvSpPr/>
          <p:nvPr/>
        </p:nvSpPr>
        <p:spPr>
          <a:xfrm>
            <a:off x="762000" y="350520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F5F7FA"/>
          </a:solidFill>
          <a:ln>
            <a:noFill/>
          </a:ln>
        </p:spPr>
      </p:sp>
      <p:sp>
        <p:nvSpPr>
          <p:cNvPr id="25" name="TextBox 25"/>
          <p:cNvSpPr txBox="1"/>
          <p:nvPr/>
        </p:nvSpPr>
        <p:spPr>
          <a:xfrm>
            <a:off x="1676150" y="3717131"/>
            <a:ext cx="1029200"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Transaction</a:t>
            </a:r>
          </a:p>
        </p:txBody>
      </p:sp>
      <p:sp>
        <p:nvSpPr>
          <p:cNvPr id="26" name="TextBox 26"/>
          <p:cNvSpPr txBox="1"/>
          <p:nvPr/>
        </p:nvSpPr>
        <p:spPr>
          <a:xfrm>
            <a:off x="5159514" y="3717131"/>
            <a:ext cx="348972"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ACID</a:t>
            </a:r>
          </a:p>
        </p:txBody>
      </p:sp>
      <p:sp>
        <p:nvSpPr>
          <p:cNvPr id="27" name="TextBox 27"/>
          <p:cNvSpPr txBox="1"/>
          <p:nvPr/>
        </p:nvSpPr>
        <p:spPr>
          <a:xfrm>
            <a:off x="8567976" y="3717131"/>
            <a:ext cx="390049"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BASE</a:t>
            </a:r>
          </a:p>
        </p:txBody>
      </p:sp>
      <p:sp>
        <p:nvSpPr>
          <p:cNvPr id="28" name="Freeform 28"/>
          <p:cNvSpPr/>
          <p:nvPr/>
        </p:nvSpPr>
        <p:spPr>
          <a:xfrm>
            <a:off x="762000" y="417195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E5F4F9"/>
          </a:solidFill>
          <a:ln>
            <a:noFill/>
          </a:ln>
        </p:spPr>
      </p:sp>
      <p:sp>
        <p:nvSpPr>
          <p:cNvPr id="29" name="TextBox 29"/>
          <p:cNvSpPr txBox="1"/>
          <p:nvPr/>
        </p:nvSpPr>
        <p:spPr>
          <a:xfrm>
            <a:off x="1848672" y="4383881"/>
            <a:ext cx="684157"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Mở rộng</a:t>
            </a:r>
          </a:p>
        </p:txBody>
      </p:sp>
      <p:sp>
        <p:nvSpPr>
          <p:cNvPr id="30" name="TextBox 30"/>
          <p:cNvSpPr txBox="1"/>
          <p:nvPr/>
        </p:nvSpPr>
        <p:spPr>
          <a:xfrm>
            <a:off x="4350306" y="4383881"/>
            <a:ext cx="1967389"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Vertical (máy mạnh hơn)</a:t>
            </a:r>
          </a:p>
        </p:txBody>
      </p:sp>
      <p:sp>
        <p:nvSpPr>
          <p:cNvPr id="31" name="TextBox 31"/>
          <p:cNvSpPr txBox="1"/>
          <p:nvPr/>
        </p:nvSpPr>
        <p:spPr>
          <a:xfrm>
            <a:off x="7734121" y="4383881"/>
            <a:ext cx="2057757"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Horizontal (thêm máy rẻ)</a:t>
            </a:r>
          </a:p>
        </p:txBody>
      </p:sp>
      <p:sp>
        <p:nvSpPr>
          <p:cNvPr id="32" name="Freeform 32"/>
          <p:cNvSpPr/>
          <p:nvPr/>
        </p:nvSpPr>
        <p:spPr>
          <a:xfrm>
            <a:off x="762000" y="483870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F5F7FA"/>
          </a:solidFill>
          <a:ln>
            <a:noFill/>
          </a:ln>
        </p:spPr>
      </p:sp>
      <p:sp>
        <p:nvSpPr>
          <p:cNvPr id="33" name="TextBox 33"/>
          <p:cNvSpPr txBox="1"/>
          <p:nvPr/>
        </p:nvSpPr>
        <p:spPr>
          <a:xfrm>
            <a:off x="1818480" y="5050631"/>
            <a:ext cx="744539"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Ngôn ngữ</a:t>
            </a:r>
          </a:p>
        </p:txBody>
      </p:sp>
      <p:sp>
        <p:nvSpPr>
          <p:cNvPr id="34" name="TextBox 34"/>
          <p:cNvSpPr txBox="1"/>
          <p:nvPr/>
        </p:nvSpPr>
        <p:spPr>
          <a:xfrm>
            <a:off x="5167729" y="5050631"/>
            <a:ext cx="332542"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SQL</a:t>
            </a:r>
          </a:p>
        </p:txBody>
      </p:sp>
      <p:sp>
        <p:nvSpPr>
          <p:cNvPr id="35" name="TextBox 35"/>
          <p:cNvSpPr txBox="1"/>
          <p:nvPr/>
        </p:nvSpPr>
        <p:spPr>
          <a:xfrm>
            <a:off x="8124349" y="5050631"/>
            <a:ext cx="1277302"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Redis Commands</a:t>
            </a:r>
          </a:p>
        </p:txBody>
      </p:sp>
      <p:sp>
        <p:nvSpPr>
          <p:cNvPr id="36" name="Freeform 36"/>
          <p:cNvSpPr/>
          <p:nvPr/>
        </p:nvSpPr>
        <p:spPr>
          <a:xfrm>
            <a:off x="762000" y="550545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E5F4F9"/>
          </a:solidFill>
          <a:ln>
            <a:noFill/>
          </a:ln>
        </p:spPr>
      </p:sp>
      <p:sp>
        <p:nvSpPr>
          <p:cNvPr id="37" name="TextBox 37"/>
          <p:cNvSpPr txBox="1"/>
          <p:nvPr/>
        </p:nvSpPr>
        <p:spPr>
          <a:xfrm>
            <a:off x="1745159" y="5717381"/>
            <a:ext cx="891183"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Trạng thái</a:t>
            </a:r>
          </a:p>
        </p:txBody>
      </p:sp>
      <p:sp>
        <p:nvSpPr>
          <p:cNvPr id="38" name="TextBox 38"/>
          <p:cNvSpPr txBox="1"/>
          <p:nvPr/>
        </p:nvSpPr>
        <p:spPr>
          <a:xfrm>
            <a:off x="4621411" y="5717381"/>
            <a:ext cx="1425178"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Mature (ổn định)</a:t>
            </a:r>
          </a:p>
        </p:txBody>
      </p:sp>
      <p:sp>
        <p:nvSpPr>
          <p:cNvPr id="39" name="TextBox 39"/>
          <p:cNvSpPr txBox="1"/>
          <p:nvPr/>
        </p:nvSpPr>
        <p:spPr>
          <a:xfrm>
            <a:off x="7561600" y="5717381"/>
            <a:ext cx="2402800"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Incubation (phát triển nhanh)</a:t>
            </a:r>
          </a:p>
        </p:txBody>
      </p:sp>
      <p:sp>
        <p:nvSpPr>
          <p:cNvPr id="40" name="TextBox 40"/>
          <p:cNvSpPr txBox="1"/>
          <p:nvPr/>
        </p:nvSpPr>
        <p:spPr>
          <a:xfrm>
            <a:off x="11234452" y="6570345"/>
            <a:ext cx="397478"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11 / 25</a:t>
            </a:r>
          </a:p>
        </p:txBody>
      </p:sp>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5452834"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3.7.3 Các loại NoSQL Database</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grpSp>
        <p:nvGrpSpPr>
          <p:cNvPr id="18" name="Group 18"/>
          <p:cNvGrpSpPr/>
          <p:nvPr/>
        </p:nvGrpSpPr>
        <p:grpSpPr>
          <a:xfrm>
            <a:off x="571500" y="952500"/>
            <a:ext cx="5381625" cy="2476500"/>
            <a:chOff x="571500" y="952500"/>
            <a:chExt cx="5381625" cy="2476500"/>
          </a:xfrm>
          <a:effectLst>
            <a:outerShdw blurRad="190500" dist="38100" dir="10799140" algn="tl" rotWithShape="0">
              <a:srgbClr val="000000">
                <a:alpha val="12000"/>
              </a:srgbClr>
            </a:outerShdw>
          </a:effectLst>
        </p:grpSpPr>
        <p:sp>
          <p:nvSpPr>
            <p:cNvPr id="6" name="Freeform 6"/>
            <p:cNvSpPr/>
            <p:nvPr/>
          </p:nvSpPr>
          <p:spPr>
            <a:xfrm>
              <a:off x="571500" y="952500"/>
              <a:ext cx="5381625" cy="2476500"/>
            </a:xfrm>
            <a:custGeom>
              <a:avLst/>
              <a:gdLst/>
              <a:ahLst/>
              <a:cxnLst/>
              <a:rect l="l" t="t" r="r" b="b"/>
              <a:pathLst>
                <a:path w="5381625" h="2476500">
                  <a:moveTo>
                    <a:pt x="114300" y="0"/>
                  </a:moveTo>
                  <a:lnTo>
                    <a:pt x="5267325" y="0"/>
                  </a:lnTo>
                  <a:cubicBezTo>
                    <a:pt x="5330451" y="0"/>
                    <a:pt x="5381625" y="51174"/>
                    <a:pt x="5381625" y="114300"/>
                  </a:cubicBezTo>
                  <a:lnTo>
                    <a:pt x="5381625" y="2362200"/>
                  </a:lnTo>
                  <a:cubicBezTo>
                    <a:pt x="5381625" y="2425326"/>
                    <a:pt x="5330451" y="2476500"/>
                    <a:pt x="5267325"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52500"/>
              <a:ext cx="5381625" cy="57150"/>
            </a:xfrm>
            <a:custGeom>
              <a:avLst/>
              <a:gdLst/>
              <a:ahLst/>
              <a:cxnLst/>
              <a:rect l="l" t="t" r="r" b="b"/>
              <a:pathLst>
                <a:path w="5381625" h="57150">
                  <a:moveTo>
                    <a:pt x="28575" y="0"/>
                  </a:moveTo>
                  <a:lnTo>
                    <a:pt x="5353050" y="0"/>
                  </a:lnTo>
                  <a:cubicBezTo>
                    <a:pt x="5368832" y="0"/>
                    <a:pt x="5381625" y="12793"/>
                    <a:pt x="5381625" y="28575"/>
                  </a:cubicBezTo>
                  <a:lnTo>
                    <a:pt x="5381625" y="28575"/>
                  </a:lnTo>
                  <a:cubicBezTo>
                    <a:pt x="5381625" y="44357"/>
                    <a:pt x="5368832" y="57150"/>
                    <a:pt x="5353050" y="57150"/>
                  </a:cubicBezTo>
                  <a:lnTo>
                    <a:pt x="28575" y="57150"/>
                  </a:lnTo>
                  <a:cubicBezTo>
                    <a:pt x="12793" y="57150"/>
                    <a:pt x="0" y="44357"/>
                    <a:pt x="0" y="28575"/>
                  </a:cubicBezTo>
                  <a:lnTo>
                    <a:pt x="0" y="28575"/>
                  </a:lnTo>
                  <a:cubicBezTo>
                    <a:pt x="0" y="12793"/>
                    <a:pt x="12793" y="0"/>
                    <a:pt x="28575"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8" name="Ellipse 8"/>
            <p:cNvSpPr/>
            <p:nvPr/>
          </p:nvSpPr>
          <p:spPr>
            <a:xfrm>
              <a:off x="809625" y="1238250"/>
              <a:ext cx="571500" cy="571500"/>
            </a:xfrm>
            <a:prstGeom prst="ellipse">
              <a:avLst/>
            </a:prstGeom>
            <a:solidFill>
              <a:srgbClr val="D12B1F">
                <a:alpha val="10000"/>
              </a:srgbClr>
            </a:solidFill>
            <a:ln>
              <a:noFill/>
            </a:ln>
            <a:effectLst>
              <a:outerShdw blurRad="190500" dist="38100" dir="10799140" algn="tl" rotWithShape="0">
                <a:srgbClr val="000000">
                  <a:alpha val="12000"/>
                </a:srgbClr>
              </a:outerShdw>
            </a:effectLst>
          </p:spPr>
        </p:sp>
        <p:sp>
          <p:nvSpPr>
            <p:cNvPr id="9" name="Freeform 9"/>
            <p:cNvSpPr/>
            <p:nvPr/>
          </p:nvSpPr>
          <p:spPr>
            <a:xfrm>
              <a:off x="942975" y="1371600"/>
              <a:ext cx="304800" cy="304800"/>
            </a:xfrm>
            <a:custGeom>
              <a:avLst/>
              <a:gdLst/>
              <a:ahLst/>
              <a:cxnLst/>
              <a:rect l="l" t="t" r="r" b="b"/>
              <a:pathLst>
                <a:path w="304800" h="304800">
                  <a:moveTo>
                    <a:pt x="304800" y="104775"/>
                  </a:moveTo>
                  <a:cubicBezTo>
                    <a:pt x="304800" y="162641"/>
                    <a:pt x="257891" y="209550"/>
                    <a:pt x="200025" y="209550"/>
                  </a:cubicBezTo>
                  <a:lnTo>
                    <a:pt x="133350" y="209550"/>
                  </a:lnTo>
                  <a:lnTo>
                    <a:pt x="133350" y="247650"/>
                  </a:lnTo>
                  <a:lnTo>
                    <a:pt x="95250" y="247650"/>
                  </a:lnTo>
                  <a:lnTo>
                    <a:pt x="95250" y="285750"/>
                  </a:lnTo>
                  <a:lnTo>
                    <a:pt x="76200" y="304800"/>
                  </a:lnTo>
                  <a:lnTo>
                    <a:pt x="0" y="304800"/>
                  </a:lnTo>
                  <a:lnTo>
                    <a:pt x="0" y="228600"/>
                  </a:lnTo>
                  <a:lnTo>
                    <a:pt x="98365" y="130235"/>
                  </a:lnTo>
                  <a:cubicBezTo>
                    <a:pt x="96330" y="122084"/>
                    <a:pt x="95250" y="113556"/>
                    <a:pt x="95250" y="104775"/>
                  </a:cubicBezTo>
                  <a:cubicBezTo>
                    <a:pt x="95250" y="46909"/>
                    <a:pt x="142159" y="0"/>
                    <a:pt x="200025" y="0"/>
                  </a:cubicBezTo>
                  <a:cubicBezTo>
                    <a:pt x="257891" y="0"/>
                    <a:pt x="304800" y="46909"/>
                    <a:pt x="304800" y="104775"/>
                  </a:cubicBezTo>
                  <a:close/>
                  <a:moveTo>
                    <a:pt x="247650" y="76200"/>
                  </a:moveTo>
                  <a:cubicBezTo>
                    <a:pt x="247650" y="86721"/>
                    <a:pt x="239121" y="95250"/>
                    <a:pt x="228600" y="95250"/>
                  </a:cubicBezTo>
                  <a:cubicBezTo>
                    <a:pt x="218079" y="95250"/>
                    <a:pt x="209550" y="86721"/>
                    <a:pt x="209550" y="76200"/>
                  </a:cubicBezTo>
                  <a:cubicBezTo>
                    <a:pt x="209550" y="65679"/>
                    <a:pt x="218079" y="57150"/>
                    <a:pt x="228600" y="57150"/>
                  </a:cubicBezTo>
                  <a:cubicBezTo>
                    <a:pt x="239121" y="57150"/>
                    <a:pt x="247650" y="65679"/>
                    <a:pt x="247650" y="76200"/>
                  </a:cubicBezTo>
                  <a:close/>
                </a:path>
              </a:pathLst>
            </a:custGeom>
            <a:solidFill>
              <a:srgbClr val="D12B1F"/>
            </a:solidFill>
            <a:ln>
              <a:noFill/>
            </a:ln>
            <a:effectLst>
              <a:outerShdw blurRad="190500" dist="38100" dir="10799140" algn="tl" rotWithShape="0">
                <a:srgbClr val="000000">
                  <a:alpha val="12000"/>
                </a:srgbClr>
              </a:outerShdw>
            </a:effectLst>
          </p:spPr>
        </p:sp>
        <p:sp>
          <p:nvSpPr>
            <p:cNvPr id="10" name="TextBox 10"/>
            <p:cNvSpPr txBox="1"/>
            <p:nvPr/>
          </p:nvSpPr>
          <p:spPr>
            <a:xfrm>
              <a:off x="1504950" y="1314450"/>
              <a:ext cx="1820823"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D12B1F"/>
                  </a:solidFill>
                  <a:latin typeface="Arial"/>
                  <a:ea typeface="Microsoft YaHei"/>
                  <a:cs typeface="Arial"/>
                </a:rPr>
                <a:t>Key-Value Store</a:t>
              </a:r>
            </a:p>
          </p:txBody>
        </p:sp>
        <p:sp>
          <p:nvSpPr>
            <p:cNvPr id="11" name="TextBox 11"/>
            <p:cNvSpPr txBox="1"/>
            <p:nvPr/>
          </p:nvSpPr>
          <p:spPr>
            <a:xfrm>
              <a:off x="1511618" y="1590199"/>
              <a:ext cx="144519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b="1" dirty="0">
                  <a:solidFill>
                    <a:srgbClr val="D12B1F"/>
                  </a:solidFill>
                  <a:latin typeface="Arial"/>
                  <a:ea typeface="Microsoft YaHei"/>
                  <a:cs typeface="Arial"/>
                </a:rPr>
                <a:t>Redis thuộc loại này</a:t>
              </a:r>
            </a:p>
          </p:txBody>
        </p:sp>
        <p:sp>
          <p:nvSpPr>
            <p:cNvPr id="12" name="Rectangle 12"/>
            <p:cNvSpPr/>
            <p:nvPr/>
          </p:nvSpPr>
          <p:spPr>
            <a:xfrm>
              <a:off x="857250" y="1905000"/>
              <a:ext cx="4857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13" name="TextBox 13"/>
            <p:cNvSpPr txBox="1"/>
            <p:nvPr/>
          </p:nvSpPr>
          <p:spPr>
            <a:xfrm>
              <a:off x="842962" y="2069306"/>
              <a:ext cx="4070509"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Đơn giản nhất, hiệu quả nhất. Dữ liệu = Key → Value.</a:t>
              </a:r>
            </a:p>
          </p:txBody>
        </p:sp>
        <p:sp>
          <p:nvSpPr>
            <p:cNvPr id="14" name="TextBox 14"/>
            <p:cNvSpPr txBox="1"/>
            <p:nvPr/>
          </p:nvSpPr>
          <p:spPr>
            <a:xfrm>
              <a:off x="843915" y="2315528"/>
              <a:ext cx="2925032"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VD: Redis, DynamoDB, Riak, Memcached</a:t>
              </a:r>
            </a:p>
          </p:txBody>
        </p:sp>
        <p:sp>
          <p:nvSpPr>
            <p:cNvPr id="15" name="TextBox 15"/>
            <p:cNvSpPr txBox="1"/>
            <p:nvPr/>
          </p:nvSpPr>
          <p:spPr>
            <a:xfrm>
              <a:off x="843915" y="2553652"/>
              <a:ext cx="3047714"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Ứng dụng: Cache, Session, Shopping Cart</a:t>
              </a:r>
            </a:p>
          </p:txBody>
        </p:sp>
        <p:sp>
          <p:nvSpPr>
            <p:cNvPr id="16" name="Freeform 16"/>
            <p:cNvSpPr/>
            <p:nvPr/>
          </p:nvSpPr>
          <p:spPr>
            <a:xfrm>
              <a:off x="857250" y="2952750"/>
              <a:ext cx="762000" cy="247650"/>
            </a:xfrm>
            <a:custGeom>
              <a:avLst/>
              <a:gdLst/>
              <a:ahLst/>
              <a:cxnLst/>
              <a:rect l="l" t="t" r="r" b="b"/>
              <a:pathLst>
                <a:path w="762000" h="247650">
                  <a:moveTo>
                    <a:pt x="123825" y="0"/>
                  </a:moveTo>
                  <a:lnTo>
                    <a:pt x="638175" y="0"/>
                  </a:lnTo>
                  <a:cubicBezTo>
                    <a:pt x="706562" y="0"/>
                    <a:pt x="762000" y="55438"/>
                    <a:pt x="762000" y="123825"/>
                  </a:cubicBezTo>
                  <a:lnTo>
                    <a:pt x="762000" y="123825"/>
                  </a:lnTo>
                  <a:cubicBezTo>
                    <a:pt x="762000" y="192212"/>
                    <a:pt x="706562" y="247650"/>
                    <a:pt x="638175" y="247650"/>
                  </a:cubicBezTo>
                  <a:lnTo>
                    <a:pt x="123825" y="247650"/>
                  </a:lnTo>
                  <a:cubicBezTo>
                    <a:pt x="55438" y="247650"/>
                    <a:pt x="0" y="192212"/>
                    <a:pt x="0" y="123825"/>
                  </a:cubicBezTo>
                  <a:lnTo>
                    <a:pt x="0" y="123825"/>
                  </a:lnTo>
                  <a:cubicBezTo>
                    <a:pt x="0" y="55438"/>
                    <a:pt x="55438" y="0"/>
                    <a:pt x="123825" y="0"/>
                  </a:cubicBezTo>
                  <a:close/>
                </a:path>
              </a:pathLst>
            </a:custGeom>
            <a:solidFill>
              <a:srgbClr val="D12B1F">
                <a:alpha val="10000"/>
              </a:srgbClr>
            </a:solidFill>
            <a:ln>
              <a:noFill/>
            </a:ln>
            <a:effectLst>
              <a:outerShdw blurRad="190500" dist="38100" dir="10799140" algn="tl" rotWithShape="0">
                <a:srgbClr val="000000">
                  <a:alpha val="12000"/>
                </a:srgbClr>
              </a:outerShdw>
            </a:effectLst>
          </p:spPr>
        </p:sp>
        <p:sp>
          <p:nvSpPr>
            <p:cNvPr id="17" name="TextBox 17"/>
            <p:cNvSpPr txBox="1"/>
            <p:nvPr/>
          </p:nvSpPr>
          <p:spPr>
            <a:xfrm>
              <a:off x="1054298" y="3027045"/>
              <a:ext cx="367903" cy="1828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900" b="1" dirty="0">
                  <a:solidFill>
                    <a:srgbClr val="D12B1F"/>
                  </a:solidFill>
                  <a:latin typeface="Arial"/>
                  <a:ea typeface="Microsoft YaHei"/>
                  <a:cs typeface="Arial"/>
                </a:rPr>
                <a:t>Redis</a:t>
              </a:r>
            </a:p>
          </p:txBody>
        </p:sp>
      </p:grpSp>
      <p:grpSp>
        <p:nvGrpSpPr>
          <p:cNvPr id="34" name="Group 34"/>
          <p:cNvGrpSpPr/>
          <p:nvPr/>
        </p:nvGrpSpPr>
        <p:grpSpPr>
          <a:xfrm>
            <a:off x="6238875" y="952500"/>
            <a:ext cx="5381625" cy="2476500"/>
            <a:chOff x="6238875" y="952500"/>
            <a:chExt cx="5381625" cy="2476500"/>
          </a:xfrm>
          <a:effectLst>
            <a:outerShdw blurRad="190500" dist="38100" dir="10799140" algn="tl" rotWithShape="0">
              <a:srgbClr val="000000">
                <a:alpha val="12000"/>
              </a:srgbClr>
            </a:outerShdw>
          </a:effectLst>
        </p:grpSpPr>
        <p:sp>
          <p:nvSpPr>
            <p:cNvPr id="19" name="Freeform 19"/>
            <p:cNvSpPr/>
            <p:nvPr/>
          </p:nvSpPr>
          <p:spPr>
            <a:xfrm>
              <a:off x="6238875" y="952500"/>
              <a:ext cx="5381625" cy="2476500"/>
            </a:xfrm>
            <a:custGeom>
              <a:avLst/>
              <a:gdLst/>
              <a:ahLst/>
              <a:cxnLst/>
              <a:rect l="l" t="t" r="r" b="b"/>
              <a:pathLst>
                <a:path w="5381625" h="2476500">
                  <a:moveTo>
                    <a:pt x="114300" y="0"/>
                  </a:moveTo>
                  <a:lnTo>
                    <a:pt x="5267325" y="0"/>
                  </a:lnTo>
                  <a:cubicBezTo>
                    <a:pt x="5330451" y="0"/>
                    <a:pt x="5381625" y="51174"/>
                    <a:pt x="5381625" y="114300"/>
                  </a:cubicBezTo>
                  <a:lnTo>
                    <a:pt x="5381625" y="2362200"/>
                  </a:lnTo>
                  <a:cubicBezTo>
                    <a:pt x="5381625" y="2425326"/>
                    <a:pt x="5330451" y="2476500"/>
                    <a:pt x="5267325"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0" name="Freeform 20"/>
            <p:cNvSpPr/>
            <p:nvPr/>
          </p:nvSpPr>
          <p:spPr>
            <a:xfrm>
              <a:off x="6238875" y="952500"/>
              <a:ext cx="5381625" cy="57150"/>
            </a:xfrm>
            <a:custGeom>
              <a:avLst/>
              <a:gdLst/>
              <a:ahLst/>
              <a:cxnLst/>
              <a:rect l="l" t="t" r="r" b="b"/>
              <a:pathLst>
                <a:path w="5381625" h="57150">
                  <a:moveTo>
                    <a:pt x="28575" y="0"/>
                  </a:moveTo>
                  <a:lnTo>
                    <a:pt x="5353050" y="0"/>
                  </a:lnTo>
                  <a:cubicBezTo>
                    <a:pt x="5368832" y="0"/>
                    <a:pt x="5381625" y="12793"/>
                    <a:pt x="5381625" y="28575"/>
                  </a:cubicBezTo>
                  <a:lnTo>
                    <a:pt x="5381625" y="28575"/>
                  </a:lnTo>
                  <a:cubicBezTo>
                    <a:pt x="5381625" y="44357"/>
                    <a:pt x="5368832" y="57150"/>
                    <a:pt x="5353050" y="57150"/>
                  </a:cubicBezTo>
                  <a:lnTo>
                    <a:pt x="28575" y="57150"/>
                  </a:lnTo>
                  <a:cubicBezTo>
                    <a:pt x="12793" y="57150"/>
                    <a:pt x="0" y="44357"/>
                    <a:pt x="0" y="28575"/>
                  </a:cubicBezTo>
                  <a:lnTo>
                    <a:pt x="0" y="28575"/>
                  </a:lnTo>
                  <a:cubicBezTo>
                    <a:pt x="0" y="12793"/>
                    <a:pt x="12793" y="0"/>
                    <a:pt x="28575"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21" name="Ellipse 21"/>
            <p:cNvSpPr/>
            <p:nvPr/>
          </p:nvSpPr>
          <p:spPr>
            <a:xfrm>
              <a:off x="6477000" y="1238250"/>
              <a:ext cx="571500" cy="571500"/>
            </a:xfrm>
            <a:prstGeom prst="ellipse">
              <a:avLst/>
            </a:prstGeom>
            <a:solidFill>
              <a:srgbClr val="0B4DA2">
                <a:alpha val="10000"/>
              </a:srgbClr>
            </a:solidFill>
            <a:ln>
              <a:noFill/>
            </a:ln>
            <a:effectLst>
              <a:outerShdw blurRad="190500" dist="38100" dir="10799140" algn="tl" rotWithShape="0">
                <a:srgbClr val="000000">
                  <a:alpha val="12000"/>
                </a:srgbClr>
              </a:outerShdw>
            </a:effectLst>
          </p:spPr>
        </p:sp>
        <p:grpSp>
          <p:nvGrpSpPr>
            <p:cNvPr id="27" name="Group 27"/>
            <p:cNvGrpSpPr/>
            <p:nvPr/>
          </p:nvGrpSpPr>
          <p:grpSpPr>
            <a:xfrm>
              <a:off x="6648450" y="1371600"/>
              <a:ext cx="228600" cy="304800"/>
              <a:chOff x="6648450" y="1371600"/>
              <a:chExt cx="228600" cy="304800"/>
            </a:xfrm>
          </p:grpSpPr>
          <p:sp>
            <p:nvSpPr>
              <p:cNvPr id="22" name="Freeform 22"/>
              <p:cNvSpPr/>
              <p:nvPr/>
            </p:nvSpPr>
            <p:spPr>
              <a:xfrm>
                <a:off x="6648450" y="1371600"/>
                <a:ext cx="228600" cy="76200"/>
              </a:xfrm>
              <a:custGeom>
                <a:avLst/>
                <a:gdLst/>
                <a:ahLst/>
                <a:cxnLst/>
                <a:rect l="l" t="t" r="r" b="b"/>
                <a:pathLst>
                  <a:path w="228600" h="76200">
                    <a:moveTo>
                      <a:pt x="228600" y="0"/>
                    </a:moveTo>
                    <a:lnTo>
                      <a:pt x="0" y="0"/>
                    </a:lnTo>
                    <a:lnTo>
                      <a:pt x="0" y="76200"/>
                    </a:lnTo>
                    <a:lnTo>
                      <a:pt x="228600" y="76200"/>
                    </a:lnTo>
                    <a:lnTo>
                      <a:pt x="228600" y="0"/>
                    </a:lnTo>
                    <a:close/>
                  </a:path>
                </a:pathLst>
              </a:custGeom>
              <a:solidFill>
                <a:srgbClr val="0B4DA2"/>
              </a:solidFill>
              <a:ln>
                <a:noFill/>
              </a:ln>
              <a:effectLst>
                <a:outerShdw blurRad="190500" dist="38100" dir="10799140" algn="tl" rotWithShape="0">
                  <a:srgbClr val="000000">
                    <a:alpha val="12000"/>
                  </a:srgbClr>
                </a:outerShdw>
              </a:effectLst>
            </p:spPr>
          </p:sp>
          <p:sp>
            <p:nvSpPr>
              <p:cNvPr id="23" name="Freeform 23"/>
              <p:cNvSpPr/>
              <p:nvPr/>
            </p:nvSpPr>
            <p:spPr>
              <a:xfrm>
                <a:off x="6648450" y="1485900"/>
                <a:ext cx="95250" cy="76200"/>
              </a:xfrm>
              <a:custGeom>
                <a:avLst/>
                <a:gdLst/>
                <a:ahLst/>
                <a:cxnLst/>
                <a:rect l="l" t="t" r="r" b="b"/>
                <a:pathLst>
                  <a:path w="95250" h="76200">
                    <a:moveTo>
                      <a:pt x="0" y="0"/>
                    </a:moveTo>
                    <a:lnTo>
                      <a:pt x="95250" y="0"/>
                    </a:lnTo>
                    <a:lnTo>
                      <a:pt x="95250" y="76200"/>
                    </a:lnTo>
                    <a:lnTo>
                      <a:pt x="0" y="76200"/>
                    </a:lnTo>
                    <a:lnTo>
                      <a:pt x="0" y="0"/>
                    </a:lnTo>
                    <a:close/>
                  </a:path>
                </a:pathLst>
              </a:custGeom>
              <a:solidFill>
                <a:srgbClr val="0B4DA2"/>
              </a:solidFill>
              <a:ln>
                <a:noFill/>
              </a:ln>
              <a:effectLst>
                <a:outerShdw blurRad="190500" dist="38100" dir="10799140" algn="tl" rotWithShape="0">
                  <a:srgbClr val="000000">
                    <a:alpha val="12000"/>
                  </a:srgbClr>
                </a:outerShdw>
              </a:effectLst>
            </p:spPr>
          </p:sp>
          <p:sp>
            <p:nvSpPr>
              <p:cNvPr id="24" name="Freeform 24"/>
              <p:cNvSpPr/>
              <p:nvPr/>
            </p:nvSpPr>
            <p:spPr>
              <a:xfrm>
                <a:off x="6648450" y="1600200"/>
                <a:ext cx="95250" cy="76200"/>
              </a:xfrm>
              <a:custGeom>
                <a:avLst/>
                <a:gdLst/>
                <a:ahLst/>
                <a:cxnLst/>
                <a:rect l="l" t="t" r="r" b="b"/>
                <a:pathLst>
                  <a:path w="95250" h="76200">
                    <a:moveTo>
                      <a:pt x="0" y="0"/>
                    </a:moveTo>
                    <a:lnTo>
                      <a:pt x="95250" y="0"/>
                    </a:lnTo>
                    <a:lnTo>
                      <a:pt x="95250" y="76200"/>
                    </a:lnTo>
                    <a:lnTo>
                      <a:pt x="0" y="76200"/>
                    </a:lnTo>
                    <a:lnTo>
                      <a:pt x="0" y="0"/>
                    </a:lnTo>
                    <a:close/>
                  </a:path>
                </a:pathLst>
              </a:custGeom>
              <a:solidFill>
                <a:srgbClr val="0B4DA2"/>
              </a:solidFill>
              <a:ln>
                <a:noFill/>
              </a:ln>
              <a:effectLst>
                <a:outerShdw blurRad="190500" dist="38100" dir="10799140" algn="tl" rotWithShape="0">
                  <a:srgbClr val="000000">
                    <a:alpha val="12000"/>
                  </a:srgbClr>
                </a:outerShdw>
              </a:effectLst>
            </p:spPr>
          </p:sp>
          <p:sp>
            <p:nvSpPr>
              <p:cNvPr id="25" name="Freeform 25"/>
              <p:cNvSpPr/>
              <p:nvPr/>
            </p:nvSpPr>
            <p:spPr>
              <a:xfrm>
                <a:off x="6781800" y="1600200"/>
                <a:ext cx="95250" cy="76200"/>
              </a:xfrm>
              <a:custGeom>
                <a:avLst/>
                <a:gdLst/>
                <a:ahLst/>
                <a:cxnLst/>
                <a:rect l="l" t="t" r="r" b="b"/>
                <a:pathLst>
                  <a:path w="95250" h="76200">
                    <a:moveTo>
                      <a:pt x="0" y="0"/>
                    </a:moveTo>
                    <a:lnTo>
                      <a:pt x="95250" y="0"/>
                    </a:lnTo>
                    <a:lnTo>
                      <a:pt x="95250" y="76200"/>
                    </a:lnTo>
                    <a:lnTo>
                      <a:pt x="0" y="76200"/>
                    </a:lnTo>
                    <a:lnTo>
                      <a:pt x="0" y="0"/>
                    </a:lnTo>
                    <a:close/>
                  </a:path>
                </a:pathLst>
              </a:custGeom>
              <a:solidFill>
                <a:srgbClr val="0B4DA2"/>
              </a:solidFill>
              <a:ln>
                <a:noFill/>
              </a:ln>
              <a:effectLst>
                <a:outerShdw blurRad="190500" dist="38100" dir="10799140" algn="tl" rotWithShape="0">
                  <a:srgbClr val="000000">
                    <a:alpha val="12000"/>
                  </a:srgbClr>
                </a:outerShdw>
              </a:effectLst>
            </p:spPr>
          </p:sp>
          <p:sp>
            <p:nvSpPr>
              <p:cNvPr id="26" name="Freeform 26"/>
              <p:cNvSpPr/>
              <p:nvPr/>
            </p:nvSpPr>
            <p:spPr>
              <a:xfrm>
                <a:off x="6781800" y="1485900"/>
                <a:ext cx="95250" cy="76200"/>
              </a:xfrm>
              <a:custGeom>
                <a:avLst/>
                <a:gdLst/>
                <a:ahLst/>
                <a:cxnLst/>
                <a:rect l="l" t="t" r="r" b="b"/>
                <a:pathLst>
                  <a:path w="95250" h="76200">
                    <a:moveTo>
                      <a:pt x="95250" y="0"/>
                    </a:moveTo>
                    <a:lnTo>
                      <a:pt x="0" y="0"/>
                    </a:lnTo>
                    <a:lnTo>
                      <a:pt x="0" y="76200"/>
                    </a:lnTo>
                    <a:lnTo>
                      <a:pt x="95250" y="76200"/>
                    </a:lnTo>
                    <a:lnTo>
                      <a:pt x="95250" y="0"/>
                    </a:lnTo>
                    <a:close/>
                  </a:path>
                </a:pathLst>
              </a:custGeom>
              <a:solidFill>
                <a:srgbClr val="0B4DA2"/>
              </a:solidFill>
              <a:ln>
                <a:noFill/>
              </a:ln>
              <a:effectLst>
                <a:outerShdw blurRad="190500" dist="38100" dir="10799140" algn="tl" rotWithShape="0">
                  <a:srgbClr val="000000">
                    <a:alpha val="12000"/>
                  </a:srgbClr>
                </a:outerShdw>
              </a:effectLst>
            </p:spPr>
          </p:sp>
        </p:grpSp>
        <p:sp>
          <p:nvSpPr>
            <p:cNvPr id="28" name="TextBox 28"/>
            <p:cNvSpPr txBox="1"/>
            <p:nvPr/>
          </p:nvSpPr>
          <p:spPr>
            <a:xfrm>
              <a:off x="7172325" y="1314450"/>
              <a:ext cx="1544788"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0B4DA2"/>
                  </a:solidFill>
                  <a:latin typeface="Arial"/>
                  <a:ea typeface="Microsoft YaHei"/>
                  <a:cs typeface="Arial"/>
                </a:rPr>
                <a:t>Column-Store</a:t>
              </a:r>
            </a:p>
          </p:txBody>
        </p:sp>
        <p:sp>
          <p:nvSpPr>
            <p:cNvPr id="29" name="TextBox 29"/>
            <p:cNvSpPr txBox="1"/>
            <p:nvPr/>
          </p:nvSpPr>
          <p:spPr>
            <a:xfrm>
              <a:off x="7178992" y="1590199"/>
              <a:ext cx="117107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Arial"/>
                  <a:ea typeface="Microsoft YaHei"/>
                  <a:cs typeface="Arial"/>
                </a:rPr>
                <a:t>Lưu trữ theo cột</a:t>
              </a:r>
            </a:p>
          </p:txBody>
        </p:sp>
        <p:sp>
          <p:nvSpPr>
            <p:cNvPr id="30" name="Rectangle 30"/>
            <p:cNvSpPr/>
            <p:nvPr/>
          </p:nvSpPr>
          <p:spPr>
            <a:xfrm>
              <a:off x="6524625" y="1905000"/>
              <a:ext cx="4857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31" name="TextBox 31"/>
            <p:cNvSpPr txBox="1"/>
            <p:nvPr/>
          </p:nvSpPr>
          <p:spPr>
            <a:xfrm>
              <a:off x="6510338" y="2069306"/>
              <a:ext cx="3906202"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Lưu dữ liệu theo cột thay vì hàng. Phù hợp OLAP.</a:t>
              </a:r>
            </a:p>
          </p:txBody>
        </p:sp>
        <p:sp>
          <p:nvSpPr>
            <p:cNvPr id="32" name="TextBox 32"/>
            <p:cNvSpPr txBox="1"/>
            <p:nvPr/>
          </p:nvSpPr>
          <p:spPr>
            <a:xfrm>
              <a:off x="6511290" y="2315528"/>
              <a:ext cx="2879026"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VD: Cassandra, HBase, Google BigTable</a:t>
              </a:r>
            </a:p>
          </p:txBody>
        </p:sp>
        <p:sp>
          <p:nvSpPr>
            <p:cNvPr id="33" name="TextBox 33"/>
            <p:cNvSpPr txBox="1"/>
            <p:nvPr/>
          </p:nvSpPr>
          <p:spPr>
            <a:xfrm>
              <a:off x="6511290" y="2553652"/>
              <a:ext cx="3599783"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Ứng dụng: Phân tích dữ liệu lớn, Data Warehouse</a:t>
              </a:r>
            </a:p>
          </p:txBody>
        </p:sp>
      </p:grpSp>
      <p:grpSp>
        <p:nvGrpSpPr>
          <p:cNvPr id="48" name="Group 48"/>
          <p:cNvGrpSpPr/>
          <p:nvPr/>
        </p:nvGrpSpPr>
        <p:grpSpPr>
          <a:xfrm>
            <a:off x="571500" y="3714750"/>
            <a:ext cx="5381625" cy="2476500"/>
            <a:chOff x="571500" y="3714750"/>
            <a:chExt cx="5381625" cy="2476500"/>
          </a:xfrm>
          <a:effectLst>
            <a:outerShdw blurRad="190500" dist="38100" dir="10799140" algn="tl" rotWithShape="0">
              <a:srgbClr val="000000">
                <a:alpha val="12000"/>
              </a:srgbClr>
            </a:outerShdw>
          </a:effectLst>
        </p:grpSpPr>
        <p:sp>
          <p:nvSpPr>
            <p:cNvPr id="35" name="Freeform 35"/>
            <p:cNvSpPr/>
            <p:nvPr/>
          </p:nvSpPr>
          <p:spPr>
            <a:xfrm>
              <a:off x="571500" y="3714750"/>
              <a:ext cx="5381625" cy="2476500"/>
            </a:xfrm>
            <a:custGeom>
              <a:avLst/>
              <a:gdLst/>
              <a:ahLst/>
              <a:cxnLst/>
              <a:rect l="l" t="t" r="r" b="b"/>
              <a:pathLst>
                <a:path w="5381625" h="2476500">
                  <a:moveTo>
                    <a:pt x="114300" y="0"/>
                  </a:moveTo>
                  <a:lnTo>
                    <a:pt x="5267325" y="0"/>
                  </a:lnTo>
                  <a:cubicBezTo>
                    <a:pt x="5330451" y="0"/>
                    <a:pt x="5381625" y="51174"/>
                    <a:pt x="5381625" y="114300"/>
                  </a:cubicBezTo>
                  <a:lnTo>
                    <a:pt x="5381625" y="2362200"/>
                  </a:lnTo>
                  <a:cubicBezTo>
                    <a:pt x="5381625" y="2425326"/>
                    <a:pt x="5330451" y="2476500"/>
                    <a:pt x="5267325"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6" name="Freeform 36"/>
            <p:cNvSpPr/>
            <p:nvPr/>
          </p:nvSpPr>
          <p:spPr>
            <a:xfrm>
              <a:off x="571500" y="3714750"/>
              <a:ext cx="5381625" cy="57150"/>
            </a:xfrm>
            <a:custGeom>
              <a:avLst/>
              <a:gdLst/>
              <a:ahLst/>
              <a:cxnLst/>
              <a:rect l="l" t="t" r="r" b="b"/>
              <a:pathLst>
                <a:path w="5381625" h="57150">
                  <a:moveTo>
                    <a:pt x="28575" y="0"/>
                  </a:moveTo>
                  <a:lnTo>
                    <a:pt x="5353050" y="0"/>
                  </a:lnTo>
                  <a:cubicBezTo>
                    <a:pt x="5368832" y="0"/>
                    <a:pt x="5381625" y="12793"/>
                    <a:pt x="5381625" y="28575"/>
                  </a:cubicBezTo>
                  <a:lnTo>
                    <a:pt x="5381625" y="28575"/>
                  </a:lnTo>
                  <a:cubicBezTo>
                    <a:pt x="5381625" y="44357"/>
                    <a:pt x="5368832" y="57150"/>
                    <a:pt x="5353050" y="57150"/>
                  </a:cubicBezTo>
                  <a:lnTo>
                    <a:pt x="28575" y="57150"/>
                  </a:lnTo>
                  <a:cubicBezTo>
                    <a:pt x="12793" y="57150"/>
                    <a:pt x="0" y="44357"/>
                    <a:pt x="0" y="28575"/>
                  </a:cubicBezTo>
                  <a:lnTo>
                    <a:pt x="0" y="28575"/>
                  </a:lnTo>
                  <a:cubicBezTo>
                    <a:pt x="0" y="12793"/>
                    <a:pt x="12793" y="0"/>
                    <a:pt x="28575" y="0"/>
                  </a:cubicBezTo>
                  <a:close/>
                </a:path>
              </a:pathLst>
            </a:custGeom>
            <a:solidFill>
              <a:srgbClr val="006AF9"/>
            </a:solidFill>
            <a:ln>
              <a:noFill/>
            </a:ln>
            <a:effectLst>
              <a:outerShdw blurRad="190500" dist="38100" dir="10799140" algn="tl" rotWithShape="0">
                <a:srgbClr val="000000">
                  <a:alpha val="12000"/>
                </a:srgbClr>
              </a:outerShdw>
            </a:effectLst>
          </p:spPr>
        </p:sp>
        <p:sp>
          <p:nvSpPr>
            <p:cNvPr id="37" name="Ellipse 37"/>
            <p:cNvSpPr/>
            <p:nvPr/>
          </p:nvSpPr>
          <p:spPr>
            <a:xfrm>
              <a:off x="809625" y="4000500"/>
              <a:ext cx="571500" cy="571500"/>
            </a:xfrm>
            <a:prstGeom prst="ellipse">
              <a:avLst/>
            </a:prstGeom>
            <a:solidFill>
              <a:srgbClr val="006AF9">
                <a:alpha val="10000"/>
              </a:srgbClr>
            </a:solidFill>
            <a:ln>
              <a:noFill/>
            </a:ln>
            <a:effectLst>
              <a:outerShdw blurRad="190500" dist="38100" dir="10799140" algn="tl" rotWithShape="0">
                <a:srgbClr val="000000">
                  <a:alpha val="12000"/>
                </a:srgbClr>
              </a:outerShdw>
            </a:effectLst>
          </p:spPr>
        </p:sp>
        <p:grpSp>
          <p:nvGrpSpPr>
            <p:cNvPr id="41" name="Group 41"/>
            <p:cNvGrpSpPr/>
            <p:nvPr/>
          </p:nvGrpSpPr>
          <p:grpSpPr>
            <a:xfrm>
              <a:off x="942975" y="4150206"/>
              <a:ext cx="304800" cy="272088"/>
              <a:chOff x="942975" y="4150206"/>
              <a:chExt cx="304800" cy="272088"/>
            </a:xfrm>
          </p:grpSpPr>
          <p:sp>
            <p:nvSpPr>
              <p:cNvPr id="38" name="Freeform 38"/>
              <p:cNvSpPr/>
              <p:nvPr/>
            </p:nvSpPr>
            <p:spPr>
              <a:xfrm>
                <a:off x="1057466" y="4150206"/>
                <a:ext cx="75817" cy="272088"/>
              </a:xfrm>
              <a:custGeom>
                <a:avLst/>
                <a:gdLst/>
                <a:ahLst/>
                <a:cxnLst/>
                <a:rect l="l" t="t" r="r" b="b"/>
                <a:pathLst>
                  <a:path w="75817" h="272088">
                    <a:moveTo>
                      <a:pt x="38100" y="0"/>
                    </a:moveTo>
                    <a:lnTo>
                      <a:pt x="0" y="266700"/>
                    </a:lnTo>
                    <a:lnTo>
                      <a:pt x="37717" y="272088"/>
                    </a:lnTo>
                    <a:lnTo>
                      <a:pt x="75817" y="5388"/>
                    </a:lnTo>
                    <a:lnTo>
                      <a:pt x="38100" y="0"/>
                    </a:lnTo>
                    <a:close/>
                  </a:path>
                </a:pathLst>
              </a:custGeom>
              <a:solidFill>
                <a:srgbClr val="006AF9"/>
              </a:solidFill>
              <a:ln>
                <a:noFill/>
              </a:ln>
              <a:effectLst>
                <a:outerShdw blurRad="190500" dist="38100" dir="10799140" algn="tl" rotWithShape="0">
                  <a:srgbClr val="000000">
                    <a:alpha val="12000"/>
                  </a:srgbClr>
                </a:outerShdw>
              </a:effectLst>
            </p:spPr>
          </p:sp>
          <p:sp>
            <p:nvSpPr>
              <p:cNvPr id="39" name="Freeform 39"/>
              <p:cNvSpPr/>
              <p:nvPr/>
            </p:nvSpPr>
            <p:spPr>
              <a:xfrm>
                <a:off x="1154159" y="4219575"/>
                <a:ext cx="93616" cy="133350"/>
              </a:xfrm>
              <a:custGeom>
                <a:avLst/>
                <a:gdLst/>
                <a:ahLst/>
                <a:cxnLst/>
                <a:rect l="l" t="t" r="r" b="b"/>
                <a:pathLst>
                  <a:path w="93616" h="133350">
                    <a:moveTo>
                      <a:pt x="26941" y="133350"/>
                    </a:moveTo>
                    <a:lnTo>
                      <a:pt x="0" y="106409"/>
                    </a:lnTo>
                    <a:lnTo>
                      <a:pt x="39734" y="66675"/>
                    </a:lnTo>
                    <a:lnTo>
                      <a:pt x="0" y="26941"/>
                    </a:lnTo>
                    <a:lnTo>
                      <a:pt x="26941" y="0"/>
                    </a:lnTo>
                    <a:lnTo>
                      <a:pt x="93616" y="66675"/>
                    </a:lnTo>
                    <a:lnTo>
                      <a:pt x="26941" y="133350"/>
                    </a:lnTo>
                    <a:close/>
                  </a:path>
                </a:pathLst>
              </a:custGeom>
              <a:solidFill>
                <a:srgbClr val="006AF9"/>
              </a:solidFill>
              <a:ln>
                <a:noFill/>
              </a:ln>
              <a:effectLst>
                <a:outerShdw blurRad="190500" dist="38100" dir="10799140" algn="tl" rotWithShape="0">
                  <a:srgbClr val="000000">
                    <a:alpha val="12000"/>
                  </a:srgbClr>
                </a:outerShdw>
              </a:effectLst>
            </p:spPr>
          </p:sp>
          <p:sp>
            <p:nvSpPr>
              <p:cNvPr id="40" name="Freeform 40"/>
              <p:cNvSpPr/>
              <p:nvPr/>
            </p:nvSpPr>
            <p:spPr>
              <a:xfrm>
                <a:off x="942975" y="4219575"/>
                <a:ext cx="93616" cy="133350"/>
              </a:xfrm>
              <a:custGeom>
                <a:avLst/>
                <a:gdLst/>
                <a:ahLst/>
                <a:cxnLst/>
                <a:rect l="l" t="t" r="r" b="b"/>
                <a:pathLst>
                  <a:path w="93616" h="133350">
                    <a:moveTo>
                      <a:pt x="53882" y="66675"/>
                    </a:moveTo>
                    <a:lnTo>
                      <a:pt x="93616" y="106409"/>
                    </a:lnTo>
                    <a:lnTo>
                      <a:pt x="66675" y="133350"/>
                    </a:lnTo>
                    <a:lnTo>
                      <a:pt x="0" y="66675"/>
                    </a:lnTo>
                    <a:lnTo>
                      <a:pt x="66675" y="0"/>
                    </a:lnTo>
                    <a:lnTo>
                      <a:pt x="93616" y="26941"/>
                    </a:lnTo>
                    <a:lnTo>
                      <a:pt x="53882" y="66675"/>
                    </a:lnTo>
                    <a:close/>
                  </a:path>
                </a:pathLst>
              </a:custGeom>
              <a:solidFill>
                <a:srgbClr val="006AF9"/>
              </a:solidFill>
              <a:ln>
                <a:noFill/>
              </a:ln>
              <a:effectLst>
                <a:outerShdw blurRad="190500" dist="38100" dir="10799140" algn="tl" rotWithShape="0">
                  <a:srgbClr val="000000">
                    <a:alpha val="12000"/>
                  </a:srgbClr>
                </a:outerShdw>
              </a:effectLst>
            </p:spPr>
          </p:sp>
        </p:grpSp>
        <p:sp>
          <p:nvSpPr>
            <p:cNvPr id="42" name="TextBox 42"/>
            <p:cNvSpPr txBox="1"/>
            <p:nvPr/>
          </p:nvSpPr>
          <p:spPr>
            <a:xfrm>
              <a:off x="1504950" y="4076700"/>
              <a:ext cx="2177367"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006AF9"/>
                  </a:solidFill>
                  <a:latin typeface="Arial"/>
                  <a:ea typeface="Microsoft YaHei"/>
                  <a:cs typeface="Arial"/>
                </a:rPr>
                <a:t>Document Database</a:t>
              </a:r>
            </a:p>
          </p:txBody>
        </p:sp>
        <p:sp>
          <p:nvSpPr>
            <p:cNvPr id="43" name="TextBox 43"/>
            <p:cNvSpPr txBox="1"/>
            <p:nvPr/>
          </p:nvSpPr>
          <p:spPr>
            <a:xfrm>
              <a:off x="1511618" y="4352449"/>
              <a:ext cx="123515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B4DA2"/>
                  </a:solidFill>
                  <a:latin typeface="Arial"/>
                  <a:ea typeface="Microsoft YaHei"/>
                  <a:cs typeface="Arial"/>
                </a:rPr>
                <a:t>Lưu trữ document</a:t>
              </a:r>
            </a:p>
          </p:txBody>
        </p:sp>
        <p:sp>
          <p:nvSpPr>
            <p:cNvPr id="44" name="Rectangle 44"/>
            <p:cNvSpPr/>
            <p:nvPr/>
          </p:nvSpPr>
          <p:spPr>
            <a:xfrm>
              <a:off x="857250" y="4667250"/>
              <a:ext cx="4857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45" name="TextBox 45"/>
            <p:cNvSpPr txBox="1"/>
            <p:nvPr/>
          </p:nvSpPr>
          <p:spPr>
            <a:xfrm>
              <a:off x="842962" y="4831556"/>
              <a:ext cx="4341614"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Lưu dữ liệu dạng JSON, XML, YAML. Truy vấn linh hoạt.</a:t>
              </a:r>
            </a:p>
          </p:txBody>
        </p:sp>
        <p:sp>
          <p:nvSpPr>
            <p:cNvPr id="46" name="TextBox 46"/>
            <p:cNvSpPr txBox="1"/>
            <p:nvPr/>
          </p:nvSpPr>
          <p:spPr>
            <a:xfrm>
              <a:off x="843915" y="5077778"/>
              <a:ext cx="3469434"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VD: MongoDB, CouchDB, Microsoft DocumentDB</a:t>
              </a:r>
            </a:p>
          </p:txBody>
        </p:sp>
        <p:sp>
          <p:nvSpPr>
            <p:cNvPr id="47" name="TextBox 47"/>
            <p:cNvSpPr txBox="1"/>
            <p:nvPr/>
          </p:nvSpPr>
          <p:spPr>
            <a:xfrm>
              <a:off x="843915" y="5315902"/>
              <a:ext cx="3086052"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Ứng dụng: CMS, E-commerce, Mobile apps</a:t>
              </a:r>
            </a:p>
          </p:txBody>
        </p:sp>
      </p:grpSp>
      <p:grpSp>
        <p:nvGrpSpPr>
          <p:cNvPr id="63" name="Group 63"/>
          <p:cNvGrpSpPr/>
          <p:nvPr/>
        </p:nvGrpSpPr>
        <p:grpSpPr>
          <a:xfrm>
            <a:off x="6238875" y="3714750"/>
            <a:ext cx="5381625" cy="2476500"/>
            <a:chOff x="6238875" y="3714750"/>
            <a:chExt cx="5381625" cy="2476500"/>
          </a:xfrm>
          <a:effectLst>
            <a:outerShdw blurRad="190500" dist="38100" dir="10799140" algn="tl" rotWithShape="0">
              <a:srgbClr val="000000">
                <a:alpha val="12000"/>
              </a:srgbClr>
            </a:outerShdw>
          </a:effectLst>
        </p:grpSpPr>
        <p:sp>
          <p:nvSpPr>
            <p:cNvPr id="49" name="Freeform 49"/>
            <p:cNvSpPr/>
            <p:nvPr/>
          </p:nvSpPr>
          <p:spPr>
            <a:xfrm>
              <a:off x="6238875" y="3714750"/>
              <a:ext cx="5381625" cy="2476500"/>
            </a:xfrm>
            <a:custGeom>
              <a:avLst/>
              <a:gdLst/>
              <a:ahLst/>
              <a:cxnLst/>
              <a:rect l="l" t="t" r="r" b="b"/>
              <a:pathLst>
                <a:path w="5381625" h="2476500">
                  <a:moveTo>
                    <a:pt x="114300" y="0"/>
                  </a:moveTo>
                  <a:lnTo>
                    <a:pt x="5267325" y="0"/>
                  </a:lnTo>
                  <a:cubicBezTo>
                    <a:pt x="5330451" y="0"/>
                    <a:pt x="5381625" y="51174"/>
                    <a:pt x="5381625" y="114300"/>
                  </a:cubicBezTo>
                  <a:lnTo>
                    <a:pt x="5381625" y="2362200"/>
                  </a:lnTo>
                  <a:cubicBezTo>
                    <a:pt x="5381625" y="2425326"/>
                    <a:pt x="5330451" y="2476500"/>
                    <a:pt x="5267325"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50" name="Freeform 50"/>
            <p:cNvSpPr/>
            <p:nvPr/>
          </p:nvSpPr>
          <p:spPr>
            <a:xfrm>
              <a:off x="6238875" y="3714750"/>
              <a:ext cx="5381625" cy="57150"/>
            </a:xfrm>
            <a:custGeom>
              <a:avLst/>
              <a:gdLst/>
              <a:ahLst/>
              <a:cxnLst/>
              <a:rect l="l" t="t" r="r" b="b"/>
              <a:pathLst>
                <a:path w="5381625" h="57150">
                  <a:moveTo>
                    <a:pt x="28575" y="0"/>
                  </a:moveTo>
                  <a:lnTo>
                    <a:pt x="5353050" y="0"/>
                  </a:lnTo>
                  <a:cubicBezTo>
                    <a:pt x="5368832" y="0"/>
                    <a:pt x="5381625" y="12793"/>
                    <a:pt x="5381625" y="28575"/>
                  </a:cubicBezTo>
                  <a:lnTo>
                    <a:pt x="5381625" y="28575"/>
                  </a:lnTo>
                  <a:cubicBezTo>
                    <a:pt x="5381625" y="44357"/>
                    <a:pt x="5368832" y="57150"/>
                    <a:pt x="5353050" y="57150"/>
                  </a:cubicBezTo>
                  <a:lnTo>
                    <a:pt x="28575" y="57150"/>
                  </a:lnTo>
                  <a:cubicBezTo>
                    <a:pt x="12793" y="57150"/>
                    <a:pt x="0" y="44357"/>
                    <a:pt x="0" y="28575"/>
                  </a:cubicBezTo>
                  <a:lnTo>
                    <a:pt x="0" y="28575"/>
                  </a:lnTo>
                  <a:cubicBezTo>
                    <a:pt x="0" y="12793"/>
                    <a:pt x="12793" y="0"/>
                    <a:pt x="28575" y="0"/>
                  </a:cubicBezTo>
                  <a:close/>
                </a:path>
              </a:pathLst>
            </a:custGeom>
            <a:solidFill>
              <a:srgbClr val="2E7D32"/>
            </a:solidFill>
            <a:ln>
              <a:noFill/>
            </a:ln>
            <a:effectLst>
              <a:outerShdw blurRad="190500" dist="38100" dir="10799140" algn="tl" rotWithShape="0">
                <a:srgbClr val="000000">
                  <a:alpha val="12000"/>
                </a:srgbClr>
              </a:outerShdw>
            </a:effectLst>
          </p:spPr>
        </p:sp>
        <p:sp>
          <p:nvSpPr>
            <p:cNvPr id="51" name="Ellipse 51"/>
            <p:cNvSpPr/>
            <p:nvPr/>
          </p:nvSpPr>
          <p:spPr>
            <a:xfrm>
              <a:off x="6477000" y="4000500"/>
              <a:ext cx="571500" cy="571500"/>
            </a:xfrm>
            <a:prstGeom prst="ellipse">
              <a:avLst/>
            </a:prstGeom>
            <a:solidFill>
              <a:srgbClr val="2E7D32">
                <a:alpha val="10000"/>
              </a:srgbClr>
            </a:solidFill>
            <a:ln>
              <a:noFill/>
            </a:ln>
            <a:effectLst>
              <a:outerShdw blurRad="190500" dist="38100" dir="10799140" algn="tl" rotWithShape="0">
                <a:srgbClr val="000000">
                  <a:alpha val="12000"/>
                </a:srgbClr>
              </a:outerShdw>
            </a:effectLst>
          </p:spPr>
        </p:sp>
        <p:grpSp>
          <p:nvGrpSpPr>
            <p:cNvPr id="56" name="Group 56"/>
            <p:cNvGrpSpPr/>
            <p:nvPr/>
          </p:nvGrpSpPr>
          <p:grpSpPr>
            <a:xfrm>
              <a:off x="6611529" y="4133850"/>
              <a:ext cx="302442" cy="304800"/>
              <a:chOff x="6611529" y="4133850"/>
              <a:chExt cx="302442" cy="304800"/>
            </a:xfrm>
          </p:grpSpPr>
          <p:sp>
            <p:nvSpPr>
              <p:cNvPr id="52" name="Freeform 52"/>
              <p:cNvSpPr/>
              <p:nvPr/>
            </p:nvSpPr>
            <p:spPr>
              <a:xfrm>
                <a:off x="6611529" y="4196868"/>
                <a:ext cx="302442" cy="70332"/>
              </a:xfrm>
              <a:custGeom>
                <a:avLst/>
                <a:gdLst/>
                <a:ahLst/>
                <a:cxnLst/>
                <a:rect l="l" t="t" r="r" b="b"/>
                <a:pathLst>
                  <a:path w="302442" h="70332">
                    <a:moveTo>
                      <a:pt x="27771" y="0"/>
                    </a:moveTo>
                    <a:cubicBezTo>
                      <a:pt x="13078" y="20258"/>
                      <a:pt x="3249" y="44274"/>
                      <a:pt x="0" y="70332"/>
                    </a:cubicBezTo>
                    <a:lnTo>
                      <a:pt x="302442" y="70332"/>
                    </a:lnTo>
                    <a:cubicBezTo>
                      <a:pt x="299192" y="44274"/>
                      <a:pt x="289364" y="20258"/>
                      <a:pt x="274671" y="0"/>
                    </a:cubicBezTo>
                    <a:cubicBezTo>
                      <a:pt x="273878" y="444"/>
                      <a:pt x="273074" y="888"/>
                      <a:pt x="272261" y="1331"/>
                    </a:cubicBezTo>
                    <a:cubicBezTo>
                      <a:pt x="243964" y="16766"/>
                      <a:pt x="202742" y="32232"/>
                      <a:pt x="151220" y="32232"/>
                    </a:cubicBezTo>
                    <a:cubicBezTo>
                      <a:pt x="99700" y="32232"/>
                      <a:pt x="58476" y="16766"/>
                      <a:pt x="30179" y="1331"/>
                    </a:cubicBezTo>
                    <a:cubicBezTo>
                      <a:pt x="29366" y="888"/>
                      <a:pt x="28563" y="444"/>
                      <a:pt x="27771" y="0"/>
                    </a:cubicBezTo>
                    <a:close/>
                  </a:path>
                </a:pathLst>
              </a:custGeom>
              <a:solidFill>
                <a:srgbClr val="2E7D32"/>
              </a:solidFill>
              <a:ln>
                <a:noFill/>
              </a:ln>
              <a:effectLst>
                <a:outerShdw blurRad="190500" dist="38100" dir="10799140" algn="tl" rotWithShape="0">
                  <a:srgbClr val="000000">
                    <a:alpha val="12000"/>
                  </a:srgbClr>
                </a:outerShdw>
              </a:effectLst>
            </p:spPr>
          </p:sp>
          <p:sp>
            <p:nvSpPr>
              <p:cNvPr id="53" name="Freeform 53"/>
              <p:cNvSpPr/>
              <p:nvPr/>
            </p:nvSpPr>
            <p:spPr>
              <a:xfrm>
                <a:off x="6666429" y="4133850"/>
                <a:ext cx="192642" cy="57150"/>
              </a:xfrm>
              <a:custGeom>
                <a:avLst/>
                <a:gdLst/>
                <a:ahLst/>
                <a:cxnLst/>
                <a:rect l="l" t="t" r="r" b="b"/>
                <a:pathLst>
                  <a:path w="192642" h="57150">
                    <a:moveTo>
                      <a:pt x="192642" y="34292"/>
                    </a:moveTo>
                    <a:cubicBezTo>
                      <a:pt x="168929" y="46205"/>
                      <a:pt x="136279" y="57150"/>
                      <a:pt x="96321" y="57150"/>
                    </a:cubicBezTo>
                    <a:cubicBezTo>
                      <a:pt x="56363" y="57150"/>
                      <a:pt x="23714" y="46206"/>
                      <a:pt x="0" y="34292"/>
                    </a:cubicBezTo>
                    <a:cubicBezTo>
                      <a:pt x="26253" y="12857"/>
                      <a:pt x="59786" y="0"/>
                      <a:pt x="96321" y="0"/>
                    </a:cubicBezTo>
                    <a:cubicBezTo>
                      <a:pt x="132857" y="0"/>
                      <a:pt x="166389" y="12856"/>
                      <a:pt x="192642" y="34292"/>
                    </a:cubicBezTo>
                    <a:close/>
                  </a:path>
                </a:pathLst>
              </a:custGeom>
              <a:solidFill>
                <a:srgbClr val="2E7D32"/>
              </a:solidFill>
              <a:ln>
                <a:noFill/>
              </a:ln>
              <a:effectLst>
                <a:outerShdw blurRad="190500" dist="38100" dir="10799140" algn="tl" rotWithShape="0">
                  <a:srgbClr val="000000">
                    <a:alpha val="12000"/>
                  </a:srgbClr>
                </a:outerShdw>
              </a:effectLst>
            </p:spPr>
          </p:sp>
          <p:sp>
            <p:nvSpPr>
              <p:cNvPr id="54" name="Freeform 54"/>
              <p:cNvSpPr/>
              <p:nvPr/>
            </p:nvSpPr>
            <p:spPr>
              <a:xfrm>
                <a:off x="6611529" y="4305300"/>
                <a:ext cx="302442" cy="70333"/>
              </a:xfrm>
              <a:custGeom>
                <a:avLst/>
                <a:gdLst/>
                <a:ahLst/>
                <a:cxnLst/>
                <a:rect l="l" t="t" r="r" b="b"/>
                <a:pathLst>
                  <a:path w="302442" h="70333">
                    <a:moveTo>
                      <a:pt x="0" y="0"/>
                    </a:moveTo>
                    <a:cubicBezTo>
                      <a:pt x="3249" y="26058"/>
                      <a:pt x="13078" y="50075"/>
                      <a:pt x="27771" y="70333"/>
                    </a:cubicBezTo>
                    <a:cubicBezTo>
                      <a:pt x="28563" y="69889"/>
                      <a:pt x="29367" y="69445"/>
                      <a:pt x="30180" y="69001"/>
                    </a:cubicBezTo>
                    <a:cubicBezTo>
                      <a:pt x="58476" y="53567"/>
                      <a:pt x="99700" y="38100"/>
                      <a:pt x="151221" y="38100"/>
                    </a:cubicBezTo>
                    <a:cubicBezTo>
                      <a:pt x="202742" y="38100"/>
                      <a:pt x="243966" y="53567"/>
                      <a:pt x="272261" y="69001"/>
                    </a:cubicBezTo>
                    <a:cubicBezTo>
                      <a:pt x="273076" y="69445"/>
                      <a:pt x="273878" y="69889"/>
                      <a:pt x="274671" y="70333"/>
                    </a:cubicBezTo>
                    <a:cubicBezTo>
                      <a:pt x="289364" y="50075"/>
                      <a:pt x="299192" y="26058"/>
                      <a:pt x="302442" y="0"/>
                    </a:cubicBezTo>
                    <a:lnTo>
                      <a:pt x="0" y="0"/>
                    </a:lnTo>
                    <a:close/>
                  </a:path>
                </a:pathLst>
              </a:custGeom>
              <a:solidFill>
                <a:srgbClr val="2E7D32"/>
              </a:solidFill>
              <a:ln>
                <a:noFill/>
              </a:ln>
              <a:effectLst>
                <a:outerShdw blurRad="190500" dist="38100" dir="10799140" algn="tl" rotWithShape="0">
                  <a:srgbClr val="000000">
                    <a:alpha val="12000"/>
                  </a:srgbClr>
                </a:outerShdw>
              </a:effectLst>
            </p:spPr>
          </p:sp>
          <p:sp>
            <p:nvSpPr>
              <p:cNvPr id="55" name="Freeform 55"/>
              <p:cNvSpPr/>
              <p:nvPr/>
            </p:nvSpPr>
            <p:spPr>
              <a:xfrm>
                <a:off x="6666429" y="4381500"/>
                <a:ext cx="192642" cy="57150"/>
              </a:xfrm>
              <a:custGeom>
                <a:avLst/>
                <a:gdLst/>
                <a:ahLst/>
                <a:cxnLst/>
                <a:rect l="l" t="t" r="r" b="b"/>
                <a:pathLst>
                  <a:path w="192642" h="57150">
                    <a:moveTo>
                      <a:pt x="96321" y="57150"/>
                    </a:moveTo>
                    <a:cubicBezTo>
                      <a:pt x="59786" y="57150"/>
                      <a:pt x="26253" y="44293"/>
                      <a:pt x="0" y="22858"/>
                    </a:cubicBezTo>
                    <a:cubicBezTo>
                      <a:pt x="23714" y="10944"/>
                      <a:pt x="56364" y="0"/>
                      <a:pt x="96321" y="0"/>
                    </a:cubicBezTo>
                    <a:cubicBezTo>
                      <a:pt x="136279" y="0"/>
                      <a:pt x="168928" y="10944"/>
                      <a:pt x="192642" y="22858"/>
                    </a:cubicBezTo>
                    <a:cubicBezTo>
                      <a:pt x="166389" y="44293"/>
                      <a:pt x="132857" y="57150"/>
                      <a:pt x="96321" y="57150"/>
                    </a:cubicBezTo>
                    <a:close/>
                  </a:path>
                </a:pathLst>
              </a:custGeom>
              <a:solidFill>
                <a:srgbClr val="2E7D32"/>
              </a:solidFill>
              <a:ln>
                <a:noFill/>
              </a:ln>
              <a:effectLst>
                <a:outerShdw blurRad="190500" dist="38100" dir="10799140" algn="tl" rotWithShape="0">
                  <a:srgbClr val="000000">
                    <a:alpha val="12000"/>
                  </a:srgbClr>
                </a:outerShdw>
              </a:effectLst>
            </p:spPr>
          </p:sp>
        </p:grpSp>
        <p:sp>
          <p:nvSpPr>
            <p:cNvPr id="57" name="TextBox 57"/>
            <p:cNvSpPr txBox="1"/>
            <p:nvPr/>
          </p:nvSpPr>
          <p:spPr>
            <a:xfrm>
              <a:off x="7172325" y="4076700"/>
              <a:ext cx="1751814"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2E7D32"/>
                  </a:solidFill>
                  <a:latin typeface="Arial"/>
                  <a:ea typeface="Microsoft YaHei"/>
                  <a:cs typeface="Arial"/>
                </a:rPr>
                <a:t>Graph Database</a:t>
              </a:r>
            </a:p>
          </p:txBody>
        </p:sp>
        <p:sp>
          <p:nvSpPr>
            <p:cNvPr id="58" name="TextBox 58"/>
            <p:cNvSpPr txBox="1"/>
            <p:nvPr/>
          </p:nvSpPr>
          <p:spPr>
            <a:xfrm>
              <a:off x="7178992" y="4352449"/>
              <a:ext cx="134195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Arial"/>
                  <a:ea typeface="Microsoft YaHei"/>
                  <a:cs typeface="Arial"/>
                </a:rPr>
                <a:t>Cơ sở dữ liệu đồ thị</a:t>
              </a:r>
            </a:p>
          </p:txBody>
        </p:sp>
        <p:sp>
          <p:nvSpPr>
            <p:cNvPr id="59" name="Rectangle 59"/>
            <p:cNvSpPr/>
            <p:nvPr/>
          </p:nvSpPr>
          <p:spPr>
            <a:xfrm>
              <a:off x="6524625" y="4667250"/>
              <a:ext cx="4857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60" name="TextBox 60"/>
            <p:cNvSpPr txBox="1"/>
            <p:nvPr/>
          </p:nvSpPr>
          <p:spPr>
            <a:xfrm>
              <a:off x="6510338" y="4831556"/>
              <a:ext cx="3175040"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Lưu Node (thực thể) và Edge (quan hệ).</a:t>
              </a:r>
            </a:p>
          </p:txBody>
        </p:sp>
        <p:sp>
          <p:nvSpPr>
            <p:cNvPr id="61" name="TextBox 61"/>
            <p:cNvSpPr txBox="1"/>
            <p:nvPr/>
          </p:nvSpPr>
          <p:spPr>
            <a:xfrm>
              <a:off x="6511290" y="5077778"/>
              <a:ext cx="2656665"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VD: Neo4J, InfiniteGraph, OrientDB</a:t>
              </a:r>
            </a:p>
          </p:txBody>
        </p:sp>
        <p:sp>
          <p:nvSpPr>
            <p:cNvPr id="62" name="TextBox 62"/>
            <p:cNvSpPr txBox="1"/>
            <p:nvPr/>
          </p:nvSpPr>
          <p:spPr>
            <a:xfrm>
              <a:off x="6511290" y="5315902"/>
              <a:ext cx="2971038"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Ứng dụng: Mạng xã hội, Recommendation</a:t>
              </a:r>
            </a:p>
          </p:txBody>
        </p:sp>
      </p:grpSp>
      <p:sp>
        <p:nvSpPr>
          <p:cNvPr id="64" name="TextBox 64"/>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12 / 25</a:t>
            </a:r>
          </a:p>
        </p:txBody>
      </p:sp>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5876087"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3.8 Khi nào dùng Redis vs RDBMS?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grpSp>
        <p:nvGrpSpPr>
          <p:cNvPr id="10" name="Group 10"/>
          <p:cNvGrpSpPr/>
          <p:nvPr/>
        </p:nvGrpSpPr>
        <p:grpSpPr>
          <a:xfrm>
            <a:off x="571500" y="952500"/>
            <a:ext cx="5334000" cy="5048250"/>
            <a:chOff x="571500" y="952500"/>
            <a:chExt cx="5334000" cy="5048250"/>
          </a:xfrm>
          <a:effectLst>
            <a:outerShdw blurRad="190500" dist="38100" dir="10799140" algn="tl" rotWithShape="0">
              <a:srgbClr val="000000">
                <a:alpha val="12000"/>
              </a:srgbClr>
            </a:outerShdw>
          </a:effectLst>
        </p:grpSpPr>
        <p:sp>
          <p:nvSpPr>
            <p:cNvPr id="6" name="Freeform 6"/>
            <p:cNvSpPr/>
            <p:nvPr/>
          </p:nvSpPr>
          <p:spPr>
            <a:xfrm>
              <a:off x="571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52500"/>
              <a:ext cx="5334000" cy="523875"/>
            </a:xfrm>
            <a:custGeom>
              <a:avLst/>
              <a:gdLst/>
              <a:ahLst/>
              <a:cxnLst/>
              <a:rect l="l" t="t" r="r" b="b"/>
              <a:pathLst>
                <a:path w="5334000" h="523875">
                  <a:moveTo>
                    <a:pt x="114300" y="0"/>
                  </a:moveTo>
                  <a:lnTo>
                    <a:pt x="5219700" y="0"/>
                  </a:lnTo>
                  <a:cubicBezTo>
                    <a:pt x="5282826" y="0"/>
                    <a:pt x="5334000" y="51174"/>
                    <a:pt x="5334000" y="114300"/>
                  </a:cubicBezTo>
                  <a:lnTo>
                    <a:pt x="5334000" y="409575"/>
                  </a:lnTo>
                  <a:cubicBezTo>
                    <a:pt x="5334000" y="472701"/>
                    <a:pt x="5282826" y="523875"/>
                    <a:pt x="5219700" y="523875"/>
                  </a:cubicBezTo>
                  <a:lnTo>
                    <a:pt x="114300" y="523875"/>
                  </a:lnTo>
                  <a:cubicBezTo>
                    <a:pt x="51174" y="523875"/>
                    <a:pt x="0" y="472701"/>
                    <a:pt x="0" y="409575"/>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8" name="Rectangle 8"/>
            <p:cNvSpPr/>
            <p:nvPr/>
          </p:nvSpPr>
          <p:spPr>
            <a:xfrm>
              <a:off x="571500" y="1362075"/>
              <a:ext cx="5334000" cy="114300"/>
            </a:xfrm>
            <a:prstGeom prst="rect">
              <a:avLst/>
            </a:prstGeom>
            <a:solidFill>
              <a:srgbClr val="D12B1F"/>
            </a:solidFill>
            <a:ln>
              <a:noFill/>
            </a:ln>
            <a:effectLst>
              <a:outerShdw blurRad="190500" dist="38100" dir="10799140" algn="tl" rotWithShape="0">
                <a:srgbClr val="000000">
                  <a:alpha val="12000"/>
                </a:srgbClr>
              </a:outerShdw>
            </a:effectLst>
          </p:spPr>
        </p:sp>
        <p:sp>
          <p:nvSpPr>
            <p:cNvPr id="9" name="TextBox 9"/>
            <p:cNvSpPr txBox="1"/>
            <p:nvPr/>
          </p:nvSpPr>
          <p:spPr>
            <a:xfrm>
              <a:off x="2420100" y="1123950"/>
              <a:ext cx="1636800"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500" b="1" dirty="0">
                  <a:solidFill>
                    <a:srgbClr val="FFFFFF"/>
                  </a:solidFill>
                  <a:latin typeface="Arial"/>
                  <a:ea typeface="Microsoft YaHei"/>
                  <a:cs typeface="Arial"/>
                </a:rPr>
                <a:t>Nên dùng Redis</a:t>
              </a:r>
            </a:p>
          </p:txBody>
        </p:sp>
      </p:grpSp>
      <p:grpSp>
        <p:nvGrpSpPr>
          <p:cNvPr id="14" name="Group 14"/>
          <p:cNvGrpSpPr/>
          <p:nvPr/>
        </p:nvGrpSpPr>
        <p:grpSpPr>
          <a:xfrm>
            <a:off x="895350" y="1704975"/>
            <a:ext cx="1757839" cy="321469"/>
            <a:chOff x="895350" y="1704975"/>
            <a:chExt cx="1757839" cy="321469"/>
          </a:xfrm>
        </p:grpSpPr>
        <p:sp>
          <p:nvSpPr>
            <p:cNvPr id="11" name="Ellipse 11"/>
            <p:cNvSpPr/>
            <p:nvPr/>
          </p:nvSpPr>
          <p:spPr>
            <a:xfrm>
              <a:off x="895350" y="1704975"/>
              <a:ext cx="304800" cy="304800"/>
            </a:xfrm>
            <a:prstGeom prst="ellipse">
              <a:avLst/>
            </a:prstGeom>
            <a:solidFill>
              <a:srgbClr val="2E7D32">
                <a:alpha val="10000"/>
              </a:srgbClr>
            </a:solidFill>
            <a:ln>
              <a:noFill/>
            </a:ln>
          </p:spPr>
        </p:sp>
        <p:sp>
          <p:nvSpPr>
            <p:cNvPr id="12" name="TextBox 12"/>
            <p:cNvSpPr txBox="1"/>
            <p:nvPr/>
          </p:nvSpPr>
          <p:spPr>
            <a:xfrm>
              <a:off x="984314" y="177546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13" name="TextBox 13"/>
            <p:cNvSpPr txBox="1"/>
            <p:nvPr/>
          </p:nvSpPr>
          <p:spPr>
            <a:xfrm>
              <a:off x="1317308" y="1767364"/>
              <a:ext cx="1335881"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Caching dữ liệu</a:t>
              </a:r>
            </a:p>
          </p:txBody>
        </p:sp>
      </p:grpSp>
      <p:grpSp>
        <p:nvGrpSpPr>
          <p:cNvPr id="18" name="Group 18"/>
          <p:cNvGrpSpPr/>
          <p:nvPr/>
        </p:nvGrpSpPr>
        <p:grpSpPr>
          <a:xfrm>
            <a:off x="895350" y="2181225"/>
            <a:ext cx="2279238" cy="321469"/>
            <a:chOff x="895350" y="2181225"/>
            <a:chExt cx="2279238" cy="321469"/>
          </a:xfrm>
        </p:grpSpPr>
        <p:sp>
          <p:nvSpPr>
            <p:cNvPr id="15" name="Ellipse 15"/>
            <p:cNvSpPr/>
            <p:nvPr/>
          </p:nvSpPr>
          <p:spPr>
            <a:xfrm>
              <a:off x="895350" y="2181225"/>
              <a:ext cx="304800" cy="304800"/>
            </a:xfrm>
            <a:prstGeom prst="ellipse">
              <a:avLst/>
            </a:prstGeom>
            <a:solidFill>
              <a:srgbClr val="2E7D32">
                <a:alpha val="10000"/>
              </a:srgbClr>
            </a:solidFill>
            <a:ln>
              <a:noFill/>
            </a:ln>
          </p:spPr>
        </p:sp>
        <p:sp>
          <p:nvSpPr>
            <p:cNvPr id="16" name="TextBox 16"/>
            <p:cNvSpPr txBox="1"/>
            <p:nvPr/>
          </p:nvSpPr>
          <p:spPr>
            <a:xfrm>
              <a:off x="984314" y="225171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17" name="TextBox 17"/>
            <p:cNvSpPr txBox="1"/>
            <p:nvPr/>
          </p:nvSpPr>
          <p:spPr>
            <a:xfrm>
              <a:off x="1317308" y="2243614"/>
              <a:ext cx="1857280"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Session management</a:t>
              </a:r>
            </a:p>
          </p:txBody>
        </p:sp>
      </p:grpSp>
      <p:grpSp>
        <p:nvGrpSpPr>
          <p:cNvPr id="22" name="Group 22"/>
          <p:cNvGrpSpPr/>
          <p:nvPr/>
        </p:nvGrpSpPr>
        <p:grpSpPr>
          <a:xfrm>
            <a:off x="895350" y="2657475"/>
            <a:ext cx="2204752" cy="321469"/>
            <a:chOff x="895350" y="2657475"/>
            <a:chExt cx="2204752" cy="321469"/>
          </a:xfrm>
        </p:grpSpPr>
        <p:sp>
          <p:nvSpPr>
            <p:cNvPr id="19" name="Ellipse 19"/>
            <p:cNvSpPr/>
            <p:nvPr/>
          </p:nvSpPr>
          <p:spPr>
            <a:xfrm>
              <a:off x="895350" y="2657475"/>
              <a:ext cx="304800" cy="304800"/>
            </a:xfrm>
            <a:prstGeom prst="ellipse">
              <a:avLst/>
            </a:prstGeom>
            <a:solidFill>
              <a:srgbClr val="2E7D32">
                <a:alpha val="10000"/>
              </a:srgbClr>
            </a:solidFill>
            <a:ln>
              <a:noFill/>
            </a:ln>
          </p:spPr>
        </p:sp>
        <p:sp>
          <p:nvSpPr>
            <p:cNvPr id="20" name="TextBox 20"/>
            <p:cNvSpPr txBox="1"/>
            <p:nvPr/>
          </p:nvSpPr>
          <p:spPr>
            <a:xfrm>
              <a:off x="984314" y="272796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21" name="TextBox 21"/>
            <p:cNvSpPr txBox="1"/>
            <p:nvPr/>
          </p:nvSpPr>
          <p:spPr>
            <a:xfrm>
              <a:off x="1317308" y="2719864"/>
              <a:ext cx="178279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Real-time analytics</a:t>
              </a:r>
            </a:p>
          </p:txBody>
        </p:sp>
      </p:grpSp>
      <p:grpSp>
        <p:nvGrpSpPr>
          <p:cNvPr id="26" name="Group 26"/>
          <p:cNvGrpSpPr/>
          <p:nvPr/>
        </p:nvGrpSpPr>
        <p:grpSpPr>
          <a:xfrm>
            <a:off x="895350" y="3133725"/>
            <a:ext cx="2744772" cy="321469"/>
            <a:chOff x="895350" y="3133725"/>
            <a:chExt cx="2744772" cy="321469"/>
          </a:xfrm>
        </p:grpSpPr>
        <p:sp>
          <p:nvSpPr>
            <p:cNvPr id="23" name="Ellipse 23"/>
            <p:cNvSpPr/>
            <p:nvPr/>
          </p:nvSpPr>
          <p:spPr>
            <a:xfrm>
              <a:off x="895350" y="3133725"/>
              <a:ext cx="304800" cy="304800"/>
            </a:xfrm>
            <a:prstGeom prst="ellipse">
              <a:avLst/>
            </a:prstGeom>
            <a:solidFill>
              <a:srgbClr val="2E7D32">
                <a:alpha val="10000"/>
              </a:srgbClr>
            </a:solidFill>
            <a:ln>
              <a:noFill/>
            </a:ln>
          </p:spPr>
        </p:sp>
        <p:sp>
          <p:nvSpPr>
            <p:cNvPr id="24" name="TextBox 24"/>
            <p:cNvSpPr txBox="1"/>
            <p:nvPr/>
          </p:nvSpPr>
          <p:spPr>
            <a:xfrm>
              <a:off x="984314" y="320421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25" name="TextBox 25"/>
            <p:cNvSpPr txBox="1"/>
            <p:nvPr/>
          </p:nvSpPr>
          <p:spPr>
            <a:xfrm>
              <a:off x="1317308" y="3196114"/>
              <a:ext cx="232281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Message Queue / Pub-Sub</a:t>
              </a:r>
            </a:p>
          </p:txBody>
        </p:sp>
      </p:grpSp>
      <p:grpSp>
        <p:nvGrpSpPr>
          <p:cNvPr id="30" name="Group 30"/>
          <p:cNvGrpSpPr/>
          <p:nvPr/>
        </p:nvGrpSpPr>
        <p:grpSpPr>
          <a:xfrm>
            <a:off x="895350" y="3609975"/>
            <a:ext cx="2465451" cy="321469"/>
            <a:chOff x="895350" y="3609975"/>
            <a:chExt cx="2465451" cy="321469"/>
          </a:xfrm>
        </p:grpSpPr>
        <p:sp>
          <p:nvSpPr>
            <p:cNvPr id="27" name="Ellipse 27"/>
            <p:cNvSpPr/>
            <p:nvPr/>
          </p:nvSpPr>
          <p:spPr>
            <a:xfrm>
              <a:off x="895350" y="3609975"/>
              <a:ext cx="304800" cy="304800"/>
            </a:xfrm>
            <a:prstGeom prst="ellipse">
              <a:avLst/>
            </a:prstGeom>
            <a:solidFill>
              <a:srgbClr val="2E7D32">
                <a:alpha val="10000"/>
              </a:srgbClr>
            </a:solidFill>
            <a:ln>
              <a:noFill/>
            </a:ln>
          </p:spPr>
        </p:sp>
        <p:sp>
          <p:nvSpPr>
            <p:cNvPr id="28" name="TextBox 28"/>
            <p:cNvSpPr txBox="1"/>
            <p:nvPr/>
          </p:nvSpPr>
          <p:spPr>
            <a:xfrm>
              <a:off x="984314" y="368046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29" name="TextBox 29"/>
            <p:cNvSpPr txBox="1"/>
            <p:nvPr/>
          </p:nvSpPr>
          <p:spPr>
            <a:xfrm>
              <a:off x="1317308" y="3672364"/>
              <a:ext cx="2043493"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Leaderboard / Ranking</a:t>
              </a:r>
            </a:p>
          </p:txBody>
        </p:sp>
      </p:grpSp>
      <p:grpSp>
        <p:nvGrpSpPr>
          <p:cNvPr id="34" name="Group 34"/>
          <p:cNvGrpSpPr/>
          <p:nvPr/>
        </p:nvGrpSpPr>
        <p:grpSpPr>
          <a:xfrm>
            <a:off x="895350" y="4086225"/>
            <a:ext cx="1636800" cy="321469"/>
            <a:chOff x="895350" y="4086225"/>
            <a:chExt cx="1636800" cy="321469"/>
          </a:xfrm>
        </p:grpSpPr>
        <p:sp>
          <p:nvSpPr>
            <p:cNvPr id="31" name="Ellipse 31"/>
            <p:cNvSpPr/>
            <p:nvPr/>
          </p:nvSpPr>
          <p:spPr>
            <a:xfrm>
              <a:off x="895350" y="4086225"/>
              <a:ext cx="304800" cy="304800"/>
            </a:xfrm>
            <a:prstGeom prst="ellipse">
              <a:avLst/>
            </a:prstGeom>
            <a:solidFill>
              <a:srgbClr val="2E7D32">
                <a:alpha val="10000"/>
              </a:srgbClr>
            </a:solidFill>
            <a:ln>
              <a:noFill/>
            </a:ln>
          </p:spPr>
        </p:sp>
        <p:sp>
          <p:nvSpPr>
            <p:cNvPr id="32" name="TextBox 32"/>
            <p:cNvSpPr txBox="1"/>
            <p:nvPr/>
          </p:nvSpPr>
          <p:spPr>
            <a:xfrm>
              <a:off x="984314" y="415671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33" name="TextBox 33"/>
            <p:cNvSpPr txBox="1"/>
            <p:nvPr/>
          </p:nvSpPr>
          <p:spPr>
            <a:xfrm>
              <a:off x="1317308" y="4148614"/>
              <a:ext cx="1214842"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Rate Limiting</a:t>
              </a:r>
            </a:p>
          </p:txBody>
        </p:sp>
      </p:grpSp>
      <p:grpSp>
        <p:nvGrpSpPr>
          <p:cNvPr id="39" name="Group 39"/>
          <p:cNvGrpSpPr/>
          <p:nvPr/>
        </p:nvGrpSpPr>
        <p:grpSpPr>
          <a:xfrm>
            <a:off x="6286500" y="952500"/>
            <a:ext cx="5334000" cy="5048250"/>
            <a:chOff x="6286500" y="952500"/>
            <a:chExt cx="5334000" cy="5048250"/>
          </a:xfrm>
          <a:effectLst>
            <a:outerShdw blurRad="190500" dist="38100" dir="10799140" algn="tl" rotWithShape="0">
              <a:srgbClr val="000000">
                <a:alpha val="12000"/>
              </a:srgbClr>
            </a:outerShdw>
          </a:effectLst>
        </p:grpSpPr>
        <p:sp>
          <p:nvSpPr>
            <p:cNvPr id="35" name="Freeform 35"/>
            <p:cNvSpPr/>
            <p:nvPr/>
          </p:nvSpPr>
          <p:spPr>
            <a:xfrm>
              <a:off x="6286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6" name="Freeform 36"/>
            <p:cNvSpPr/>
            <p:nvPr/>
          </p:nvSpPr>
          <p:spPr>
            <a:xfrm>
              <a:off x="6286500" y="952500"/>
              <a:ext cx="5334000" cy="523875"/>
            </a:xfrm>
            <a:custGeom>
              <a:avLst/>
              <a:gdLst/>
              <a:ahLst/>
              <a:cxnLst/>
              <a:rect l="l" t="t" r="r" b="b"/>
              <a:pathLst>
                <a:path w="5334000" h="523875">
                  <a:moveTo>
                    <a:pt x="114300" y="0"/>
                  </a:moveTo>
                  <a:lnTo>
                    <a:pt x="5219700" y="0"/>
                  </a:lnTo>
                  <a:cubicBezTo>
                    <a:pt x="5282826" y="0"/>
                    <a:pt x="5334000" y="51174"/>
                    <a:pt x="5334000" y="114300"/>
                  </a:cubicBezTo>
                  <a:lnTo>
                    <a:pt x="5334000" y="409575"/>
                  </a:lnTo>
                  <a:cubicBezTo>
                    <a:pt x="5334000" y="472701"/>
                    <a:pt x="5282826" y="523875"/>
                    <a:pt x="5219700" y="523875"/>
                  </a:cubicBezTo>
                  <a:lnTo>
                    <a:pt x="114300" y="523875"/>
                  </a:lnTo>
                  <a:cubicBezTo>
                    <a:pt x="51174" y="523875"/>
                    <a:pt x="0" y="472701"/>
                    <a:pt x="0" y="409575"/>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37" name="Rectangle 37"/>
            <p:cNvSpPr/>
            <p:nvPr/>
          </p:nvSpPr>
          <p:spPr>
            <a:xfrm>
              <a:off x="6286500" y="1362075"/>
              <a:ext cx="5334000" cy="114300"/>
            </a:xfrm>
            <a:prstGeom prst="rect">
              <a:avLst/>
            </a:prstGeom>
            <a:solidFill>
              <a:srgbClr val="0B4DA2"/>
            </a:solidFill>
            <a:ln>
              <a:noFill/>
            </a:ln>
            <a:effectLst>
              <a:outerShdw blurRad="190500" dist="38100" dir="10799140" algn="tl" rotWithShape="0">
                <a:srgbClr val="000000">
                  <a:alpha val="12000"/>
                </a:srgbClr>
              </a:outerShdw>
            </a:effectLst>
          </p:spPr>
        </p:sp>
        <p:sp>
          <p:nvSpPr>
            <p:cNvPr id="38" name="TextBox 38"/>
            <p:cNvSpPr txBox="1"/>
            <p:nvPr/>
          </p:nvSpPr>
          <p:spPr>
            <a:xfrm>
              <a:off x="8083344" y="1123950"/>
              <a:ext cx="1740313"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500" b="1" dirty="0">
                  <a:solidFill>
                    <a:srgbClr val="FFFFFF"/>
                  </a:solidFill>
                  <a:latin typeface="Arial"/>
                  <a:ea typeface="Microsoft YaHei"/>
                  <a:cs typeface="Arial"/>
                </a:rPr>
                <a:t>Nên dùng RDBMS</a:t>
              </a:r>
            </a:p>
          </p:txBody>
        </p:sp>
      </p:grpSp>
      <p:grpSp>
        <p:nvGrpSpPr>
          <p:cNvPr id="43" name="Group 43"/>
          <p:cNvGrpSpPr/>
          <p:nvPr/>
        </p:nvGrpSpPr>
        <p:grpSpPr>
          <a:xfrm>
            <a:off x="6610350" y="1704975"/>
            <a:ext cx="2791326" cy="321469"/>
            <a:chOff x="6610350" y="1704975"/>
            <a:chExt cx="2791326" cy="321469"/>
          </a:xfrm>
        </p:grpSpPr>
        <p:sp>
          <p:nvSpPr>
            <p:cNvPr id="40" name="Ellipse 40"/>
            <p:cNvSpPr/>
            <p:nvPr/>
          </p:nvSpPr>
          <p:spPr>
            <a:xfrm>
              <a:off x="6610350" y="1704975"/>
              <a:ext cx="304800" cy="304800"/>
            </a:xfrm>
            <a:prstGeom prst="ellipse">
              <a:avLst/>
            </a:prstGeom>
            <a:solidFill>
              <a:srgbClr val="0B4DA2">
                <a:alpha val="10000"/>
              </a:srgbClr>
            </a:solidFill>
            <a:ln>
              <a:noFill/>
            </a:ln>
          </p:spPr>
        </p:sp>
        <p:sp>
          <p:nvSpPr>
            <p:cNvPr id="41" name="TextBox 41"/>
            <p:cNvSpPr txBox="1"/>
            <p:nvPr/>
          </p:nvSpPr>
          <p:spPr>
            <a:xfrm>
              <a:off x="6699314" y="177546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42" name="TextBox 42"/>
            <p:cNvSpPr txBox="1"/>
            <p:nvPr/>
          </p:nvSpPr>
          <p:spPr>
            <a:xfrm>
              <a:off x="7032308" y="1767364"/>
              <a:ext cx="2369368"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Giao dịch tài chính (ACID)</a:t>
              </a:r>
            </a:p>
          </p:txBody>
        </p:sp>
      </p:grpSp>
      <p:grpSp>
        <p:nvGrpSpPr>
          <p:cNvPr id="47" name="Group 47"/>
          <p:cNvGrpSpPr/>
          <p:nvPr/>
        </p:nvGrpSpPr>
        <p:grpSpPr>
          <a:xfrm>
            <a:off x="6610350" y="2181225"/>
            <a:ext cx="2586490" cy="321469"/>
            <a:chOff x="6610350" y="2181225"/>
            <a:chExt cx="2586490" cy="321469"/>
          </a:xfrm>
        </p:grpSpPr>
        <p:sp>
          <p:nvSpPr>
            <p:cNvPr id="44" name="Ellipse 44"/>
            <p:cNvSpPr/>
            <p:nvPr/>
          </p:nvSpPr>
          <p:spPr>
            <a:xfrm>
              <a:off x="6610350" y="2181225"/>
              <a:ext cx="304800" cy="304800"/>
            </a:xfrm>
            <a:prstGeom prst="ellipse">
              <a:avLst/>
            </a:prstGeom>
            <a:solidFill>
              <a:srgbClr val="0B4DA2">
                <a:alpha val="10000"/>
              </a:srgbClr>
            </a:solidFill>
            <a:ln>
              <a:noFill/>
            </a:ln>
          </p:spPr>
        </p:sp>
        <p:sp>
          <p:nvSpPr>
            <p:cNvPr id="45" name="TextBox 45"/>
            <p:cNvSpPr txBox="1"/>
            <p:nvPr/>
          </p:nvSpPr>
          <p:spPr>
            <a:xfrm>
              <a:off x="6699314" y="225171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46" name="TextBox 46"/>
            <p:cNvSpPr txBox="1"/>
            <p:nvPr/>
          </p:nvSpPr>
          <p:spPr>
            <a:xfrm>
              <a:off x="7032308" y="2243614"/>
              <a:ext cx="2164532"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Dữ liệu quan hệ phức tạp</a:t>
              </a:r>
            </a:p>
          </p:txBody>
        </p:sp>
      </p:grpSp>
      <p:grpSp>
        <p:nvGrpSpPr>
          <p:cNvPr id="51" name="Group 51"/>
          <p:cNvGrpSpPr/>
          <p:nvPr/>
        </p:nvGrpSpPr>
        <p:grpSpPr>
          <a:xfrm>
            <a:off x="6610350" y="2657475"/>
            <a:ext cx="2726151" cy="321469"/>
            <a:chOff x="6610350" y="2657475"/>
            <a:chExt cx="2726151" cy="321469"/>
          </a:xfrm>
        </p:grpSpPr>
        <p:sp>
          <p:nvSpPr>
            <p:cNvPr id="48" name="Ellipse 48"/>
            <p:cNvSpPr/>
            <p:nvPr/>
          </p:nvSpPr>
          <p:spPr>
            <a:xfrm>
              <a:off x="6610350" y="2657475"/>
              <a:ext cx="304800" cy="304800"/>
            </a:xfrm>
            <a:prstGeom prst="ellipse">
              <a:avLst/>
            </a:prstGeom>
            <a:solidFill>
              <a:srgbClr val="0B4DA2">
                <a:alpha val="10000"/>
              </a:srgbClr>
            </a:solidFill>
            <a:ln>
              <a:noFill/>
            </a:ln>
          </p:spPr>
        </p:sp>
        <p:sp>
          <p:nvSpPr>
            <p:cNvPr id="49" name="TextBox 49"/>
            <p:cNvSpPr txBox="1"/>
            <p:nvPr/>
          </p:nvSpPr>
          <p:spPr>
            <a:xfrm>
              <a:off x="6699314" y="272796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50" name="TextBox 50"/>
            <p:cNvSpPr txBox="1"/>
            <p:nvPr/>
          </p:nvSpPr>
          <p:spPr>
            <a:xfrm>
              <a:off x="7032308" y="2719864"/>
              <a:ext cx="2304193"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Báo cáo phức tạp với JOIN</a:t>
              </a:r>
            </a:p>
          </p:txBody>
        </p:sp>
      </p:grpSp>
      <p:grpSp>
        <p:nvGrpSpPr>
          <p:cNvPr id="55" name="Group 55"/>
          <p:cNvGrpSpPr/>
          <p:nvPr/>
        </p:nvGrpSpPr>
        <p:grpSpPr>
          <a:xfrm>
            <a:off x="6610350" y="3133725"/>
            <a:ext cx="2958918" cy="321469"/>
            <a:chOff x="6610350" y="3133725"/>
            <a:chExt cx="2958918" cy="321469"/>
          </a:xfrm>
        </p:grpSpPr>
        <p:sp>
          <p:nvSpPr>
            <p:cNvPr id="52" name="Ellipse 52"/>
            <p:cNvSpPr/>
            <p:nvPr/>
          </p:nvSpPr>
          <p:spPr>
            <a:xfrm>
              <a:off x="6610350" y="3133725"/>
              <a:ext cx="304800" cy="304800"/>
            </a:xfrm>
            <a:prstGeom prst="ellipse">
              <a:avLst/>
            </a:prstGeom>
            <a:solidFill>
              <a:srgbClr val="0B4DA2">
                <a:alpha val="10000"/>
              </a:srgbClr>
            </a:solidFill>
            <a:ln>
              <a:noFill/>
            </a:ln>
          </p:spPr>
        </p:sp>
        <p:sp>
          <p:nvSpPr>
            <p:cNvPr id="53" name="TextBox 53"/>
            <p:cNvSpPr txBox="1"/>
            <p:nvPr/>
          </p:nvSpPr>
          <p:spPr>
            <a:xfrm>
              <a:off x="6699314" y="320421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54" name="TextBox 54"/>
            <p:cNvSpPr txBox="1"/>
            <p:nvPr/>
          </p:nvSpPr>
          <p:spPr>
            <a:xfrm>
              <a:off x="7032308" y="3196114"/>
              <a:ext cx="2536960"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Schema chặt chẽ, kiểm toán</a:t>
              </a:r>
            </a:p>
          </p:txBody>
        </p:sp>
      </p:grpSp>
      <p:grpSp>
        <p:nvGrpSpPr>
          <p:cNvPr id="59" name="Group 59"/>
          <p:cNvGrpSpPr/>
          <p:nvPr/>
        </p:nvGrpSpPr>
        <p:grpSpPr>
          <a:xfrm>
            <a:off x="6610350" y="3609975"/>
            <a:ext cx="2214063" cy="321469"/>
            <a:chOff x="6610350" y="3609975"/>
            <a:chExt cx="2214063" cy="321469"/>
          </a:xfrm>
        </p:grpSpPr>
        <p:sp>
          <p:nvSpPr>
            <p:cNvPr id="56" name="Ellipse 56"/>
            <p:cNvSpPr/>
            <p:nvPr/>
          </p:nvSpPr>
          <p:spPr>
            <a:xfrm>
              <a:off x="6610350" y="3609975"/>
              <a:ext cx="304800" cy="304800"/>
            </a:xfrm>
            <a:prstGeom prst="ellipse">
              <a:avLst/>
            </a:prstGeom>
            <a:solidFill>
              <a:srgbClr val="0B4DA2">
                <a:alpha val="10000"/>
              </a:srgbClr>
            </a:solidFill>
            <a:ln>
              <a:noFill/>
            </a:ln>
          </p:spPr>
        </p:sp>
        <p:sp>
          <p:nvSpPr>
            <p:cNvPr id="57" name="TextBox 57"/>
            <p:cNvSpPr txBox="1"/>
            <p:nvPr/>
          </p:nvSpPr>
          <p:spPr>
            <a:xfrm>
              <a:off x="6699314" y="368046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58" name="TextBox 58"/>
            <p:cNvSpPr txBox="1"/>
            <p:nvPr/>
          </p:nvSpPr>
          <p:spPr>
            <a:xfrm>
              <a:off x="7032308" y="3672364"/>
              <a:ext cx="1792105"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Nhất quán tuyệt đối</a:t>
              </a:r>
            </a:p>
          </p:txBody>
        </p:sp>
      </p:grpSp>
      <p:sp>
        <p:nvSpPr>
          <p:cNvPr id="60" name="Ellipse 60"/>
          <p:cNvSpPr/>
          <p:nvPr/>
        </p:nvSpPr>
        <p:spPr>
          <a:xfrm>
            <a:off x="5829300" y="3352800"/>
            <a:ext cx="533400" cy="533400"/>
          </a:xfrm>
          <a:prstGeom prst="ellipse">
            <a:avLst/>
          </a:prstGeom>
          <a:solidFill>
            <a:srgbClr val="FF6B35"/>
          </a:solidFill>
          <a:ln>
            <a:noFill/>
          </a:ln>
        </p:spPr>
      </p:sp>
      <p:sp>
        <p:nvSpPr>
          <p:cNvPr id="61" name="TextBox 61"/>
          <p:cNvSpPr txBox="1"/>
          <p:nvPr/>
        </p:nvSpPr>
        <p:spPr>
          <a:xfrm>
            <a:off x="5979547" y="3566160"/>
            <a:ext cx="23290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VS</a:t>
            </a:r>
          </a:p>
        </p:txBody>
      </p:sp>
      <p:sp>
        <p:nvSpPr>
          <p:cNvPr id="62" name="TextBox 62"/>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13 / 25</a:t>
            </a:r>
          </a:p>
        </p:txBody>
      </p:sp>
    </p:spTree>
  </p:cSld>
  <p:clrMapOvr>
    <a:masterClrMapping/>
  </p:clrMapOvr>
  <p:transition 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4569524"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Cài đặt Redis bằng Docker</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grpSp>
        <p:nvGrpSpPr>
          <p:cNvPr id="16" name="Group 16"/>
          <p:cNvGrpSpPr/>
          <p:nvPr/>
        </p:nvGrpSpPr>
        <p:grpSpPr>
          <a:xfrm>
            <a:off x="571500" y="952500"/>
            <a:ext cx="3524250" cy="5048250"/>
            <a:chOff x="571500" y="952500"/>
            <a:chExt cx="3524250" cy="5048250"/>
          </a:xfrm>
          <a:effectLst>
            <a:outerShdw blurRad="190500" dist="38100" dir="10799140" algn="tl" rotWithShape="0">
              <a:srgbClr val="000000">
                <a:alpha val="12000"/>
              </a:srgbClr>
            </a:outerShdw>
          </a:effectLst>
        </p:grpSpPr>
        <p:sp>
          <p:nvSpPr>
            <p:cNvPr id="6" name="Freeform 6"/>
            <p:cNvSpPr/>
            <p:nvPr/>
          </p:nvSpPr>
          <p:spPr>
            <a:xfrm>
              <a:off x="57150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Ellipse 7"/>
            <p:cNvSpPr/>
            <p:nvPr/>
          </p:nvSpPr>
          <p:spPr>
            <a:xfrm>
              <a:off x="866775" y="1152525"/>
              <a:ext cx="457200" cy="457200"/>
            </a:xfrm>
            <a:prstGeom prst="ellipse">
              <a:avLst/>
            </a:prstGeom>
            <a:solidFill>
              <a:srgbClr val="0B4DA2"/>
            </a:solidFill>
            <a:ln>
              <a:noFill/>
            </a:ln>
            <a:effectLst>
              <a:outerShdw blurRad="190500" dist="38100" dir="10799140" algn="tl" rotWithShape="0">
                <a:srgbClr val="000000">
                  <a:alpha val="12000"/>
                </a:srgbClr>
              </a:outerShdw>
            </a:effectLst>
          </p:spPr>
        </p:sp>
        <p:sp>
          <p:nvSpPr>
            <p:cNvPr id="8" name="TextBox 8"/>
            <p:cNvSpPr txBox="1"/>
            <p:nvPr/>
          </p:nvSpPr>
          <p:spPr>
            <a:xfrm>
              <a:off x="1047176" y="1311592"/>
              <a:ext cx="96398"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9" name="TextBox 9"/>
            <p:cNvSpPr txBox="1"/>
            <p:nvPr/>
          </p:nvSpPr>
          <p:spPr>
            <a:xfrm>
              <a:off x="1411605" y="1302068"/>
              <a:ext cx="1928577"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0B4DA2"/>
                  </a:solidFill>
                  <a:latin typeface="Arial"/>
                  <a:ea typeface="Microsoft YaHei"/>
                  <a:cs typeface="Arial"/>
                </a:rPr>
                <a:t>Cài Docker Desktop</a:t>
              </a:r>
            </a:p>
          </p:txBody>
        </p:sp>
        <p:sp>
          <p:nvSpPr>
            <p:cNvPr id="10" name="Rectangle 10"/>
            <p:cNvSpPr/>
            <p:nvPr/>
          </p:nvSpPr>
          <p:spPr>
            <a:xfrm>
              <a:off x="857250" y="1666875"/>
              <a:ext cx="2952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11" name="TextBox 11"/>
            <p:cNvSpPr txBox="1"/>
            <p:nvPr/>
          </p:nvSpPr>
          <p:spPr>
            <a:xfrm>
              <a:off x="842962" y="1831181"/>
              <a:ext cx="1474470"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Tải từ docker.com</a:t>
              </a:r>
            </a:p>
          </p:txBody>
        </p:sp>
        <p:sp>
          <p:nvSpPr>
            <p:cNvPr id="12" name="TextBox 12"/>
            <p:cNvSpPr txBox="1"/>
            <p:nvPr/>
          </p:nvSpPr>
          <p:spPr>
            <a:xfrm>
              <a:off x="842962" y="2069306"/>
              <a:ext cx="1589484"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Cài đặt và khởi động</a:t>
              </a:r>
            </a:p>
          </p:txBody>
        </p:sp>
        <p:sp>
          <p:nvSpPr>
            <p:cNvPr id="13" name="Freeform 13"/>
            <p:cNvSpPr/>
            <p:nvPr/>
          </p:nvSpPr>
          <p:spPr>
            <a:xfrm>
              <a:off x="857250" y="2490788"/>
              <a:ext cx="228600" cy="185738"/>
            </a:xfrm>
            <a:custGeom>
              <a:avLst/>
              <a:gdLst/>
              <a:ahLst/>
              <a:cxnLst/>
              <a:rect l="l" t="t" r="r" b="b"/>
              <a:pathLst>
                <a:path w="228600" h="185738">
                  <a:moveTo>
                    <a:pt x="0" y="0"/>
                  </a:moveTo>
                  <a:lnTo>
                    <a:pt x="85725" y="0"/>
                  </a:lnTo>
                  <a:lnTo>
                    <a:pt x="128588" y="42862"/>
                  </a:lnTo>
                  <a:lnTo>
                    <a:pt x="228600" y="42862"/>
                  </a:lnTo>
                  <a:lnTo>
                    <a:pt x="228600" y="185738"/>
                  </a:lnTo>
                  <a:lnTo>
                    <a:pt x="0" y="185738"/>
                  </a:lnTo>
                  <a:lnTo>
                    <a:pt x="0" y="0"/>
                  </a:lnTo>
                  <a:close/>
                </a:path>
              </a:pathLst>
            </a:custGeom>
            <a:solidFill>
              <a:srgbClr val="006AF9"/>
            </a:solidFill>
            <a:ln>
              <a:noFill/>
            </a:ln>
            <a:effectLst>
              <a:outerShdw blurRad="190500" dist="38100" dir="10799140" algn="tl" rotWithShape="0">
                <a:srgbClr val="000000">
                  <a:alpha val="12000"/>
                </a:srgbClr>
              </a:outerShdw>
            </a:effectLst>
          </p:spPr>
        </p:sp>
        <p:sp>
          <p:nvSpPr>
            <p:cNvPr id="14" name="TextBox 14"/>
            <p:cNvSpPr txBox="1"/>
            <p:nvPr/>
          </p:nvSpPr>
          <p:spPr>
            <a:xfrm>
              <a:off x="1178242" y="2561749"/>
              <a:ext cx="1619631"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docker.com/products/</a:t>
              </a:r>
            </a:p>
          </p:txBody>
        </p:sp>
        <p:sp>
          <p:nvSpPr>
            <p:cNvPr id="15" name="TextBox 15"/>
            <p:cNvSpPr txBox="1"/>
            <p:nvPr/>
          </p:nvSpPr>
          <p:spPr>
            <a:xfrm>
              <a:off x="1178242" y="2733199"/>
              <a:ext cx="11995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docker-desktop/</a:t>
              </a:r>
            </a:p>
          </p:txBody>
        </p:sp>
      </p:grpSp>
      <p:grpSp>
        <p:nvGrpSpPr>
          <p:cNvPr id="30" name="Group 30"/>
          <p:cNvGrpSpPr/>
          <p:nvPr/>
        </p:nvGrpSpPr>
        <p:grpSpPr>
          <a:xfrm>
            <a:off x="4333875" y="952500"/>
            <a:ext cx="3524250" cy="5048250"/>
            <a:chOff x="4333875" y="952500"/>
            <a:chExt cx="3524250" cy="5048250"/>
          </a:xfrm>
          <a:effectLst>
            <a:outerShdw blurRad="190500" dist="38100" dir="10799140" algn="tl" rotWithShape="0">
              <a:srgbClr val="000000">
                <a:alpha val="12000"/>
              </a:srgbClr>
            </a:outerShdw>
          </a:effectLst>
        </p:grpSpPr>
        <p:sp>
          <p:nvSpPr>
            <p:cNvPr id="17" name="Freeform 17"/>
            <p:cNvSpPr/>
            <p:nvPr/>
          </p:nvSpPr>
          <p:spPr>
            <a:xfrm>
              <a:off x="4333875"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18" name="Ellipse 18"/>
            <p:cNvSpPr/>
            <p:nvPr/>
          </p:nvSpPr>
          <p:spPr>
            <a:xfrm>
              <a:off x="4629150" y="1152525"/>
              <a:ext cx="457200" cy="457200"/>
            </a:xfrm>
            <a:prstGeom prst="ellipse">
              <a:avLst/>
            </a:prstGeom>
            <a:solidFill>
              <a:srgbClr val="D12B1F"/>
            </a:solidFill>
            <a:ln>
              <a:noFill/>
            </a:ln>
            <a:effectLst>
              <a:outerShdw blurRad="190500" dist="38100" dir="10799140" algn="tl" rotWithShape="0">
                <a:srgbClr val="000000">
                  <a:alpha val="12000"/>
                </a:srgbClr>
              </a:outerShdw>
            </a:effectLst>
          </p:spPr>
        </p:sp>
        <p:sp>
          <p:nvSpPr>
            <p:cNvPr id="19" name="TextBox 19"/>
            <p:cNvSpPr txBox="1"/>
            <p:nvPr/>
          </p:nvSpPr>
          <p:spPr>
            <a:xfrm>
              <a:off x="4783673" y="1311592"/>
              <a:ext cx="148154"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0" name="TextBox 20"/>
            <p:cNvSpPr txBox="1"/>
            <p:nvPr/>
          </p:nvSpPr>
          <p:spPr>
            <a:xfrm>
              <a:off x="5173980" y="1302068"/>
              <a:ext cx="1545579"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D12B1F"/>
                  </a:solidFill>
                  <a:latin typeface="Arial"/>
                  <a:ea typeface="Microsoft YaHei"/>
                  <a:cs typeface="Arial"/>
                </a:rPr>
                <a:t>Pull &amp; Run Redis</a:t>
              </a:r>
            </a:p>
          </p:txBody>
        </p:sp>
        <p:sp>
          <p:nvSpPr>
            <p:cNvPr id="21" name="Rectangle 21"/>
            <p:cNvSpPr/>
            <p:nvPr/>
          </p:nvSpPr>
          <p:spPr>
            <a:xfrm>
              <a:off x="4619625" y="1666875"/>
              <a:ext cx="2952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22" name="Freeform 22"/>
            <p:cNvSpPr/>
            <p:nvPr/>
          </p:nvSpPr>
          <p:spPr>
            <a:xfrm>
              <a:off x="4619625" y="1857375"/>
              <a:ext cx="2952750" cy="1714500"/>
            </a:xfrm>
            <a:custGeom>
              <a:avLst/>
              <a:gdLst/>
              <a:ahLst/>
              <a:cxnLst/>
              <a:rect l="l" t="t" r="r" b="b"/>
              <a:pathLst>
                <a:path w="2952750" h="1714500">
                  <a:moveTo>
                    <a:pt x="76200" y="0"/>
                  </a:moveTo>
                  <a:lnTo>
                    <a:pt x="2876550" y="0"/>
                  </a:lnTo>
                  <a:cubicBezTo>
                    <a:pt x="2918634" y="0"/>
                    <a:pt x="2952750" y="34116"/>
                    <a:pt x="2952750" y="76200"/>
                  </a:cubicBezTo>
                  <a:lnTo>
                    <a:pt x="2952750" y="1638300"/>
                  </a:lnTo>
                  <a:cubicBezTo>
                    <a:pt x="2952750" y="1680384"/>
                    <a:pt x="2918634" y="1714500"/>
                    <a:pt x="2876550" y="1714500"/>
                  </a:cubicBezTo>
                  <a:lnTo>
                    <a:pt x="76200" y="1714500"/>
                  </a:lnTo>
                  <a:cubicBezTo>
                    <a:pt x="34116" y="1714500"/>
                    <a:pt x="0" y="1680384"/>
                    <a:pt x="0" y="16383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sp>
        <p:sp>
          <p:nvSpPr>
            <p:cNvPr id="23" name="TextBox 23"/>
            <p:cNvSpPr txBox="1"/>
            <p:nvPr/>
          </p:nvSpPr>
          <p:spPr>
            <a:xfrm>
              <a:off x="4750118" y="1990249"/>
              <a:ext cx="8150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Pull image</a:t>
              </a:r>
            </a:p>
          </p:txBody>
        </p:sp>
        <p:sp>
          <p:nvSpPr>
            <p:cNvPr id="24" name="TextBox 24"/>
            <p:cNvSpPr txBox="1"/>
            <p:nvPr/>
          </p:nvSpPr>
          <p:spPr>
            <a:xfrm>
              <a:off x="4750118" y="2199799"/>
              <a:ext cx="117819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docker pull redis</a:t>
              </a:r>
            </a:p>
          </p:txBody>
        </p:sp>
        <p:sp>
          <p:nvSpPr>
            <p:cNvPr id="25" name="TextBox 25"/>
            <p:cNvSpPr txBox="1"/>
            <p:nvPr/>
          </p:nvSpPr>
          <p:spPr>
            <a:xfrm>
              <a:off x="4750118" y="2485549"/>
              <a:ext cx="117107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Chạy container</a:t>
              </a:r>
            </a:p>
          </p:txBody>
        </p:sp>
        <p:sp>
          <p:nvSpPr>
            <p:cNvPr id="26" name="TextBox 26"/>
            <p:cNvSpPr txBox="1"/>
            <p:nvPr/>
          </p:nvSpPr>
          <p:spPr>
            <a:xfrm>
              <a:off x="4750118" y="2695099"/>
              <a:ext cx="893397"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docker run \</a:t>
              </a:r>
            </a:p>
          </p:txBody>
        </p:sp>
        <p:sp>
          <p:nvSpPr>
            <p:cNvPr id="27" name="TextBox 27"/>
            <p:cNvSpPr txBox="1"/>
            <p:nvPr/>
          </p:nvSpPr>
          <p:spPr>
            <a:xfrm>
              <a:off x="4940618" y="2904649"/>
              <a:ext cx="130635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--name my-redis \</a:t>
              </a:r>
            </a:p>
          </p:txBody>
        </p:sp>
        <p:sp>
          <p:nvSpPr>
            <p:cNvPr id="28" name="TextBox 28"/>
            <p:cNvSpPr txBox="1"/>
            <p:nvPr/>
          </p:nvSpPr>
          <p:spPr>
            <a:xfrm>
              <a:off x="4940618" y="3114199"/>
              <a:ext cx="1050036"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-p 6379:6379 \</a:t>
              </a:r>
            </a:p>
          </p:txBody>
        </p:sp>
        <p:sp>
          <p:nvSpPr>
            <p:cNvPr id="29" name="TextBox 29"/>
            <p:cNvSpPr txBox="1"/>
            <p:nvPr/>
          </p:nvSpPr>
          <p:spPr>
            <a:xfrm>
              <a:off x="4940618" y="3323749"/>
              <a:ext cx="580120"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-d redis</a:t>
              </a:r>
            </a:p>
          </p:txBody>
        </p:sp>
      </p:grpSp>
      <p:grpSp>
        <p:nvGrpSpPr>
          <p:cNvPr id="47" name="Group 47"/>
          <p:cNvGrpSpPr/>
          <p:nvPr/>
        </p:nvGrpSpPr>
        <p:grpSpPr>
          <a:xfrm>
            <a:off x="8096250" y="952500"/>
            <a:ext cx="3524250" cy="5048250"/>
            <a:chOff x="8096250" y="952500"/>
            <a:chExt cx="3524250" cy="5048250"/>
          </a:xfrm>
          <a:effectLst>
            <a:outerShdw blurRad="190500" dist="38100" dir="10799140" algn="tl" rotWithShape="0">
              <a:srgbClr val="000000">
                <a:alpha val="12000"/>
              </a:srgbClr>
            </a:outerShdw>
          </a:effectLst>
        </p:grpSpPr>
        <p:sp>
          <p:nvSpPr>
            <p:cNvPr id="31" name="Freeform 31"/>
            <p:cNvSpPr/>
            <p:nvPr/>
          </p:nvSpPr>
          <p:spPr>
            <a:xfrm>
              <a:off x="809625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2" name="Ellipse 32"/>
            <p:cNvSpPr/>
            <p:nvPr/>
          </p:nvSpPr>
          <p:spPr>
            <a:xfrm>
              <a:off x="8391525" y="1152525"/>
              <a:ext cx="457200" cy="457200"/>
            </a:xfrm>
            <a:prstGeom prst="ellipse">
              <a:avLst/>
            </a:prstGeom>
            <a:solidFill>
              <a:srgbClr val="2E7D32"/>
            </a:solidFill>
            <a:ln>
              <a:noFill/>
            </a:ln>
            <a:effectLst>
              <a:outerShdw blurRad="190500" dist="38100" dir="10799140" algn="tl" rotWithShape="0">
                <a:srgbClr val="000000">
                  <a:alpha val="12000"/>
                </a:srgbClr>
              </a:outerShdw>
            </a:effectLst>
          </p:spPr>
        </p:sp>
        <p:sp>
          <p:nvSpPr>
            <p:cNvPr id="33" name="TextBox 33"/>
            <p:cNvSpPr txBox="1"/>
            <p:nvPr/>
          </p:nvSpPr>
          <p:spPr>
            <a:xfrm>
              <a:off x="8546048" y="1311592"/>
              <a:ext cx="148154"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34" name="TextBox 34"/>
            <p:cNvSpPr txBox="1"/>
            <p:nvPr/>
          </p:nvSpPr>
          <p:spPr>
            <a:xfrm>
              <a:off x="8936355" y="1302068"/>
              <a:ext cx="1659443"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2E7D32"/>
                  </a:solidFill>
                  <a:latin typeface="Arial"/>
                  <a:ea typeface="Microsoft YaHei"/>
                  <a:cs typeface="Arial"/>
                </a:rPr>
                <a:t>Kết nối Redis CLI</a:t>
              </a:r>
            </a:p>
          </p:txBody>
        </p:sp>
        <p:sp>
          <p:nvSpPr>
            <p:cNvPr id="35" name="Rectangle 35"/>
            <p:cNvSpPr/>
            <p:nvPr/>
          </p:nvSpPr>
          <p:spPr>
            <a:xfrm>
              <a:off x="8382000" y="1666875"/>
              <a:ext cx="2952750" cy="19050"/>
            </a:xfrm>
            <a:prstGeom prst="rect">
              <a:avLst/>
            </a:prstGeom>
            <a:solidFill>
              <a:srgbClr val="E2E8F0"/>
            </a:solidFill>
            <a:ln>
              <a:noFill/>
            </a:ln>
            <a:effectLst>
              <a:outerShdw blurRad="190500" dist="38100" dir="10799140" algn="tl" rotWithShape="0">
                <a:srgbClr val="000000">
                  <a:alpha val="12000"/>
                </a:srgbClr>
              </a:outerShdw>
            </a:effectLst>
          </p:spPr>
        </p:sp>
        <p:sp>
          <p:nvSpPr>
            <p:cNvPr id="36" name="Freeform 36"/>
            <p:cNvSpPr/>
            <p:nvPr/>
          </p:nvSpPr>
          <p:spPr>
            <a:xfrm>
              <a:off x="8382000" y="1857375"/>
              <a:ext cx="2952750" cy="1714500"/>
            </a:xfrm>
            <a:custGeom>
              <a:avLst/>
              <a:gdLst/>
              <a:ahLst/>
              <a:cxnLst/>
              <a:rect l="l" t="t" r="r" b="b"/>
              <a:pathLst>
                <a:path w="2952750" h="1714500">
                  <a:moveTo>
                    <a:pt x="76200" y="0"/>
                  </a:moveTo>
                  <a:lnTo>
                    <a:pt x="2876550" y="0"/>
                  </a:lnTo>
                  <a:cubicBezTo>
                    <a:pt x="2918634" y="0"/>
                    <a:pt x="2952750" y="34116"/>
                    <a:pt x="2952750" y="76200"/>
                  </a:cubicBezTo>
                  <a:lnTo>
                    <a:pt x="2952750" y="1638300"/>
                  </a:lnTo>
                  <a:cubicBezTo>
                    <a:pt x="2952750" y="1680384"/>
                    <a:pt x="2918634" y="1714500"/>
                    <a:pt x="2876550" y="1714500"/>
                  </a:cubicBezTo>
                  <a:lnTo>
                    <a:pt x="76200" y="1714500"/>
                  </a:lnTo>
                  <a:cubicBezTo>
                    <a:pt x="34116" y="1714500"/>
                    <a:pt x="0" y="1680384"/>
                    <a:pt x="0" y="16383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sp>
        <p:sp>
          <p:nvSpPr>
            <p:cNvPr id="37" name="TextBox 37"/>
            <p:cNvSpPr txBox="1"/>
            <p:nvPr/>
          </p:nvSpPr>
          <p:spPr>
            <a:xfrm>
              <a:off x="8512492" y="1990249"/>
              <a:ext cx="1021556"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Vào Redis CLI</a:t>
              </a:r>
            </a:p>
          </p:txBody>
        </p:sp>
        <p:sp>
          <p:nvSpPr>
            <p:cNvPr id="38" name="TextBox 38"/>
            <p:cNvSpPr txBox="1"/>
            <p:nvPr/>
          </p:nvSpPr>
          <p:spPr>
            <a:xfrm>
              <a:off x="8512492" y="2199799"/>
              <a:ext cx="121379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docker exec -it \</a:t>
              </a:r>
            </a:p>
          </p:txBody>
        </p:sp>
        <p:sp>
          <p:nvSpPr>
            <p:cNvPr id="39" name="TextBox 39"/>
            <p:cNvSpPr txBox="1"/>
            <p:nvPr/>
          </p:nvSpPr>
          <p:spPr>
            <a:xfrm>
              <a:off x="8702992" y="2409349"/>
              <a:ext cx="128499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my-redis redis-cli</a:t>
              </a:r>
            </a:p>
          </p:txBody>
        </p:sp>
        <p:sp>
          <p:nvSpPr>
            <p:cNvPr id="40" name="TextBox 40"/>
            <p:cNvSpPr txBox="1"/>
            <p:nvPr/>
          </p:nvSpPr>
          <p:spPr>
            <a:xfrm>
              <a:off x="8512492" y="2752249"/>
              <a:ext cx="459081"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Test</a:t>
              </a:r>
            </a:p>
          </p:txBody>
        </p:sp>
        <p:sp>
          <p:nvSpPr>
            <p:cNvPr id="41" name="TextBox 41"/>
            <p:cNvSpPr txBox="1"/>
            <p:nvPr/>
          </p:nvSpPr>
          <p:spPr>
            <a:xfrm>
              <a:off x="8512492" y="2961799"/>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FF6B35"/>
                  </a:solidFill>
                  <a:latin typeface="Consolas"/>
                  <a:ea typeface="Microsoft YaHei"/>
                  <a:cs typeface="Consolas"/>
                </a:rPr>
                <a:t>127.0.0.1:6379&gt;</a:t>
              </a:r>
            </a:p>
          </p:txBody>
        </p:sp>
        <p:sp>
          <p:nvSpPr>
            <p:cNvPr id="42" name="TextBox 42"/>
            <p:cNvSpPr txBox="1"/>
            <p:nvPr/>
          </p:nvSpPr>
          <p:spPr>
            <a:xfrm>
              <a:off x="8511540" y="3163252"/>
              <a:ext cx="340659"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E2E8F0"/>
                  </a:solidFill>
                  <a:latin typeface="Consolas"/>
                  <a:ea typeface="Microsoft YaHei"/>
                  <a:cs typeface="Consolas"/>
                </a:rPr>
                <a:t>PING</a:t>
              </a:r>
            </a:p>
          </p:txBody>
        </p:sp>
        <p:sp>
          <p:nvSpPr>
            <p:cNvPr id="43" name="TextBox 43"/>
            <p:cNvSpPr txBox="1"/>
            <p:nvPr/>
          </p:nvSpPr>
          <p:spPr>
            <a:xfrm>
              <a:off x="8511540" y="3372802"/>
              <a:ext cx="413118"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2E7D32"/>
                  </a:solidFill>
                  <a:latin typeface="Consolas"/>
                  <a:ea typeface="Microsoft YaHei"/>
                  <a:cs typeface="Consolas"/>
                </a:rPr>
                <a:t>PONG</a:t>
              </a:r>
            </a:p>
          </p:txBody>
        </p:sp>
        <p:sp>
          <p:nvSpPr>
            <p:cNvPr id="44" name="Freeform 44"/>
            <p:cNvSpPr/>
            <p:nvPr/>
          </p:nvSpPr>
          <p:spPr>
            <a:xfrm>
              <a:off x="8382000" y="3810000"/>
              <a:ext cx="2952750" cy="476250"/>
            </a:xfrm>
            <a:custGeom>
              <a:avLst/>
              <a:gdLst/>
              <a:ahLst/>
              <a:cxnLst/>
              <a:rect l="l" t="t" r="r" b="b"/>
              <a:pathLst>
                <a:path w="2952750" h="476250">
                  <a:moveTo>
                    <a:pt x="76200" y="0"/>
                  </a:moveTo>
                  <a:lnTo>
                    <a:pt x="2876550" y="0"/>
                  </a:lnTo>
                  <a:cubicBezTo>
                    <a:pt x="2918634" y="0"/>
                    <a:pt x="2952750" y="34116"/>
                    <a:pt x="2952750" y="76200"/>
                  </a:cubicBezTo>
                  <a:lnTo>
                    <a:pt x="2952750" y="400050"/>
                  </a:lnTo>
                  <a:cubicBezTo>
                    <a:pt x="2952750" y="442134"/>
                    <a:pt x="2918634" y="476250"/>
                    <a:pt x="2876550" y="476250"/>
                  </a:cubicBezTo>
                  <a:lnTo>
                    <a:pt x="76200" y="476250"/>
                  </a:lnTo>
                  <a:cubicBezTo>
                    <a:pt x="34116" y="476250"/>
                    <a:pt x="0" y="442134"/>
                    <a:pt x="0" y="400050"/>
                  </a:cubicBezTo>
                  <a:lnTo>
                    <a:pt x="0" y="76200"/>
                  </a:lnTo>
                  <a:cubicBezTo>
                    <a:pt x="0" y="34116"/>
                    <a:pt x="34116" y="0"/>
                    <a:pt x="76200" y="0"/>
                  </a:cubicBezTo>
                  <a:close/>
                </a:path>
              </a:pathLst>
            </a:custGeom>
            <a:solidFill>
              <a:srgbClr val="2E7D32">
                <a:alpha val="8000"/>
              </a:srgbClr>
            </a:solidFill>
            <a:ln>
              <a:noFill/>
            </a:ln>
            <a:effectLst>
              <a:outerShdw blurRad="190500" dist="38100" dir="10799140" algn="tl" rotWithShape="0">
                <a:srgbClr val="000000">
                  <a:alpha val="12000"/>
                </a:srgbClr>
              </a:outerShdw>
            </a:effectLst>
          </p:spPr>
        </p:sp>
        <p:sp>
          <p:nvSpPr>
            <p:cNvPr id="45" name="Freeform 45"/>
            <p:cNvSpPr/>
            <p:nvPr/>
          </p:nvSpPr>
          <p:spPr>
            <a:xfrm>
              <a:off x="8524875" y="39338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2E7D32"/>
            </a:solidFill>
            <a:ln>
              <a:noFill/>
            </a:ln>
            <a:effectLst>
              <a:outerShdw blurRad="190500" dist="38100" dir="10799140" algn="tl" rotWithShape="0">
                <a:srgbClr val="000000">
                  <a:alpha val="12000"/>
                </a:srgbClr>
              </a:outerShdw>
            </a:effectLst>
          </p:spPr>
        </p:sp>
        <p:sp>
          <p:nvSpPr>
            <p:cNvPr id="46" name="TextBox 46"/>
            <p:cNvSpPr txBox="1"/>
            <p:nvPr/>
          </p:nvSpPr>
          <p:spPr>
            <a:xfrm>
              <a:off x="8843962" y="3993356"/>
              <a:ext cx="986070"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b="1" dirty="0">
                  <a:solidFill>
                    <a:srgbClr val="2E7D32"/>
                  </a:solidFill>
                  <a:latin typeface="Arial"/>
                  <a:ea typeface="Microsoft YaHei"/>
                  <a:cs typeface="Arial"/>
                </a:rPr>
                <a:t>Thành công!</a:t>
              </a:r>
            </a:p>
          </p:txBody>
        </p:sp>
      </p:grpSp>
      <p:sp>
        <p:nvSpPr>
          <p:cNvPr id="48" name="TextBox 48"/>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14 / 25</a:t>
            </a:r>
          </a:p>
        </p:txBody>
      </p:sp>
    </p:spTree>
  </p:cSld>
  <p:clrMapOvr>
    <a:masterClrMapping/>
  </p:clrMapOvr>
  <p:transition 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4992776"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Cài đặt Redis — Các nền tảng</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grpSp>
        <p:nvGrpSpPr>
          <p:cNvPr id="20" name="Group 20"/>
          <p:cNvGrpSpPr/>
          <p:nvPr/>
        </p:nvGrpSpPr>
        <p:grpSpPr>
          <a:xfrm>
            <a:off x="571500" y="952500"/>
            <a:ext cx="3524250" cy="5048250"/>
            <a:chOff x="571500" y="952500"/>
            <a:chExt cx="3524250" cy="5048250"/>
          </a:xfrm>
          <a:effectLst>
            <a:outerShdw blurRad="190500" dist="38100" dir="10799140" algn="tl" rotWithShape="0">
              <a:srgbClr val="000000">
                <a:alpha val="12000"/>
              </a:srgbClr>
            </a:outerShdw>
          </a:effectLst>
        </p:grpSpPr>
        <p:sp>
          <p:nvSpPr>
            <p:cNvPr id="6" name="Freeform 6"/>
            <p:cNvSpPr/>
            <p:nvPr/>
          </p:nvSpPr>
          <p:spPr>
            <a:xfrm>
              <a:off x="57150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52500"/>
              <a:ext cx="3524250" cy="476250"/>
            </a:xfrm>
            <a:custGeom>
              <a:avLst/>
              <a:gdLst/>
              <a:ahLst/>
              <a:cxnLst/>
              <a:rect l="l" t="t" r="r" b="b"/>
              <a:pathLst>
                <a:path w="3524250" h="476250">
                  <a:moveTo>
                    <a:pt x="114300" y="0"/>
                  </a:moveTo>
                  <a:lnTo>
                    <a:pt x="3409950" y="0"/>
                  </a:lnTo>
                  <a:cubicBezTo>
                    <a:pt x="3473076" y="0"/>
                    <a:pt x="3524250" y="51174"/>
                    <a:pt x="3524250" y="114300"/>
                  </a:cubicBezTo>
                  <a:lnTo>
                    <a:pt x="3524250" y="361950"/>
                  </a:lnTo>
                  <a:cubicBezTo>
                    <a:pt x="3524250" y="425076"/>
                    <a:pt x="3473076" y="476250"/>
                    <a:pt x="3409950" y="476250"/>
                  </a:cubicBezTo>
                  <a:lnTo>
                    <a:pt x="114300" y="476250"/>
                  </a:lnTo>
                  <a:cubicBezTo>
                    <a:pt x="51174" y="476250"/>
                    <a:pt x="0" y="425076"/>
                    <a:pt x="0" y="361950"/>
                  </a:cubicBezTo>
                  <a:lnTo>
                    <a:pt x="0" y="114300"/>
                  </a:lnTo>
                  <a:cubicBezTo>
                    <a:pt x="0" y="51174"/>
                    <a:pt x="51174" y="0"/>
                    <a:pt x="114300" y="0"/>
                  </a:cubicBezTo>
                  <a:close/>
                </a:path>
              </a:pathLst>
            </a:custGeom>
            <a:solidFill>
              <a:srgbClr val="006AF9"/>
            </a:solidFill>
            <a:ln>
              <a:noFill/>
            </a:ln>
            <a:effectLst>
              <a:outerShdw blurRad="190500" dist="38100" dir="10799140" algn="tl" rotWithShape="0">
                <a:srgbClr val="000000">
                  <a:alpha val="12000"/>
                </a:srgbClr>
              </a:outerShdw>
            </a:effectLst>
          </p:spPr>
        </p:sp>
        <p:sp>
          <p:nvSpPr>
            <p:cNvPr id="8" name="Rectangle 8"/>
            <p:cNvSpPr/>
            <p:nvPr/>
          </p:nvSpPr>
          <p:spPr>
            <a:xfrm>
              <a:off x="571500" y="1314450"/>
              <a:ext cx="3524250" cy="114300"/>
            </a:xfrm>
            <a:prstGeom prst="rect">
              <a:avLst/>
            </a:prstGeom>
            <a:solidFill>
              <a:srgbClr val="006AF9"/>
            </a:solidFill>
            <a:ln>
              <a:noFill/>
            </a:ln>
            <a:effectLst>
              <a:outerShdw blurRad="190500" dist="38100" dir="10799140" algn="tl" rotWithShape="0">
                <a:srgbClr val="000000">
                  <a:alpha val="12000"/>
                </a:srgbClr>
              </a:outerShdw>
            </a:effectLst>
          </p:spPr>
        </p:sp>
        <p:sp>
          <p:nvSpPr>
            <p:cNvPr id="9" name="TextBox 9"/>
            <p:cNvSpPr txBox="1"/>
            <p:nvPr/>
          </p:nvSpPr>
          <p:spPr>
            <a:xfrm>
              <a:off x="1509079" y="1111568"/>
              <a:ext cx="1649092"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WSL2 (Windows)</a:t>
              </a:r>
            </a:p>
          </p:txBody>
        </p:sp>
        <p:sp>
          <p:nvSpPr>
            <p:cNvPr id="10" name="Freeform 10"/>
            <p:cNvSpPr/>
            <p:nvPr/>
          </p:nvSpPr>
          <p:spPr>
            <a:xfrm>
              <a:off x="857250" y="1619250"/>
              <a:ext cx="2952750" cy="1905000"/>
            </a:xfrm>
            <a:custGeom>
              <a:avLst/>
              <a:gdLst/>
              <a:ahLst/>
              <a:cxnLst/>
              <a:rect l="l" t="t" r="r" b="b"/>
              <a:pathLst>
                <a:path w="2952750" h="1905000">
                  <a:moveTo>
                    <a:pt x="76200" y="0"/>
                  </a:moveTo>
                  <a:lnTo>
                    <a:pt x="2876550" y="0"/>
                  </a:lnTo>
                  <a:cubicBezTo>
                    <a:pt x="2918634" y="0"/>
                    <a:pt x="2952750" y="34116"/>
                    <a:pt x="2952750" y="76200"/>
                  </a:cubicBezTo>
                  <a:lnTo>
                    <a:pt x="2952750" y="1828800"/>
                  </a:lnTo>
                  <a:cubicBezTo>
                    <a:pt x="2952750" y="1870884"/>
                    <a:pt x="2918634" y="1905000"/>
                    <a:pt x="2876550" y="1905000"/>
                  </a:cubicBezTo>
                  <a:lnTo>
                    <a:pt x="76200" y="1905000"/>
                  </a:lnTo>
                  <a:cubicBezTo>
                    <a:pt x="34116" y="1905000"/>
                    <a:pt x="0" y="1870884"/>
                    <a:pt x="0" y="18288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sp>
        <p:sp>
          <p:nvSpPr>
            <p:cNvPr id="11" name="TextBox 11"/>
            <p:cNvSpPr txBox="1"/>
            <p:nvPr/>
          </p:nvSpPr>
          <p:spPr>
            <a:xfrm>
              <a:off x="987742" y="1752124"/>
              <a:ext cx="76523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Bật WSL2</a:t>
              </a:r>
            </a:p>
          </p:txBody>
        </p:sp>
        <p:sp>
          <p:nvSpPr>
            <p:cNvPr id="12" name="TextBox 12"/>
            <p:cNvSpPr txBox="1"/>
            <p:nvPr/>
          </p:nvSpPr>
          <p:spPr>
            <a:xfrm>
              <a:off x="987742" y="1942624"/>
              <a:ext cx="893397"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wsl --install</a:t>
              </a:r>
            </a:p>
          </p:txBody>
        </p:sp>
        <p:sp>
          <p:nvSpPr>
            <p:cNvPr id="13" name="TextBox 13"/>
            <p:cNvSpPr txBox="1"/>
            <p:nvPr/>
          </p:nvSpPr>
          <p:spPr>
            <a:xfrm>
              <a:off x="987742" y="2228374"/>
              <a:ext cx="743879"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Cài Redis</a:t>
              </a:r>
            </a:p>
          </p:txBody>
        </p:sp>
        <p:sp>
          <p:nvSpPr>
            <p:cNvPr id="14" name="TextBox 14"/>
            <p:cNvSpPr txBox="1"/>
            <p:nvPr/>
          </p:nvSpPr>
          <p:spPr>
            <a:xfrm>
              <a:off x="987742" y="2418874"/>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apt update</a:t>
              </a:r>
            </a:p>
          </p:txBody>
        </p:sp>
        <p:sp>
          <p:nvSpPr>
            <p:cNvPr id="15" name="TextBox 15"/>
            <p:cNvSpPr txBox="1"/>
            <p:nvPr/>
          </p:nvSpPr>
          <p:spPr>
            <a:xfrm>
              <a:off x="987742" y="2609374"/>
              <a:ext cx="122091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apt install \</a:t>
              </a:r>
            </a:p>
          </p:txBody>
        </p:sp>
        <p:sp>
          <p:nvSpPr>
            <p:cNvPr id="16" name="TextBox 16"/>
            <p:cNvSpPr txBox="1"/>
            <p:nvPr/>
          </p:nvSpPr>
          <p:spPr>
            <a:xfrm>
              <a:off x="1178242" y="2799874"/>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redis-server -y</a:t>
              </a:r>
            </a:p>
          </p:txBody>
        </p:sp>
        <p:sp>
          <p:nvSpPr>
            <p:cNvPr id="17" name="TextBox 17"/>
            <p:cNvSpPr txBox="1"/>
            <p:nvPr/>
          </p:nvSpPr>
          <p:spPr>
            <a:xfrm>
              <a:off x="987742" y="3085624"/>
              <a:ext cx="7794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Khởi động</a:t>
              </a:r>
            </a:p>
          </p:txBody>
        </p:sp>
        <p:sp>
          <p:nvSpPr>
            <p:cNvPr id="18" name="TextBox 18"/>
            <p:cNvSpPr txBox="1"/>
            <p:nvPr/>
          </p:nvSpPr>
          <p:spPr>
            <a:xfrm>
              <a:off x="987742" y="3276124"/>
              <a:ext cx="1014436"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service \</a:t>
              </a:r>
            </a:p>
          </p:txBody>
        </p:sp>
        <p:sp>
          <p:nvSpPr>
            <p:cNvPr id="19" name="TextBox 19"/>
            <p:cNvSpPr txBox="1"/>
            <p:nvPr/>
          </p:nvSpPr>
          <p:spPr>
            <a:xfrm>
              <a:off x="1178242" y="3371374"/>
              <a:ext cx="136331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redis-server start</a:t>
              </a:r>
            </a:p>
          </p:txBody>
        </p:sp>
      </p:grpSp>
      <p:grpSp>
        <p:nvGrpSpPr>
          <p:cNvPr id="31" name="Group 31"/>
          <p:cNvGrpSpPr/>
          <p:nvPr/>
        </p:nvGrpSpPr>
        <p:grpSpPr>
          <a:xfrm>
            <a:off x="4333875" y="952500"/>
            <a:ext cx="3524250" cy="5048250"/>
            <a:chOff x="4333875" y="952500"/>
            <a:chExt cx="3524250" cy="5048250"/>
          </a:xfrm>
          <a:effectLst>
            <a:outerShdw blurRad="190500" dist="38100" dir="10799140" algn="tl" rotWithShape="0">
              <a:srgbClr val="000000">
                <a:alpha val="12000"/>
              </a:srgbClr>
            </a:outerShdw>
          </a:effectLst>
        </p:grpSpPr>
        <p:sp>
          <p:nvSpPr>
            <p:cNvPr id="21" name="Freeform 21"/>
            <p:cNvSpPr/>
            <p:nvPr/>
          </p:nvSpPr>
          <p:spPr>
            <a:xfrm>
              <a:off x="4333875"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2" name="Freeform 22"/>
            <p:cNvSpPr/>
            <p:nvPr/>
          </p:nvSpPr>
          <p:spPr>
            <a:xfrm>
              <a:off x="4333875" y="952500"/>
              <a:ext cx="3524250" cy="476250"/>
            </a:xfrm>
            <a:custGeom>
              <a:avLst/>
              <a:gdLst/>
              <a:ahLst/>
              <a:cxnLst/>
              <a:rect l="l" t="t" r="r" b="b"/>
              <a:pathLst>
                <a:path w="3524250" h="476250">
                  <a:moveTo>
                    <a:pt x="114300" y="0"/>
                  </a:moveTo>
                  <a:lnTo>
                    <a:pt x="3409950" y="0"/>
                  </a:lnTo>
                  <a:cubicBezTo>
                    <a:pt x="3473076" y="0"/>
                    <a:pt x="3524250" y="51174"/>
                    <a:pt x="3524250" y="114300"/>
                  </a:cubicBezTo>
                  <a:lnTo>
                    <a:pt x="3524250" y="361950"/>
                  </a:lnTo>
                  <a:cubicBezTo>
                    <a:pt x="3524250" y="425076"/>
                    <a:pt x="3473076" y="476250"/>
                    <a:pt x="3409950" y="476250"/>
                  </a:cubicBezTo>
                  <a:lnTo>
                    <a:pt x="114300" y="476250"/>
                  </a:lnTo>
                  <a:cubicBezTo>
                    <a:pt x="51174" y="476250"/>
                    <a:pt x="0" y="425076"/>
                    <a:pt x="0" y="361950"/>
                  </a:cubicBezTo>
                  <a:lnTo>
                    <a:pt x="0" y="114300"/>
                  </a:lnTo>
                  <a:cubicBezTo>
                    <a:pt x="0" y="51174"/>
                    <a:pt x="51174" y="0"/>
                    <a:pt x="114300" y="0"/>
                  </a:cubicBezTo>
                  <a:close/>
                </a:path>
              </a:pathLst>
            </a:custGeom>
            <a:solidFill>
              <a:srgbClr val="2E7D32"/>
            </a:solidFill>
            <a:ln>
              <a:noFill/>
            </a:ln>
            <a:effectLst>
              <a:outerShdw blurRad="190500" dist="38100" dir="10799140" algn="tl" rotWithShape="0">
                <a:srgbClr val="000000">
                  <a:alpha val="12000"/>
                </a:srgbClr>
              </a:outerShdw>
            </a:effectLst>
          </p:spPr>
        </p:sp>
        <p:sp>
          <p:nvSpPr>
            <p:cNvPr id="23" name="Rectangle 23"/>
            <p:cNvSpPr/>
            <p:nvPr/>
          </p:nvSpPr>
          <p:spPr>
            <a:xfrm>
              <a:off x="4333875" y="1314450"/>
              <a:ext cx="3524250" cy="114300"/>
            </a:xfrm>
            <a:prstGeom prst="rect">
              <a:avLst/>
            </a:prstGeom>
            <a:solidFill>
              <a:srgbClr val="2E7D32"/>
            </a:solidFill>
            <a:ln>
              <a:noFill/>
            </a:ln>
            <a:effectLst>
              <a:outerShdw blurRad="190500" dist="38100" dir="10799140" algn="tl" rotWithShape="0">
                <a:srgbClr val="000000">
                  <a:alpha val="12000"/>
                </a:srgbClr>
              </a:outerShdw>
            </a:effectLst>
          </p:spPr>
        </p:sp>
        <p:sp>
          <p:nvSpPr>
            <p:cNvPr id="24" name="TextBox 24"/>
            <p:cNvSpPr txBox="1"/>
            <p:nvPr/>
          </p:nvSpPr>
          <p:spPr>
            <a:xfrm>
              <a:off x="5752789" y="1111568"/>
              <a:ext cx="686422"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macOS</a:t>
              </a:r>
            </a:p>
          </p:txBody>
        </p:sp>
        <p:sp>
          <p:nvSpPr>
            <p:cNvPr id="25" name="Freeform 25"/>
            <p:cNvSpPr/>
            <p:nvPr/>
          </p:nvSpPr>
          <p:spPr>
            <a:xfrm>
              <a:off x="4619625" y="1619250"/>
              <a:ext cx="2952750" cy="1333500"/>
            </a:xfrm>
            <a:custGeom>
              <a:avLst/>
              <a:gdLst/>
              <a:ahLst/>
              <a:cxnLst/>
              <a:rect l="l" t="t" r="r" b="b"/>
              <a:pathLst>
                <a:path w="2952750" h="1333500">
                  <a:moveTo>
                    <a:pt x="76200" y="0"/>
                  </a:moveTo>
                  <a:lnTo>
                    <a:pt x="2876550" y="0"/>
                  </a:lnTo>
                  <a:cubicBezTo>
                    <a:pt x="2918634" y="0"/>
                    <a:pt x="2952750" y="34116"/>
                    <a:pt x="2952750" y="76200"/>
                  </a:cubicBezTo>
                  <a:lnTo>
                    <a:pt x="2952750" y="1257300"/>
                  </a:lnTo>
                  <a:cubicBezTo>
                    <a:pt x="2952750" y="1299384"/>
                    <a:pt x="2918634" y="1333500"/>
                    <a:pt x="2876550" y="1333500"/>
                  </a:cubicBezTo>
                  <a:lnTo>
                    <a:pt x="76200" y="1333500"/>
                  </a:lnTo>
                  <a:cubicBezTo>
                    <a:pt x="34116" y="1333500"/>
                    <a:pt x="0" y="1299384"/>
                    <a:pt x="0" y="12573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sp>
        <p:sp>
          <p:nvSpPr>
            <p:cNvPr id="26" name="TextBox 26"/>
            <p:cNvSpPr txBox="1"/>
            <p:nvPr/>
          </p:nvSpPr>
          <p:spPr>
            <a:xfrm>
              <a:off x="4750118" y="1752124"/>
              <a:ext cx="82931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Homebrew</a:t>
              </a:r>
            </a:p>
          </p:txBody>
        </p:sp>
        <p:sp>
          <p:nvSpPr>
            <p:cNvPr id="27" name="TextBox 27"/>
            <p:cNvSpPr txBox="1"/>
            <p:nvPr/>
          </p:nvSpPr>
          <p:spPr>
            <a:xfrm>
              <a:off x="4750118" y="1942624"/>
              <a:ext cx="124939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brew install redis</a:t>
              </a:r>
            </a:p>
          </p:txBody>
        </p:sp>
        <p:sp>
          <p:nvSpPr>
            <p:cNvPr id="28" name="TextBox 28"/>
            <p:cNvSpPr txBox="1"/>
            <p:nvPr/>
          </p:nvSpPr>
          <p:spPr>
            <a:xfrm>
              <a:off x="4750118" y="2228374"/>
              <a:ext cx="7794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Khởi động</a:t>
              </a:r>
            </a:p>
          </p:txBody>
        </p:sp>
        <p:sp>
          <p:nvSpPr>
            <p:cNvPr id="29" name="TextBox 29"/>
            <p:cNvSpPr txBox="1"/>
            <p:nvPr/>
          </p:nvSpPr>
          <p:spPr>
            <a:xfrm>
              <a:off x="4750118" y="2418874"/>
              <a:ext cx="112123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brew services \</a:t>
              </a:r>
            </a:p>
          </p:txBody>
        </p:sp>
        <p:sp>
          <p:nvSpPr>
            <p:cNvPr id="30" name="TextBox 30"/>
            <p:cNvSpPr txBox="1"/>
            <p:nvPr/>
          </p:nvSpPr>
          <p:spPr>
            <a:xfrm>
              <a:off x="4940618" y="2609374"/>
              <a:ext cx="8150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start redis</a:t>
              </a:r>
            </a:p>
          </p:txBody>
        </p:sp>
      </p:grpSp>
      <p:grpSp>
        <p:nvGrpSpPr>
          <p:cNvPr id="45" name="Group 45"/>
          <p:cNvGrpSpPr/>
          <p:nvPr/>
        </p:nvGrpSpPr>
        <p:grpSpPr>
          <a:xfrm>
            <a:off x="8096250" y="952500"/>
            <a:ext cx="3524250" cy="5048250"/>
            <a:chOff x="8096250" y="952500"/>
            <a:chExt cx="3524250" cy="5048250"/>
          </a:xfrm>
          <a:effectLst>
            <a:outerShdw blurRad="190500" dist="38100" dir="10799140" algn="tl" rotWithShape="0">
              <a:srgbClr val="000000">
                <a:alpha val="12000"/>
              </a:srgbClr>
            </a:outerShdw>
          </a:effectLst>
        </p:grpSpPr>
        <p:sp>
          <p:nvSpPr>
            <p:cNvPr id="32" name="Freeform 32"/>
            <p:cNvSpPr/>
            <p:nvPr/>
          </p:nvSpPr>
          <p:spPr>
            <a:xfrm>
              <a:off x="809625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3" name="Freeform 33"/>
            <p:cNvSpPr/>
            <p:nvPr/>
          </p:nvSpPr>
          <p:spPr>
            <a:xfrm>
              <a:off x="8096250" y="952500"/>
              <a:ext cx="3524250" cy="476250"/>
            </a:xfrm>
            <a:custGeom>
              <a:avLst/>
              <a:gdLst/>
              <a:ahLst/>
              <a:cxnLst/>
              <a:rect l="l" t="t" r="r" b="b"/>
              <a:pathLst>
                <a:path w="3524250" h="476250">
                  <a:moveTo>
                    <a:pt x="114300" y="0"/>
                  </a:moveTo>
                  <a:lnTo>
                    <a:pt x="3409950" y="0"/>
                  </a:lnTo>
                  <a:cubicBezTo>
                    <a:pt x="3473076" y="0"/>
                    <a:pt x="3524250" y="51174"/>
                    <a:pt x="3524250" y="114300"/>
                  </a:cubicBezTo>
                  <a:lnTo>
                    <a:pt x="3524250" y="361950"/>
                  </a:lnTo>
                  <a:cubicBezTo>
                    <a:pt x="3524250" y="425076"/>
                    <a:pt x="3473076" y="476250"/>
                    <a:pt x="3409950" y="476250"/>
                  </a:cubicBezTo>
                  <a:lnTo>
                    <a:pt x="114300" y="476250"/>
                  </a:lnTo>
                  <a:cubicBezTo>
                    <a:pt x="51174" y="476250"/>
                    <a:pt x="0" y="425076"/>
                    <a:pt x="0" y="361950"/>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34" name="Rectangle 34"/>
            <p:cNvSpPr/>
            <p:nvPr/>
          </p:nvSpPr>
          <p:spPr>
            <a:xfrm>
              <a:off x="8096250" y="1314450"/>
              <a:ext cx="3524250" cy="114300"/>
            </a:xfrm>
            <a:prstGeom prst="rect">
              <a:avLst/>
            </a:prstGeom>
            <a:solidFill>
              <a:srgbClr val="D12B1F"/>
            </a:solidFill>
            <a:ln>
              <a:noFill/>
            </a:ln>
            <a:effectLst>
              <a:outerShdw blurRad="190500" dist="38100" dir="10799140" algn="tl" rotWithShape="0">
                <a:srgbClr val="000000">
                  <a:alpha val="12000"/>
                </a:srgbClr>
              </a:outerShdw>
            </a:effectLst>
          </p:spPr>
        </p:sp>
        <p:sp>
          <p:nvSpPr>
            <p:cNvPr id="35" name="TextBox 35"/>
            <p:cNvSpPr txBox="1"/>
            <p:nvPr/>
          </p:nvSpPr>
          <p:spPr>
            <a:xfrm>
              <a:off x="9095937" y="1111568"/>
              <a:ext cx="1524876"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Linux (Ubuntu)</a:t>
              </a:r>
            </a:p>
          </p:txBody>
        </p:sp>
        <p:sp>
          <p:nvSpPr>
            <p:cNvPr id="36" name="Freeform 36"/>
            <p:cNvSpPr/>
            <p:nvPr/>
          </p:nvSpPr>
          <p:spPr>
            <a:xfrm>
              <a:off x="8382000" y="1619250"/>
              <a:ext cx="2952750" cy="1905000"/>
            </a:xfrm>
            <a:custGeom>
              <a:avLst/>
              <a:gdLst/>
              <a:ahLst/>
              <a:cxnLst/>
              <a:rect l="l" t="t" r="r" b="b"/>
              <a:pathLst>
                <a:path w="2952750" h="1905000">
                  <a:moveTo>
                    <a:pt x="76200" y="0"/>
                  </a:moveTo>
                  <a:lnTo>
                    <a:pt x="2876550" y="0"/>
                  </a:lnTo>
                  <a:cubicBezTo>
                    <a:pt x="2918634" y="0"/>
                    <a:pt x="2952750" y="34116"/>
                    <a:pt x="2952750" y="76200"/>
                  </a:cubicBezTo>
                  <a:lnTo>
                    <a:pt x="2952750" y="1828800"/>
                  </a:lnTo>
                  <a:cubicBezTo>
                    <a:pt x="2952750" y="1870884"/>
                    <a:pt x="2918634" y="1905000"/>
                    <a:pt x="2876550" y="1905000"/>
                  </a:cubicBezTo>
                  <a:lnTo>
                    <a:pt x="76200" y="1905000"/>
                  </a:lnTo>
                  <a:cubicBezTo>
                    <a:pt x="34116" y="1905000"/>
                    <a:pt x="0" y="1870884"/>
                    <a:pt x="0" y="18288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sp>
        <p:sp>
          <p:nvSpPr>
            <p:cNvPr id="37" name="TextBox 37"/>
            <p:cNvSpPr txBox="1"/>
            <p:nvPr/>
          </p:nvSpPr>
          <p:spPr>
            <a:xfrm>
              <a:off x="8512492" y="1752124"/>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apt update</a:t>
              </a:r>
            </a:p>
          </p:txBody>
        </p:sp>
        <p:sp>
          <p:nvSpPr>
            <p:cNvPr id="38" name="TextBox 38"/>
            <p:cNvSpPr txBox="1"/>
            <p:nvPr/>
          </p:nvSpPr>
          <p:spPr>
            <a:xfrm>
              <a:off x="8512492" y="1942624"/>
              <a:ext cx="122091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apt install \</a:t>
              </a:r>
            </a:p>
          </p:txBody>
        </p:sp>
        <p:sp>
          <p:nvSpPr>
            <p:cNvPr id="39" name="TextBox 39"/>
            <p:cNvSpPr txBox="1"/>
            <p:nvPr/>
          </p:nvSpPr>
          <p:spPr>
            <a:xfrm>
              <a:off x="8702992" y="2133124"/>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redis-server -y</a:t>
              </a:r>
            </a:p>
          </p:txBody>
        </p:sp>
        <p:sp>
          <p:nvSpPr>
            <p:cNvPr id="40" name="TextBox 40"/>
            <p:cNvSpPr txBox="1"/>
            <p:nvPr/>
          </p:nvSpPr>
          <p:spPr>
            <a:xfrm>
              <a:off x="8512492" y="2418874"/>
              <a:ext cx="7794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Khởi động</a:t>
              </a:r>
            </a:p>
          </p:txBody>
        </p:sp>
        <p:sp>
          <p:nvSpPr>
            <p:cNvPr id="41" name="TextBox 41"/>
            <p:cNvSpPr txBox="1"/>
            <p:nvPr/>
          </p:nvSpPr>
          <p:spPr>
            <a:xfrm>
              <a:off x="8512492" y="2609374"/>
              <a:ext cx="11995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systemctl \</a:t>
              </a:r>
            </a:p>
          </p:txBody>
        </p:sp>
        <p:sp>
          <p:nvSpPr>
            <p:cNvPr id="42" name="TextBox 42"/>
            <p:cNvSpPr txBox="1"/>
            <p:nvPr/>
          </p:nvSpPr>
          <p:spPr>
            <a:xfrm>
              <a:off x="8702992" y="2799874"/>
              <a:ext cx="136331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start redis-server</a:t>
              </a:r>
            </a:p>
          </p:txBody>
        </p:sp>
        <p:sp>
          <p:nvSpPr>
            <p:cNvPr id="43" name="TextBox 43"/>
            <p:cNvSpPr txBox="1"/>
            <p:nvPr/>
          </p:nvSpPr>
          <p:spPr>
            <a:xfrm>
              <a:off x="8512492" y="3085624"/>
              <a:ext cx="11995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systemctl \</a:t>
              </a:r>
            </a:p>
          </p:txBody>
        </p:sp>
        <p:sp>
          <p:nvSpPr>
            <p:cNvPr id="44" name="TextBox 44"/>
            <p:cNvSpPr txBox="1"/>
            <p:nvPr/>
          </p:nvSpPr>
          <p:spPr>
            <a:xfrm>
              <a:off x="8702992" y="3276124"/>
              <a:ext cx="140603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enable redis-server</a:t>
              </a:r>
            </a:p>
          </p:txBody>
        </p:sp>
      </p:grpSp>
      <p:sp>
        <p:nvSpPr>
          <p:cNvPr id="46" name="TextBox 46"/>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15 / 25</a:t>
            </a:r>
          </a:p>
        </p:txBody>
      </p:sp>
    </p:spTree>
  </p:cSld>
  <p:clrMapOvr>
    <a:masterClrMapping/>
  </p:clrMapOvr>
  <p:transition 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0B4DA2"/>
          </a:solidFill>
          <a:ln>
            <a:noFill/>
          </a:ln>
        </p:spPr>
      </p:sp>
      <p:sp>
        <p:nvSpPr>
          <p:cNvPr id="4" name="TextBox 4"/>
          <p:cNvSpPr txBox="1"/>
          <p:nvPr/>
        </p:nvSpPr>
        <p:spPr>
          <a:xfrm>
            <a:off x="541020" y="264795"/>
            <a:ext cx="4790351"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GUI Tools &amp; Cấu hình cơ bản</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grpSp>
        <p:nvGrpSpPr>
          <p:cNvPr id="10" name="Group 10"/>
          <p:cNvGrpSpPr/>
          <p:nvPr/>
        </p:nvGrpSpPr>
        <p:grpSpPr>
          <a:xfrm>
            <a:off x="571500" y="952500"/>
            <a:ext cx="5334000" cy="5048250"/>
            <a:chOff x="571500" y="952500"/>
            <a:chExt cx="5334000" cy="5048250"/>
          </a:xfrm>
          <a:effectLst>
            <a:outerShdw blurRad="190500" dist="38100" dir="10799140" algn="tl" rotWithShape="0">
              <a:srgbClr val="000000">
                <a:alpha val="12000"/>
              </a:srgbClr>
            </a:outerShdw>
          </a:effectLst>
        </p:grpSpPr>
        <p:sp>
          <p:nvSpPr>
            <p:cNvPr id="6" name="Freeform 6"/>
            <p:cNvSpPr/>
            <p:nvPr/>
          </p:nvSpPr>
          <p:spPr>
            <a:xfrm>
              <a:off x="571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52500"/>
              <a:ext cx="5334000" cy="476250"/>
            </a:xfrm>
            <a:custGeom>
              <a:avLst/>
              <a:gdLst/>
              <a:ahLst/>
              <a:cxnLst/>
              <a:rect l="l" t="t" r="r" b="b"/>
              <a:pathLst>
                <a:path w="5334000" h="476250">
                  <a:moveTo>
                    <a:pt x="114300" y="0"/>
                  </a:moveTo>
                  <a:lnTo>
                    <a:pt x="5219700" y="0"/>
                  </a:lnTo>
                  <a:cubicBezTo>
                    <a:pt x="5282826" y="0"/>
                    <a:pt x="5334000" y="51174"/>
                    <a:pt x="5334000" y="114300"/>
                  </a:cubicBezTo>
                  <a:lnTo>
                    <a:pt x="5334000" y="361950"/>
                  </a:lnTo>
                  <a:cubicBezTo>
                    <a:pt x="5334000" y="425076"/>
                    <a:pt x="5282826" y="476250"/>
                    <a:pt x="5219700" y="476250"/>
                  </a:cubicBezTo>
                  <a:lnTo>
                    <a:pt x="114300" y="476250"/>
                  </a:lnTo>
                  <a:cubicBezTo>
                    <a:pt x="51174" y="476250"/>
                    <a:pt x="0" y="425076"/>
                    <a:pt x="0" y="361950"/>
                  </a:cubicBezTo>
                  <a:lnTo>
                    <a:pt x="0" y="114300"/>
                  </a:lnTo>
                  <a:cubicBezTo>
                    <a:pt x="0" y="51174"/>
                    <a:pt x="51174" y="0"/>
                    <a:pt x="114300" y="0"/>
                  </a:cubicBezTo>
                  <a:close/>
                </a:path>
              </a:pathLst>
            </a:custGeom>
            <a:solidFill>
              <a:srgbClr val="006AF9"/>
            </a:solidFill>
            <a:ln>
              <a:noFill/>
            </a:ln>
            <a:effectLst>
              <a:outerShdw blurRad="190500" dist="38100" dir="10799140" algn="tl" rotWithShape="0">
                <a:srgbClr val="000000">
                  <a:alpha val="12000"/>
                </a:srgbClr>
              </a:outerShdw>
            </a:effectLst>
          </p:spPr>
        </p:sp>
        <p:sp>
          <p:nvSpPr>
            <p:cNvPr id="8" name="Rectangle 8"/>
            <p:cNvSpPr/>
            <p:nvPr/>
          </p:nvSpPr>
          <p:spPr>
            <a:xfrm>
              <a:off x="571500" y="1314450"/>
              <a:ext cx="5334000" cy="114300"/>
            </a:xfrm>
            <a:prstGeom prst="rect">
              <a:avLst/>
            </a:prstGeom>
            <a:solidFill>
              <a:srgbClr val="006AF9"/>
            </a:solidFill>
            <a:ln>
              <a:noFill/>
            </a:ln>
            <a:effectLst>
              <a:outerShdw blurRad="190500" dist="38100" dir="10799140" algn="tl" rotWithShape="0">
                <a:srgbClr val="000000">
                  <a:alpha val="12000"/>
                </a:srgbClr>
              </a:outerShdw>
            </a:effectLst>
          </p:spPr>
        </p:sp>
        <p:sp>
          <p:nvSpPr>
            <p:cNvPr id="9" name="TextBox 9"/>
            <p:cNvSpPr txBox="1"/>
            <p:nvPr/>
          </p:nvSpPr>
          <p:spPr>
            <a:xfrm>
              <a:off x="2786601" y="1111568"/>
              <a:ext cx="903799"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GUI Tools</a:t>
              </a:r>
            </a:p>
          </p:txBody>
        </p:sp>
      </p:grpSp>
      <p:sp>
        <p:nvSpPr>
          <p:cNvPr id="11" name="Freeform 11"/>
          <p:cNvSpPr/>
          <p:nvPr/>
        </p:nvSpPr>
        <p:spPr>
          <a:xfrm>
            <a:off x="857250" y="1619250"/>
            <a:ext cx="4762500" cy="1143000"/>
          </a:xfrm>
          <a:custGeom>
            <a:avLst/>
            <a:gdLst/>
            <a:ahLst/>
            <a:cxnLst/>
            <a:rect l="l" t="t" r="r" b="b"/>
            <a:pathLst>
              <a:path w="4762500" h="1143000">
                <a:moveTo>
                  <a:pt x="95250" y="0"/>
                </a:moveTo>
                <a:lnTo>
                  <a:pt x="4667250" y="0"/>
                </a:lnTo>
                <a:cubicBezTo>
                  <a:pt x="4719855" y="0"/>
                  <a:pt x="4762500" y="42645"/>
                  <a:pt x="4762500" y="95250"/>
                </a:cubicBezTo>
                <a:lnTo>
                  <a:pt x="4762500" y="1047750"/>
                </a:lnTo>
                <a:cubicBezTo>
                  <a:pt x="4762500" y="1100355"/>
                  <a:pt x="4719855" y="1143000"/>
                  <a:pt x="4667250" y="1143000"/>
                </a:cubicBezTo>
                <a:lnTo>
                  <a:pt x="95250" y="1143000"/>
                </a:lnTo>
                <a:cubicBezTo>
                  <a:pt x="42645" y="1143000"/>
                  <a:pt x="0" y="1100355"/>
                  <a:pt x="0" y="1047750"/>
                </a:cubicBezTo>
                <a:lnTo>
                  <a:pt x="0" y="95250"/>
                </a:lnTo>
                <a:cubicBezTo>
                  <a:pt x="0" y="42645"/>
                  <a:pt x="42645" y="0"/>
                  <a:pt x="95250" y="0"/>
                </a:cubicBezTo>
                <a:close/>
              </a:path>
            </a:pathLst>
          </a:custGeom>
          <a:solidFill>
            <a:srgbClr val="E5F4F9"/>
          </a:solidFill>
          <a:ln>
            <a:noFill/>
          </a:ln>
        </p:spPr>
      </p:sp>
      <p:sp>
        <p:nvSpPr>
          <p:cNvPr id="12" name="Freeform 12"/>
          <p:cNvSpPr/>
          <p:nvPr/>
        </p:nvSpPr>
        <p:spPr>
          <a:xfrm>
            <a:off x="1069181" y="1878806"/>
            <a:ext cx="300038" cy="300038"/>
          </a:xfrm>
          <a:custGeom>
            <a:avLst/>
            <a:gdLst/>
            <a:ahLst/>
            <a:cxnLst/>
            <a:rect l="l" t="t" r="r" b="b"/>
            <a:pathLst>
              <a:path w="300038" h="300038">
                <a:moveTo>
                  <a:pt x="128588" y="0"/>
                </a:moveTo>
                <a:lnTo>
                  <a:pt x="0" y="0"/>
                </a:lnTo>
                <a:lnTo>
                  <a:pt x="0" y="128588"/>
                </a:lnTo>
                <a:lnTo>
                  <a:pt x="128588" y="128588"/>
                </a:lnTo>
                <a:lnTo>
                  <a:pt x="128588" y="0"/>
                </a:lnTo>
                <a:close/>
                <a:moveTo>
                  <a:pt x="128588" y="171450"/>
                </a:moveTo>
                <a:lnTo>
                  <a:pt x="0" y="171450"/>
                </a:lnTo>
                <a:lnTo>
                  <a:pt x="0" y="300038"/>
                </a:lnTo>
                <a:lnTo>
                  <a:pt x="128588" y="300038"/>
                </a:lnTo>
                <a:lnTo>
                  <a:pt x="128588" y="171450"/>
                </a:lnTo>
                <a:close/>
                <a:moveTo>
                  <a:pt x="171450" y="0"/>
                </a:moveTo>
                <a:lnTo>
                  <a:pt x="300038" y="0"/>
                </a:lnTo>
                <a:lnTo>
                  <a:pt x="300038" y="128588"/>
                </a:lnTo>
                <a:lnTo>
                  <a:pt x="171450" y="128588"/>
                </a:lnTo>
                <a:lnTo>
                  <a:pt x="171450" y="0"/>
                </a:lnTo>
                <a:close/>
                <a:moveTo>
                  <a:pt x="300038" y="171450"/>
                </a:moveTo>
                <a:lnTo>
                  <a:pt x="171450" y="171450"/>
                </a:lnTo>
                <a:lnTo>
                  <a:pt x="171450" y="300038"/>
                </a:lnTo>
                <a:lnTo>
                  <a:pt x="300038" y="300038"/>
                </a:lnTo>
                <a:lnTo>
                  <a:pt x="300038" y="171450"/>
                </a:lnTo>
                <a:close/>
              </a:path>
            </a:pathLst>
          </a:custGeom>
          <a:solidFill>
            <a:srgbClr val="D12B1F"/>
          </a:solidFill>
          <a:ln>
            <a:noFill/>
          </a:ln>
        </p:spPr>
      </p:sp>
      <p:sp>
        <p:nvSpPr>
          <p:cNvPr id="13" name="TextBox 13"/>
          <p:cNvSpPr txBox="1"/>
          <p:nvPr/>
        </p:nvSpPr>
        <p:spPr>
          <a:xfrm>
            <a:off x="1506855" y="1854518"/>
            <a:ext cx="1245391" cy="274320"/>
          </a:xfrm>
          <a:prstGeom prst="rect">
            <a:avLst/>
          </a:prstGeom>
          <a:noFill/>
          <a:ln>
            <a:noFill/>
          </a:ln>
        </p:spPr>
        <p:txBody>
          <a:bodyPr wrap="none" lIns="0" tIns="0" rIns="0" bIns="0" anchor="t" anchorCtr="0">
            <a:spAutoFit/>
          </a:bodyPr>
          <a:lstStyle/>
          <a:p>
            <a:pPr algn="l"/>
            <a:r>
              <a:rPr lang="zh-CN" sz="1350" b="1" dirty="0">
                <a:solidFill>
                  <a:srgbClr val="D12B1F"/>
                </a:solidFill>
                <a:latin typeface="Arial"/>
                <a:ea typeface="Microsoft YaHei"/>
                <a:cs typeface="Arial"/>
              </a:rPr>
              <a:t>RedisInsight</a:t>
            </a:r>
          </a:p>
        </p:txBody>
      </p:sp>
      <p:sp>
        <p:nvSpPr>
          <p:cNvPr id="14" name="TextBox 14"/>
          <p:cNvSpPr txBox="1"/>
          <p:nvPr/>
        </p:nvSpPr>
        <p:spPr>
          <a:xfrm>
            <a:off x="1510665" y="2125028"/>
            <a:ext cx="2963370"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Công cụ chính thức của Redis — Miễn phí</a:t>
            </a:r>
          </a:p>
        </p:txBody>
      </p:sp>
      <p:sp>
        <p:nvSpPr>
          <p:cNvPr id="15" name="TextBox 15"/>
          <p:cNvSpPr txBox="1"/>
          <p:nvPr/>
        </p:nvSpPr>
        <p:spPr>
          <a:xfrm>
            <a:off x="1510665" y="2344102"/>
            <a:ext cx="3415760"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Giao diện trực quan, hỗ trợ tất cả kiểu dữ liệu</a:t>
            </a:r>
          </a:p>
        </p:txBody>
      </p:sp>
      <p:sp>
        <p:nvSpPr>
          <p:cNvPr id="16" name="TextBox 16"/>
          <p:cNvSpPr txBox="1"/>
          <p:nvPr/>
        </p:nvSpPr>
        <p:spPr>
          <a:xfrm>
            <a:off x="1511618" y="2542699"/>
            <a:ext cx="1213795" cy="198120"/>
          </a:xfrm>
          <a:prstGeom prst="rect">
            <a:avLst/>
          </a:prstGeom>
          <a:noFill/>
          <a:ln>
            <a:noFill/>
          </a:ln>
        </p:spPr>
        <p:txBody>
          <a:bodyPr wrap="none" lIns="0" tIns="0" rIns="0" bIns="0" anchor="t" anchorCtr="0">
            <a:spAutoFit/>
          </a:bodyPr>
          <a:lstStyle/>
          <a:p>
            <a:pPr algn="l"/>
            <a:r>
              <a:rPr lang="zh-CN" sz="975" dirty="0">
                <a:solidFill>
                  <a:srgbClr val="006AF9"/>
                </a:solidFill>
                <a:latin typeface="Consolas"/>
                <a:ea typeface="Microsoft YaHei"/>
                <a:cs typeface="Consolas"/>
              </a:rPr>
              <a:t>redis.io/insight/</a:t>
            </a:r>
          </a:p>
        </p:txBody>
      </p:sp>
      <p:sp>
        <p:nvSpPr>
          <p:cNvPr id="17" name="Freeform 17"/>
          <p:cNvSpPr/>
          <p:nvPr/>
        </p:nvSpPr>
        <p:spPr>
          <a:xfrm>
            <a:off x="857250" y="2952750"/>
            <a:ext cx="4762500" cy="952500"/>
          </a:xfrm>
          <a:custGeom>
            <a:avLst/>
            <a:gdLst/>
            <a:ahLst/>
            <a:cxnLst/>
            <a:rect l="l" t="t" r="r" b="b"/>
            <a:pathLst>
              <a:path w="4762500" h="952500">
                <a:moveTo>
                  <a:pt x="95250" y="0"/>
                </a:moveTo>
                <a:lnTo>
                  <a:pt x="4667250" y="0"/>
                </a:lnTo>
                <a:cubicBezTo>
                  <a:pt x="4719855" y="0"/>
                  <a:pt x="4762500" y="42645"/>
                  <a:pt x="4762500" y="95250"/>
                </a:cubicBezTo>
                <a:lnTo>
                  <a:pt x="4762500" y="857250"/>
                </a:lnTo>
                <a:cubicBezTo>
                  <a:pt x="4762500" y="909855"/>
                  <a:pt x="4719855" y="952500"/>
                  <a:pt x="4667250" y="952500"/>
                </a:cubicBezTo>
                <a:lnTo>
                  <a:pt x="95250" y="952500"/>
                </a:lnTo>
                <a:cubicBezTo>
                  <a:pt x="42645" y="952500"/>
                  <a:pt x="0" y="909855"/>
                  <a:pt x="0" y="857250"/>
                </a:cubicBezTo>
                <a:lnTo>
                  <a:pt x="0" y="95250"/>
                </a:lnTo>
                <a:cubicBezTo>
                  <a:pt x="0" y="42645"/>
                  <a:pt x="42645" y="0"/>
                  <a:pt x="95250" y="0"/>
                </a:cubicBezTo>
                <a:close/>
              </a:path>
            </a:pathLst>
          </a:custGeom>
          <a:solidFill>
            <a:srgbClr val="F5F7FA"/>
          </a:solidFill>
          <a:ln>
            <a:noFill/>
          </a:ln>
        </p:spPr>
      </p:sp>
      <p:sp>
        <p:nvSpPr>
          <p:cNvPr id="18" name="Freeform 18"/>
          <p:cNvSpPr/>
          <p:nvPr/>
        </p:nvSpPr>
        <p:spPr>
          <a:xfrm>
            <a:off x="1069181" y="3212306"/>
            <a:ext cx="300038" cy="300038"/>
          </a:xfrm>
          <a:custGeom>
            <a:avLst/>
            <a:gdLst/>
            <a:ahLst/>
            <a:cxnLst/>
            <a:rect l="l" t="t" r="r" b="b"/>
            <a:pathLst>
              <a:path w="300038" h="300038">
                <a:moveTo>
                  <a:pt x="128588" y="0"/>
                </a:moveTo>
                <a:lnTo>
                  <a:pt x="0" y="0"/>
                </a:lnTo>
                <a:lnTo>
                  <a:pt x="0" y="128588"/>
                </a:lnTo>
                <a:lnTo>
                  <a:pt x="128588" y="128588"/>
                </a:lnTo>
                <a:lnTo>
                  <a:pt x="128588" y="0"/>
                </a:lnTo>
                <a:close/>
                <a:moveTo>
                  <a:pt x="128588" y="171450"/>
                </a:moveTo>
                <a:lnTo>
                  <a:pt x="0" y="171450"/>
                </a:lnTo>
                <a:lnTo>
                  <a:pt x="0" y="300038"/>
                </a:lnTo>
                <a:lnTo>
                  <a:pt x="128588" y="300038"/>
                </a:lnTo>
                <a:lnTo>
                  <a:pt x="128588" y="171450"/>
                </a:lnTo>
                <a:close/>
                <a:moveTo>
                  <a:pt x="171450" y="0"/>
                </a:moveTo>
                <a:lnTo>
                  <a:pt x="300038" y="0"/>
                </a:lnTo>
                <a:lnTo>
                  <a:pt x="300038" y="128588"/>
                </a:lnTo>
                <a:lnTo>
                  <a:pt x="171450" y="128588"/>
                </a:lnTo>
                <a:lnTo>
                  <a:pt x="171450" y="0"/>
                </a:lnTo>
                <a:close/>
                <a:moveTo>
                  <a:pt x="300038" y="171450"/>
                </a:moveTo>
                <a:lnTo>
                  <a:pt x="171450" y="171450"/>
                </a:lnTo>
                <a:lnTo>
                  <a:pt x="171450" y="300038"/>
                </a:lnTo>
                <a:lnTo>
                  <a:pt x="300038" y="300038"/>
                </a:lnTo>
                <a:lnTo>
                  <a:pt x="300038" y="171450"/>
                </a:lnTo>
                <a:close/>
              </a:path>
            </a:pathLst>
          </a:custGeom>
          <a:solidFill>
            <a:srgbClr val="0B4DA2"/>
          </a:solidFill>
          <a:ln>
            <a:noFill/>
          </a:ln>
        </p:spPr>
      </p:sp>
      <p:sp>
        <p:nvSpPr>
          <p:cNvPr id="19" name="TextBox 19"/>
          <p:cNvSpPr txBox="1"/>
          <p:nvPr/>
        </p:nvSpPr>
        <p:spPr>
          <a:xfrm>
            <a:off x="1506855" y="3188018"/>
            <a:ext cx="3170732" cy="274320"/>
          </a:xfrm>
          <a:prstGeom prst="rect">
            <a:avLst/>
          </a:prstGeom>
          <a:noFill/>
          <a:ln>
            <a:noFill/>
          </a:ln>
        </p:spPr>
        <p:txBody>
          <a:bodyPr wrap="none" lIns="0" tIns="0" rIns="0" bIns="0" anchor="t" anchorCtr="0">
            <a:spAutoFit/>
          </a:bodyPr>
          <a:lstStyle/>
          <a:p>
            <a:pPr algn="l"/>
            <a:r>
              <a:rPr lang="zh-CN" sz="1350" b="1" dirty="0">
                <a:solidFill>
                  <a:srgbClr val="0B4DA2"/>
                </a:solidFill>
                <a:latin typeface="Arial"/>
                <a:ea typeface="Microsoft YaHei"/>
                <a:cs typeface="Arial"/>
              </a:rPr>
              <a:t>Another Redis Desktop Manager</a:t>
            </a:r>
          </a:p>
        </p:txBody>
      </p:sp>
      <p:sp>
        <p:nvSpPr>
          <p:cNvPr id="20" name="TextBox 20"/>
          <p:cNvSpPr txBox="1"/>
          <p:nvPr/>
        </p:nvSpPr>
        <p:spPr>
          <a:xfrm>
            <a:off x="1510665" y="3458528"/>
            <a:ext cx="2572321"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Miễn phí — Windows, macOS, Linux</a:t>
            </a:r>
          </a:p>
        </p:txBody>
      </p:sp>
      <p:sp>
        <p:nvSpPr>
          <p:cNvPr id="21" name="TextBox 21"/>
          <p:cNvSpPr txBox="1"/>
          <p:nvPr/>
        </p:nvSpPr>
        <p:spPr>
          <a:xfrm>
            <a:off x="1511618" y="3685699"/>
            <a:ext cx="3463695" cy="198120"/>
          </a:xfrm>
          <a:prstGeom prst="rect">
            <a:avLst/>
          </a:prstGeom>
          <a:noFill/>
          <a:ln>
            <a:noFill/>
          </a:ln>
        </p:spPr>
        <p:txBody>
          <a:bodyPr wrap="none" lIns="0" tIns="0" rIns="0" bIns="0" anchor="t" anchorCtr="0">
            <a:spAutoFit/>
          </a:bodyPr>
          <a:lstStyle/>
          <a:p>
            <a:pPr algn="l"/>
            <a:r>
              <a:rPr lang="zh-CN" sz="975" dirty="0">
                <a:solidFill>
                  <a:srgbClr val="006AF9"/>
                </a:solidFill>
                <a:latin typeface="Consolas"/>
                <a:ea typeface="Microsoft YaHei"/>
                <a:cs typeface="Consolas"/>
              </a:rPr>
              <a:t>github.com/qishibo/AnotherRedisDesktopManager</a:t>
            </a:r>
          </a:p>
        </p:txBody>
      </p:sp>
      <p:sp>
        <p:nvSpPr>
          <p:cNvPr id="22" name="Freeform 22"/>
          <p:cNvSpPr/>
          <p:nvPr/>
        </p:nvSpPr>
        <p:spPr>
          <a:xfrm>
            <a:off x="857250" y="4095750"/>
            <a:ext cx="4762500" cy="571500"/>
          </a:xfrm>
          <a:custGeom>
            <a:avLst/>
            <a:gdLst/>
            <a:ahLst/>
            <a:cxnLst/>
            <a:rect l="l" t="t" r="r" b="b"/>
            <a:pathLst>
              <a:path w="4762500" h="571500">
                <a:moveTo>
                  <a:pt x="95250" y="0"/>
                </a:moveTo>
                <a:lnTo>
                  <a:pt x="4667250" y="0"/>
                </a:lnTo>
                <a:cubicBezTo>
                  <a:pt x="4719855" y="0"/>
                  <a:pt x="4762500" y="42645"/>
                  <a:pt x="4762500" y="95250"/>
                </a:cubicBezTo>
                <a:lnTo>
                  <a:pt x="4762500" y="476250"/>
                </a:lnTo>
                <a:cubicBezTo>
                  <a:pt x="4762500" y="528855"/>
                  <a:pt x="4719855" y="571500"/>
                  <a:pt x="4667250" y="571500"/>
                </a:cubicBezTo>
                <a:lnTo>
                  <a:pt x="95250" y="571500"/>
                </a:lnTo>
                <a:cubicBezTo>
                  <a:pt x="42645" y="571500"/>
                  <a:pt x="0" y="528855"/>
                  <a:pt x="0" y="476250"/>
                </a:cubicBezTo>
                <a:lnTo>
                  <a:pt x="0" y="95250"/>
                </a:lnTo>
                <a:cubicBezTo>
                  <a:pt x="0" y="42645"/>
                  <a:pt x="42645" y="0"/>
                  <a:pt x="95250" y="0"/>
                </a:cubicBezTo>
                <a:close/>
              </a:path>
            </a:pathLst>
          </a:custGeom>
          <a:solidFill>
            <a:srgbClr val="E5F4F9"/>
          </a:solidFill>
          <a:ln>
            <a:noFill/>
          </a:ln>
        </p:spPr>
      </p:sp>
      <p:sp>
        <p:nvSpPr>
          <p:cNvPr id="23" name="TextBox 23"/>
          <p:cNvSpPr txBox="1"/>
          <p:nvPr/>
        </p:nvSpPr>
        <p:spPr>
          <a:xfrm>
            <a:off x="1033462" y="4241006"/>
            <a:ext cx="701409" cy="228600"/>
          </a:xfrm>
          <a:prstGeom prst="rect">
            <a:avLst/>
          </a:prstGeom>
          <a:noFill/>
          <a:ln>
            <a:noFill/>
          </a:ln>
        </p:spPr>
        <p:txBody>
          <a:bodyPr wrap="none" lIns="0" tIns="0" rIns="0" bIns="0" anchor="t" anchorCtr="0">
            <a:spAutoFit/>
          </a:bodyPr>
          <a:lstStyle/>
          <a:p>
            <a:pPr algn="l"/>
            <a:r>
              <a:rPr lang="zh-CN" sz="1125" b="1" dirty="0">
                <a:solidFill>
                  <a:srgbClr val="0B4DA2"/>
                </a:solidFill>
                <a:latin typeface="Arial"/>
                <a:ea typeface="Microsoft YaHei"/>
                <a:cs typeface="Arial"/>
              </a:rPr>
              <a:t>Kết nối:</a:t>
            </a:r>
          </a:p>
        </p:txBody>
      </p:sp>
      <p:sp>
        <p:nvSpPr>
          <p:cNvPr id="24" name="TextBox 24"/>
          <p:cNvSpPr txBox="1"/>
          <p:nvPr/>
        </p:nvSpPr>
        <p:spPr>
          <a:xfrm>
            <a:off x="1891665" y="4249102"/>
            <a:ext cx="2119932"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Consolas"/>
                <a:ea typeface="Microsoft YaHei"/>
                <a:cs typeface="Consolas"/>
              </a:rPr>
              <a:t>Host: localhost | Port: 6379</a:t>
            </a:r>
          </a:p>
        </p:txBody>
      </p:sp>
      <p:sp>
        <p:nvSpPr>
          <p:cNvPr id="25" name="TextBox 25"/>
          <p:cNvSpPr txBox="1"/>
          <p:nvPr/>
        </p:nvSpPr>
        <p:spPr>
          <a:xfrm>
            <a:off x="1034415" y="4458652"/>
            <a:ext cx="1498854"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Password: (nếu có)</a:t>
            </a:r>
          </a:p>
        </p:txBody>
      </p:sp>
      <p:grpSp>
        <p:nvGrpSpPr>
          <p:cNvPr id="30" name="Group 30"/>
          <p:cNvGrpSpPr/>
          <p:nvPr/>
        </p:nvGrpSpPr>
        <p:grpSpPr>
          <a:xfrm>
            <a:off x="6286500" y="952500"/>
            <a:ext cx="5334000" cy="5048250"/>
            <a:chOff x="6286500" y="952500"/>
            <a:chExt cx="5334000" cy="5048250"/>
          </a:xfrm>
          <a:effectLst>
            <a:outerShdw blurRad="190500" dist="38100" dir="10799140" algn="tl" rotWithShape="0">
              <a:srgbClr val="000000">
                <a:alpha val="12000"/>
              </a:srgbClr>
            </a:outerShdw>
          </a:effectLst>
        </p:grpSpPr>
        <p:sp>
          <p:nvSpPr>
            <p:cNvPr id="26" name="Freeform 26"/>
            <p:cNvSpPr/>
            <p:nvPr/>
          </p:nvSpPr>
          <p:spPr>
            <a:xfrm>
              <a:off x="6286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7" name="Freeform 27"/>
            <p:cNvSpPr/>
            <p:nvPr/>
          </p:nvSpPr>
          <p:spPr>
            <a:xfrm>
              <a:off x="6286500" y="952500"/>
              <a:ext cx="5334000" cy="476250"/>
            </a:xfrm>
            <a:custGeom>
              <a:avLst/>
              <a:gdLst/>
              <a:ahLst/>
              <a:cxnLst/>
              <a:rect l="l" t="t" r="r" b="b"/>
              <a:pathLst>
                <a:path w="5334000" h="476250">
                  <a:moveTo>
                    <a:pt x="114300" y="0"/>
                  </a:moveTo>
                  <a:lnTo>
                    <a:pt x="5219700" y="0"/>
                  </a:lnTo>
                  <a:cubicBezTo>
                    <a:pt x="5282826" y="0"/>
                    <a:pt x="5334000" y="51174"/>
                    <a:pt x="5334000" y="114300"/>
                  </a:cubicBezTo>
                  <a:lnTo>
                    <a:pt x="5334000" y="361950"/>
                  </a:lnTo>
                  <a:cubicBezTo>
                    <a:pt x="5334000" y="425076"/>
                    <a:pt x="5282826" y="476250"/>
                    <a:pt x="5219700" y="476250"/>
                  </a:cubicBezTo>
                  <a:lnTo>
                    <a:pt x="114300" y="476250"/>
                  </a:lnTo>
                  <a:cubicBezTo>
                    <a:pt x="51174" y="476250"/>
                    <a:pt x="0" y="425076"/>
                    <a:pt x="0" y="361950"/>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28" name="Rectangle 28"/>
            <p:cNvSpPr/>
            <p:nvPr/>
          </p:nvSpPr>
          <p:spPr>
            <a:xfrm>
              <a:off x="6286500" y="1314450"/>
              <a:ext cx="5334000" cy="114300"/>
            </a:xfrm>
            <a:prstGeom prst="rect">
              <a:avLst/>
            </a:prstGeom>
            <a:solidFill>
              <a:srgbClr val="D12B1F"/>
            </a:solidFill>
            <a:ln>
              <a:noFill/>
            </a:ln>
            <a:effectLst>
              <a:outerShdw blurRad="190500" dist="38100" dir="10799140" algn="tl" rotWithShape="0">
                <a:srgbClr val="000000">
                  <a:alpha val="12000"/>
                </a:srgbClr>
              </a:outerShdw>
            </a:effectLst>
          </p:spPr>
        </p:sp>
        <p:sp>
          <p:nvSpPr>
            <p:cNvPr id="29" name="TextBox 29"/>
            <p:cNvSpPr txBox="1"/>
            <p:nvPr/>
          </p:nvSpPr>
          <p:spPr>
            <a:xfrm>
              <a:off x="8392912" y="1111568"/>
              <a:ext cx="1121176"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redis.conf</a:t>
              </a:r>
            </a:p>
          </p:txBody>
        </p:sp>
      </p:grpSp>
      <p:sp>
        <p:nvSpPr>
          <p:cNvPr id="31" name="Freeform 31"/>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E293B"/>
          </a:solidFill>
          <a:ln>
            <a:noFill/>
          </a:ln>
        </p:spPr>
      </p:sp>
      <p:sp>
        <p:nvSpPr>
          <p:cNvPr id="32" name="TextBox 32"/>
          <p:cNvSpPr txBox="1"/>
          <p:nvPr/>
        </p:nvSpPr>
        <p:spPr>
          <a:xfrm>
            <a:off x="6702742" y="1780699"/>
            <a:ext cx="1121235"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Port mặc định</a:t>
            </a:r>
          </a:p>
        </p:txBody>
      </p:sp>
      <p:sp>
        <p:nvSpPr>
          <p:cNvPr id="33" name="TextBox 33"/>
          <p:cNvSpPr txBox="1"/>
          <p:nvPr/>
        </p:nvSpPr>
        <p:spPr>
          <a:xfrm>
            <a:off x="6702742" y="1971199"/>
            <a:ext cx="69403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port 6379</a:t>
            </a:r>
          </a:p>
        </p:txBody>
      </p:sp>
      <p:sp>
        <p:nvSpPr>
          <p:cNvPr id="34" name="TextBox 34"/>
          <p:cNvSpPr txBox="1"/>
          <p:nvPr/>
        </p:nvSpPr>
        <p:spPr>
          <a:xfrm>
            <a:off x="6702742" y="2256949"/>
            <a:ext cx="1057156"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Chỉ localhost</a:t>
            </a:r>
          </a:p>
        </p:txBody>
      </p:sp>
      <p:sp>
        <p:nvSpPr>
          <p:cNvPr id="35" name="TextBox 35"/>
          <p:cNvSpPr txBox="1"/>
          <p:nvPr/>
        </p:nvSpPr>
        <p:spPr>
          <a:xfrm>
            <a:off x="6702742" y="2447449"/>
            <a:ext cx="978837"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bind 127.0.0.1</a:t>
            </a:r>
          </a:p>
        </p:txBody>
      </p:sp>
      <p:sp>
        <p:nvSpPr>
          <p:cNvPr id="36" name="TextBox 36"/>
          <p:cNvSpPr txBox="1"/>
          <p:nvPr/>
        </p:nvSpPr>
        <p:spPr>
          <a:xfrm>
            <a:off x="6702742" y="2733199"/>
            <a:ext cx="765238"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Mật khẩu</a:t>
            </a:r>
          </a:p>
        </p:txBody>
      </p:sp>
      <p:sp>
        <p:nvSpPr>
          <p:cNvPr id="37" name="TextBox 37"/>
          <p:cNvSpPr txBox="1"/>
          <p:nvPr/>
        </p:nvSpPr>
        <p:spPr>
          <a:xfrm>
            <a:off x="6702742" y="2923699"/>
            <a:ext cx="147723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requirepass</a:t>
            </a:r>
            <a:r>
              <a:rPr lang="zh-CN" sz="975" dirty="0">
                <a:solidFill>
                  <a:srgbClr val="FF6B35"/>
                </a:solidFill>
                <a:latin typeface="Consolas"/>
                <a:ea typeface="Microsoft YaHei"/>
                <a:cs typeface="Consolas"/>
              </a:rPr>
              <a:t>yourpass</a:t>
            </a:r>
          </a:p>
        </p:txBody>
      </p:sp>
      <p:sp>
        <p:nvSpPr>
          <p:cNvPr id="38" name="TextBox 38"/>
          <p:cNvSpPr txBox="1"/>
          <p:nvPr/>
        </p:nvSpPr>
        <p:spPr>
          <a:xfrm>
            <a:off x="6702742" y="3209449"/>
            <a:ext cx="971717"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Giới hạn RAM</a:t>
            </a:r>
          </a:p>
        </p:txBody>
      </p:sp>
      <p:sp>
        <p:nvSpPr>
          <p:cNvPr id="39" name="TextBox 39"/>
          <p:cNvSpPr txBox="1"/>
          <p:nvPr/>
        </p:nvSpPr>
        <p:spPr>
          <a:xfrm>
            <a:off x="6702742" y="3399949"/>
            <a:ext cx="123515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maxmemory</a:t>
            </a:r>
            <a:r>
              <a:rPr lang="zh-CN" sz="975" dirty="0">
                <a:solidFill>
                  <a:srgbClr val="FF6B35"/>
                </a:solidFill>
                <a:latin typeface="Consolas"/>
                <a:ea typeface="Microsoft YaHei"/>
                <a:cs typeface="Consolas"/>
              </a:rPr>
              <a:t>256mb</a:t>
            </a:r>
          </a:p>
        </p:txBody>
      </p:sp>
      <p:sp>
        <p:nvSpPr>
          <p:cNvPr id="40" name="TextBox 40"/>
          <p:cNvSpPr txBox="1"/>
          <p:nvPr/>
        </p:nvSpPr>
        <p:spPr>
          <a:xfrm>
            <a:off x="6702742" y="3685699"/>
            <a:ext cx="971717"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Persistence</a:t>
            </a:r>
          </a:p>
        </p:txBody>
      </p:sp>
      <p:sp>
        <p:nvSpPr>
          <p:cNvPr id="41" name="TextBox 41"/>
          <p:cNvSpPr txBox="1"/>
          <p:nvPr/>
        </p:nvSpPr>
        <p:spPr>
          <a:xfrm>
            <a:off x="6702742" y="3876199"/>
            <a:ext cx="70115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save 900 1</a:t>
            </a:r>
          </a:p>
        </p:txBody>
      </p:sp>
      <p:sp>
        <p:nvSpPr>
          <p:cNvPr id="42" name="TextBox 42"/>
          <p:cNvSpPr txBox="1"/>
          <p:nvPr/>
        </p:nvSpPr>
        <p:spPr>
          <a:xfrm>
            <a:off x="6702742" y="4066699"/>
            <a:ext cx="779478"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save 300 10</a:t>
            </a:r>
          </a:p>
        </p:txBody>
      </p:sp>
      <p:sp>
        <p:nvSpPr>
          <p:cNvPr id="43" name="TextBox 43"/>
          <p:cNvSpPr txBox="1"/>
          <p:nvPr/>
        </p:nvSpPr>
        <p:spPr>
          <a:xfrm>
            <a:off x="6702742" y="4352449"/>
            <a:ext cx="409242"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AOF</a:t>
            </a:r>
          </a:p>
        </p:txBody>
      </p:sp>
      <p:sp>
        <p:nvSpPr>
          <p:cNvPr id="44" name="TextBox 44"/>
          <p:cNvSpPr txBox="1"/>
          <p:nvPr/>
        </p:nvSpPr>
        <p:spPr>
          <a:xfrm>
            <a:off x="6702742" y="4542949"/>
            <a:ext cx="1007316"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appendonly</a:t>
            </a:r>
            <a:r>
              <a:rPr lang="zh-CN" sz="975" dirty="0">
                <a:solidFill>
                  <a:srgbClr val="FF6B35"/>
                </a:solidFill>
                <a:latin typeface="Consolas"/>
                <a:ea typeface="Microsoft YaHei"/>
                <a:cs typeface="Consolas"/>
              </a:rPr>
              <a:t>yes</a:t>
            </a:r>
          </a:p>
        </p:txBody>
      </p:sp>
      <p:sp>
        <p:nvSpPr>
          <p:cNvPr id="45" name="TextBox 45"/>
          <p:cNvSpPr txBox="1"/>
          <p:nvPr/>
        </p:nvSpPr>
        <p:spPr>
          <a:xfrm>
            <a:off x="6702742" y="4733449"/>
            <a:ext cx="151283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appendfsync</a:t>
            </a:r>
            <a:r>
              <a:rPr lang="zh-CN" sz="975" dirty="0">
                <a:solidFill>
                  <a:srgbClr val="FF6B35"/>
                </a:solidFill>
                <a:latin typeface="Consolas"/>
                <a:ea typeface="Microsoft YaHei"/>
                <a:cs typeface="Consolas"/>
              </a:rPr>
              <a:t>everysec</a:t>
            </a:r>
          </a:p>
        </p:txBody>
      </p:sp>
      <p:sp>
        <p:nvSpPr>
          <p:cNvPr id="46" name="TextBox 46"/>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16 / 25</a:t>
            </a:r>
          </a:p>
        </p:txBody>
      </p:sp>
    </p:spTree>
  </p:cSld>
  <p:clrMapOvr>
    <a:masterClrMapping/>
  </p:clrMapOvr>
  <p:transition 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12B1F"/>
          </a:solidFill>
          <a:ln>
            <a:noFill/>
          </a:ln>
        </p:spPr>
      </p:sp>
      <p:sp>
        <p:nvSpPr>
          <p:cNvPr id="4" name="TextBox 4"/>
          <p:cNvSpPr txBox="1"/>
          <p:nvPr/>
        </p:nvSpPr>
        <p:spPr>
          <a:xfrm>
            <a:off x="541020" y="264795"/>
            <a:ext cx="4495914"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5 Kiểu dữ liệu trong Redis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sp>
      <p:grpSp>
        <p:nvGrpSpPr>
          <p:cNvPr id="13" name="Group 13"/>
          <p:cNvGrpSpPr/>
          <p:nvPr/>
        </p:nvGrpSpPr>
        <p:grpSpPr>
          <a:xfrm>
            <a:off x="571500" y="952500"/>
            <a:ext cx="3524250" cy="1714500"/>
            <a:chOff x="571500" y="952500"/>
            <a:chExt cx="3524250" cy="1714500"/>
          </a:xfrm>
          <a:effectLst>
            <a:outerShdw blurRad="190500" dist="38100" dir="10799140" algn="tl" rotWithShape="0">
              <a:srgbClr val="000000">
                <a:alpha val="12000"/>
              </a:srgbClr>
            </a:outerShdw>
          </a:effectLst>
        </p:grpSpPr>
        <p:sp>
          <p:nvSpPr>
            <p:cNvPr id="6" name="Freeform 6"/>
            <p:cNvSpPr/>
            <p:nvPr/>
          </p:nvSpPr>
          <p:spPr>
            <a:xfrm>
              <a:off x="571500" y="952500"/>
              <a:ext cx="3524250" cy="1714500"/>
            </a:xfrm>
            <a:custGeom>
              <a:avLst/>
              <a:gdLst/>
              <a:ahLst/>
              <a:cxnLst/>
              <a:rect l="l" t="t" r="r" b="b"/>
              <a:pathLst>
                <a:path w="3524250" h="1714500">
                  <a:moveTo>
                    <a:pt x="114300" y="0"/>
                  </a:moveTo>
                  <a:lnTo>
                    <a:pt x="3409950" y="0"/>
                  </a:lnTo>
                  <a:cubicBezTo>
                    <a:pt x="3473076" y="0"/>
                    <a:pt x="3524250" y="51174"/>
                    <a:pt x="3524250" y="114300"/>
                  </a:cubicBezTo>
                  <a:lnTo>
                    <a:pt x="3524250" y="1600200"/>
                  </a:lnTo>
                  <a:cubicBezTo>
                    <a:pt x="3524250" y="1663326"/>
                    <a:pt x="3473076" y="1714500"/>
                    <a:pt x="340995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52500"/>
              <a:ext cx="3524250" cy="57150"/>
            </a:xfrm>
            <a:custGeom>
              <a:avLst/>
              <a:gdLst/>
              <a:ahLst/>
              <a:cxnLst/>
              <a:rect l="l" t="t" r="r" b="b"/>
              <a:pathLst>
                <a:path w="3524250" h="57150">
                  <a:moveTo>
                    <a:pt x="28575" y="0"/>
                  </a:moveTo>
                  <a:lnTo>
                    <a:pt x="3495675" y="0"/>
                  </a:lnTo>
                  <a:cubicBezTo>
                    <a:pt x="3511457" y="0"/>
                    <a:pt x="3524250" y="12793"/>
                    <a:pt x="3524250" y="28575"/>
                  </a:cubicBezTo>
                  <a:lnTo>
                    <a:pt x="3524250" y="28575"/>
                  </a:lnTo>
                  <a:cubicBezTo>
                    <a:pt x="3524250" y="44357"/>
                    <a:pt x="3511457" y="57150"/>
                    <a:pt x="3495675" y="57150"/>
                  </a:cubicBezTo>
                  <a:lnTo>
                    <a:pt x="28575" y="57150"/>
                  </a:lnTo>
                  <a:cubicBezTo>
                    <a:pt x="12793" y="57150"/>
                    <a:pt x="0" y="44357"/>
                    <a:pt x="0" y="28575"/>
                  </a:cubicBezTo>
                  <a:lnTo>
                    <a:pt x="0" y="28575"/>
                  </a:lnTo>
                  <a:cubicBezTo>
                    <a:pt x="0" y="12793"/>
                    <a:pt x="12793" y="0"/>
                    <a:pt x="28575"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8" name="Freeform 8"/>
            <p:cNvSpPr/>
            <p:nvPr/>
          </p:nvSpPr>
          <p:spPr>
            <a:xfrm>
              <a:off x="867831" y="1257300"/>
              <a:ext cx="283629" cy="266700"/>
            </a:xfrm>
            <a:custGeom>
              <a:avLst/>
              <a:gdLst/>
              <a:ahLst/>
              <a:cxnLst/>
              <a:rect l="l" t="t" r="r" b="b"/>
              <a:pathLst>
                <a:path w="283629" h="266700">
                  <a:moveTo>
                    <a:pt x="57036" y="209550"/>
                  </a:moveTo>
                  <a:lnTo>
                    <a:pt x="50686" y="266700"/>
                  </a:lnTo>
                  <a:lnTo>
                    <a:pt x="89020" y="266700"/>
                  </a:lnTo>
                  <a:lnTo>
                    <a:pt x="95371" y="209550"/>
                  </a:lnTo>
                  <a:lnTo>
                    <a:pt x="171336" y="209550"/>
                  </a:lnTo>
                  <a:lnTo>
                    <a:pt x="164986" y="266700"/>
                  </a:lnTo>
                  <a:lnTo>
                    <a:pt x="203320" y="266700"/>
                  </a:lnTo>
                  <a:lnTo>
                    <a:pt x="209670" y="209550"/>
                  </a:lnTo>
                  <a:lnTo>
                    <a:pt x="266696" y="209550"/>
                  </a:lnTo>
                  <a:lnTo>
                    <a:pt x="270929" y="171450"/>
                  </a:lnTo>
                  <a:lnTo>
                    <a:pt x="213904" y="171450"/>
                  </a:lnTo>
                  <a:lnTo>
                    <a:pt x="222370" y="95250"/>
                  </a:lnTo>
                  <a:lnTo>
                    <a:pt x="279395" y="95250"/>
                  </a:lnTo>
                  <a:lnTo>
                    <a:pt x="283629" y="57150"/>
                  </a:lnTo>
                  <a:lnTo>
                    <a:pt x="226603" y="57150"/>
                  </a:lnTo>
                  <a:lnTo>
                    <a:pt x="232954" y="0"/>
                  </a:lnTo>
                  <a:lnTo>
                    <a:pt x="194620" y="0"/>
                  </a:lnTo>
                  <a:lnTo>
                    <a:pt x="188269" y="57150"/>
                  </a:lnTo>
                  <a:lnTo>
                    <a:pt x="112304" y="57150"/>
                  </a:lnTo>
                  <a:lnTo>
                    <a:pt x="118654" y="0"/>
                  </a:lnTo>
                  <a:lnTo>
                    <a:pt x="80319" y="0"/>
                  </a:lnTo>
                  <a:lnTo>
                    <a:pt x="73969" y="57150"/>
                  </a:lnTo>
                  <a:lnTo>
                    <a:pt x="16933" y="57150"/>
                  </a:lnTo>
                  <a:lnTo>
                    <a:pt x="12700" y="95250"/>
                  </a:lnTo>
                  <a:lnTo>
                    <a:pt x="69736" y="95250"/>
                  </a:lnTo>
                  <a:lnTo>
                    <a:pt x="61269" y="171450"/>
                  </a:lnTo>
                  <a:lnTo>
                    <a:pt x="4233" y="171450"/>
                  </a:lnTo>
                  <a:lnTo>
                    <a:pt x="0" y="209550"/>
                  </a:lnTo>
                  <a:lnTo>
                    <a:pt x="57036" y="209550"/>
                  </a:lnTo>
                  <a:close/>
                  <a:moveTo>
                    <a:pt x="99604" y="171450"/>
                  </a:moveTo>
                  <a:lnTo>
                    <a:pt x="175569" y="171450"/>
                  </a:lnTo>
                  <a:lnTo>
                    <a:pt x="184036" y="95250"/>
                  </a:lnTo>
                  <a:lnTo>
                    <a:pt x="108070" y="95250"/>
                  </a:lnTo>
                  <a:lnTo>
                    <a:pt x="99604" y="171450"/>
                  </a:lnTo>
                  <a:close/>
                </a:path>
              </a:pathLst>
            </a:custGeom>
            <a:solidFill>
              <a:srgbClr val="D12B1F"/>
            </a:solidFill>
            <a:ln>
              <a:noFill/>
            </a:ln>
            <a:effectLst>
              <a:outerShdw blurRad="190500" dist="38100" dir="10799140" algn="tl" rotWithShape="0">
                <a:srgbClr val="000000">
                  <a:alpha val="12000"/>
                </a:srgbClr>
              </a:outerShdw>
            </a:effectLst>
          </p:spPr>
        </p:sp>
        <p:sp>
          <p:nvSpPr>
            <p:cNvPr id="9" name="TextBox 9"/>
            <p:cNvSpPr txBox="1"/>
            <p:nvPr/>
          </p:nvSpPr>
          <p:spPr>
            <a:xfrm>
              <a:off x="1266825" y="1266825"/>
              <a:ext cx="739688"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D12B1F"/>
                  </a:solidFill>
                  <a:latin typeface="Arial"/>
                  <a:ea typeface="Microsoft YaHei"/>
                  <a:cs typeface="Arial"/>
                </a:rPr>
                <a:t>String</a:t>
              </a:r>
            </a:p>
          </p:txBody>
        </p:sp>
        <p:sp>
          <p:nvSpPr>
            <p:cNvPr id="10" name="TextBox 10"/>
            <p:cNvSpPr txBox="1"/>
            <p:nvPr/>
          </p:nvSpPr>
          <p:spPr>
            <a:xfrm>
              <a:off x="842962" y="1640681"/>
              <a:ext cx="1400532"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Chuỗi, số, binary</a:t>
              </a:r>
            </a:p>
          </p:txBody>
        </p:sp>
        <p:sp>
          <p:nvSpPr>
            <p:cNvPr id="11" name="TextBox 11"/>
            <p:cNvSpPr txBox="1"/>
            <p:nvPr/>
          </p:nvSpPr>
          <p:spPr>
            <a:xfrm>
              <a:off x="843915" y="1886902"/>
              <a:ext cx="2319290"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Cache, counter, session token</a:t>
              </a:r>
            </a:p>
          </p:txBody>
        </p:sp>
        <p:sp>
          <p:nvSpPr>
            <p:cNvPr id="12" name="TextBox 12"/>
            <p:cNvSpPr txBox="1"/>
            <p:nvPr/>
          </p:nvSpPr>
          <p:spPr>
            <a:xfrm>
              <a:off x="844868" y="2228374"/>
              <a:ext cx="1605391"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SET / GET / INCR / MSET</a:t>
              </a:r>
            </a:p>
          </p:txBody>
        </p:sp>
      </p:grpSp>
      <p:grpSp>
        <p:nvGrpSpPr>
          <p:cNvPr id="21" name="Group 21"/>
          <p:cNvGrpSpPr/>
          <p:nvPr/>
        </p:nvGrpSpPr>
        <p:grpSpPr>
          <a:xfrm>
            <a:off x="4333875" y="952500"/>
            <a:ext cx="3524250" cy="1714500"/>
            <a:chOff x="4333875" y="952500"/>
            <a:chExt cx="3524250" cy="1714500"/>
          </a:xfrm>
          <a:effectLst>
            <a:outerShdw blurRad="190500" dist="38100" dir="10799140" algn="tl" rotWithShape="0">
              <a:srgbClr val="000000">
                <a:alpha val="12000"/>
              </a:srgbClr>
            </a:outerShdw>
          </a:effectLst>
        </p:grpSpPr>
        <p:sp>
          <p:nvSpPr>
            <p:cNvPr id="14" name="Freeform 14"/>
            <p:cNvSpPr/>
            <p:nvPr/>
          </p:nvSpPr>
          <p:spPr>
            <a:xfrm>
              <a:off x="4333875" y="952500"/>
              <a:ext cx="3524250" cy="1714500"/>
            </a:xfrm>
            <a:custGeom>
              <a:avLst/>
              <a:gdLst/>
              <a:ahLst/>
              <a:cxnLst/>
              <a:rect l="l" t="t" r="r" b="b"/>
              <a:pathLst>
                <a:path w="3524250" h="1714500">
                  <a:moveTo>
                    <a:pt x="114300" y="0"/>
                  </a:moveTo>
                  <a:lnTo>
                    <a:pt x="3409950" y="0"/>
                  </a:lnTo>
                  <a:cubicBezTo>
                    <a:pt x="3473076" y="0"/>
                    <a:pt x="3524250" y="51174"/>
                    <a:pt x="3524250" y="114300"/>
                  </a:cubicBezTo>
                  <a:lnTo>
                    <a:pt x="3524250" y="1600200"/>
                  </a:lnTo>
                  <a:cubicBezTo>
                    <a:pt x="3524250" y="1663326"/>
                    <a:pt x="3473076" y="1714500"/>
                    <a:pt x="340995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15" name="Freeform 15"/>
            <p:cNvSpPr/>
            <p:nvPr/>
          </p:nvSpPr>
          <p:spPr>
            <a:xfrm>
              <a:off x="4333875" y="952500"/>
              <a:ext cx="3524250" cy="57150"/>
            </a:xfrm>
            <a:custGeom>
              <a:avLst/>
              <a:gdLst/>
              <a:ahLst/>
              <a:cxnLst/>
              <a:rect l="l" t="t" r="r" b="b"/>
              <a:pathLst>
                <a:path w="3524250" h="57150">
                  <a:moveTo>
                    <a:pt x="28575" y="0"/>
                  </a:moveTo>
                  <a:lnTo>
                    <a:pt x="3495675" y="0"/>
                  </a:lnTo>
                  <a:cubicBezTo>
                    <a:pt x="3511457" y="0"/>
                    <a:pt x="3524250" y="12793"/>
                    <a:pt x="3524250" y="28575"/>
                  </a:cubicBezTo>
                  <a:lnTo>
                    <a:pt x="3524250" y="28575"/>
                  </a:lnTo>
                  <a:cubicBezTo>
                    <a:pt x="3524250" y="44357"/>
                    <a:pt x="3511457" y="57150"/>
                    <a:pt x="3495675" y="57150"/>
                  </a:cubicBezTo>
                  <a:lnTo>
                    <a:pt x="28575" y="57150"/>
                  </a:lnTo>
                  <a:cubicBezTo>
                    <a:pt x="12793" y="57150"/>
                    <a:pt x="0" y="44357"/>
                    <a:pt x="0" y="28575"/>
                  </a:cubicBezTo>
                  <a:lnTo>
                    <a:pt x="0" y="28575"/>
                  </a:lnTo>
                  <a:cubicBezTo>
                    <a:pt x="0" y="12793"/>
                    <a:pt x="12793" y="0"/>
                    <a:pt x="28575"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16" name="Freeform 16"/>
            <p:cNvSpPr/>
            <p:nvPr/>
          </p:nvSpPr>
          <p:spPr>
            <a:xfrm>
              <a:off x="4638675" y="1257300"/>
              <a:ext cx="266700" cy="266700"/>
            </a:xfrm>
            <a:custGeom>
              <a:avLst/>
              <a:gdLst/>
              <a:ahLst/>
              <a:cxnLst/>
              <a:rect l="l" t="t" r="r" b="b"/>
              <a:pathLst>
                <a:path w="266700" h="266700">
                  <a:moveTo>
                    <a:pt x="114300" y="0"/>
                  </a:moveTo>
                  <a:lnTo>
                    <a:pt x="0" y="0"/>
                  </a:lnTo>
                  <a:lnTo>
                    <a:pt x="0" y="114300"/>
                  </a:lnTo>
                  <a:lnTo>
                    <a:pt x="114300" y="114300"/>
                  </a:lnTo>
                  <a:lnTo>
                    <a:pt x="114300" y="0"/>
                  </a:lnTo>
                  <a:close/>
                  <a:moveTo>
                    <a:pt x="114300" y="152400"/>
                  </a:moveTo>
                  <a:lnTo>
                    <a:pt x="0" y="152400"/>
                  </a:lnTo>
                  <a:lnTo>
                    <a:pt x="0" y="266700"/>
                  </a:lnTo>
                  <a:lnTo>
                    <a:pt x="114300" y="266700"/>
                  </a:lnTo>
                  <a:lnTo>
                    <a:pt x="114300" y="152400"/>
                  </a:lnTo>
                  <a:close/>
                  <a:moveTo>
                    <a:pt x="152400" y="0"/>
                  </a:moveTo>
                  <a:lnTo>
                    <a:pt x="266700" y="0"/>
                  </a:lnTo>
                  <a:lnTo>
                    <a:pt x="266700" y="114300"/>
                  </a:lnTo>
                  <a:lnTo>
                    <a:pt x="152400" y="114300"/>
                  </a:lnTo>
                  <a:lnTo>
                    <a:pt x="152400" y="0"/>
                  </a:lnTo>
                  <a:close/>
                  <a:moveTo>
                    <a:pt x="266700" y="152400"/>
                  </a:moveTo>
                  <a:lnTo>
                    <a:pt x="152400" y="152400"/>
                  </a:lnTo>
                  <a:lnTo>
                    <a:pt x="152400" y="266700"/>
                  </a:lnTo>
                  <a:lnTo>
                    <a:pt x="266700" y="266700"/>
                  </a:lnTo>
                  <a:lnTo>
                    <a:pt x="266700" y="152400"/>
                  </a:lnTo>
                  <a:close/>
                </a:path>
              </a:pathLst>
            </a:custGeom>
            <a:solidFill>
              <a:srgbClr val="0B4DA2"/>
            </a:solidFill>
            <a:ln>
              <a:noFill/>
            </a:ln>
            <a:effectLst>
              <a:outerShdw blurRad="190500" dist="38100" dir="10799140" algn="tl" rotWithShape="0">
                <a:srgbClr val="000000">
                  <a:alpha val="12000"/>
                </a:srgbClr>
              </a:outerShdw>
            </a:effectLst>
          </p:spPr>
        </p:sp>
        <p:sp>
          <p:nvSpPr>
            <p:cNvPr id="17" name="TextBox 17"/>
            <p:cNvSpPr txBox="1"/>
            <p:nvPr/>
          </p:nvSpPr>
          <p:spPr>
            <a:xfrm>
              <a:off x="5029200" y="1266825"/>
              <a:ext cx="544163"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0B4DA2"/>
                  </a:solidFill>
                  <a:latin typeface="Arial"/>
                  <a:ea typeface="Microsoft YaHei"/>
                  <a:cs typeface="Arial"/>
                </a:rPr>
                <a:t>Hash</a:t>
              </a:r>
            </a:p>
          </p:txBody>
        </p:sp>
        <p:sp>
          <p:nvSpPr>
            <p:cNvPr id="18" name="TextBox 18"/>
            <p:cNvSpPr txBox="1"/>
            <p:nvPr/>
          </p:nvSpPr>
          <p:spPr>
            <a:xfrm>
              <a:off x="4605338" y="1640681"/>
              <a:ext cx="2271355"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Tập hợp field-value (object)</a:t>
              </a:r>
            </a:p>
          </p:txBody>
        </p:sp>
        <p:sp>
          <p:nvSpPr>
            <p:cNvPr id="19" name="TextBox 19"/>
            <p:cNvSpPr txBox="1"/>
            <p:nvPr/>
          </p:nvSpPr>
          <p:spPr>
            <a:xfrm>
              <a:off x="4606290" y="1886902"/>
              <a:ext cx="1989582"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User profile, product info</a:t>
              </a:r>
            </a:p>
          </p:txBody>
        </p:sp>
        <p:sp>
          <p:nvSpPr>
            <p:cNvPr id="20" name="TextBox 20"/>
            <p:cNvSpPr txBox="1"/>
            <p:nvPr/>
          </p:nvSpPr>
          <p:spPr>
            <a:xfrm>
              <a:off x="4607242" y="2228374"/>
              <a:ext cx="1527072"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HSET / HGET / HGETALL</a:t>
              </a:r>
            </a:p>
          </p:txBody>
        </p:sp>
      </p:grpSp>
      <p:grpSp>
        <p:nvGrpSpPr>
          <p:cNvPr id="37" name="Group 37"/>
          <p:cNvGrpSpPr/>
          <p:nvPr/>
        </p:nvGrpSpPr>
        <p:grpSpPr>
          <a:xfrm>
            <a:off x="8096250" y="952500"/>
            <a:ext cx="3524250" cy="1714500"/>
            <a:chOff x="8096250" y="952500"/>
            <a:chExt cx="3524250" cy="1714500"/>
          </a:xfrm>
          <a:effectLst>
            <a:outerShdw blurRad="190500" dist="38100" dir="10799140" algn="tl" rotWithShape="0">
              <a:srgbClr val="000000">
                <a:alpha val="12000"/>
              </a:srgbClr>
            </a:outerShdw>
          </a:effectLst>
        </p:grpSpPr>
        <p:sp>
          <p:nvSpPr>
            <p:cNvPr id="22" name="Freeform 22"/>
            <p:cNvSpPr/>
            <p:nvPr/>
          </p:nvSpPr>
          <p:spPr>
            <a:xfrm>
              <a:off x="8096250" y="952500"/>
              <a:ext cx="3524250" cy="1714500"/>
            </a:xfrm>
            <a:custGeom>
              <a:avLst/>
              <a:gdLst/>
              <a:ahLst/>
              <a:cxnLst/>
              <a:rect l="l" t="t" r="r" b="b"/>
              <a:pathLst>
                <a:path w="3524250" h="1714500">
                  <a:moveTo>
                    <a:pt x="114300" y="0"/>
                  </a:moveTo>
                  <a:lnTo>
                    <a:pt x="3409950" y="0"/>
                  </a:lnTo>
                  <a:cubicBezTo>
                    <a:pt x="3473076" y="0"/>
                    <a:pt x="3524250" y="51174"/>
                    <a:pt x="3524250" y="114300"/>
                  </a:cubicBezTo>
                  <a:lnTo>
                    <a:pt x="3524250" y="1600200"/>
                  </a:lnTo>
                  <a:cubicBezTo>
                    <a:pt x="3524250" y="1663326"/>
                    <a:pt x="3473076" y="1714500"/>
                    <a:pt x="340995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3" name="Freeform 23"/>
            <p:cNvSpPr/>
            <p:nvPr/>
          </p:nvSpPr>
          <p:spPr>
            <a:xfrm>
              <a:off x="8096250" y="952500"/>
              <a:ext cx="3524250" cy="57150"/>
            </a:xfrm>
            <a:custGeom>
              <a:avLst/>
              <a:gdLst/>
              <a:ahLst/>
              <a:cxnLst/>
              <a:rect l="l" t="t" r="r" b="b"/>
              <a:pathLst>
                <a:path w="3524250" h="57150">
                  <a:moveTo>
                    <a:pt x="28575" y="0"/>
                  </a:moveTo>
                  <a:lnTo>
                    <a:pt x="3495675" y="0"/>
                  </a:lnTo>
                  <a:cubicBezTo>
                    <a:pt x="3511457" y="0"/>
                    <a:pt x="3524250" y="12793"/>
                    <a:pt x="3524250" y="28575"/>
                  </a:cubicBezTo>
                  <a:lnTo>
                    <a:pt x="3524250" y="28575"/>
                  </a:lnTo>
                  <a:cubicBezTo>
                    <a:pt x="3524250" y="44357"/>
                    <a:pt x="3511457" y="57150"/>
                    <a:pt x="3495675" y="57150"/>
                  </a:cubicBezTo>
                  <a:lnTo>
                    <a:pt x="28575" y="57150"/>
                  </a:lnTo>
                  <a:cubicBezTo>
                    <a:pt x="12793" y="57150"/>
                    <a:pt x="0" y="44357"/>
                    <a:pt x="0" y="28575"/>
                  </a:cubicBezTo>
                  <a:lnTo>
                    <a:pt x="0" y="28575"/>
                  </a:lnTo>
                  <a:cubicBezTo>
                    <a:pt x="0" y="12793"/>
                    <a:pt x="12793" y="0"/>
                    <a:pt x="28575" y="0"/>
                  </a:cubicBezTo>
                  <a:close/>
                </a:path>
              </a:pathLst>
            </a:custGeom>
            <a:solidFill>
              <a:srgbClr val="006AF9"/>
            </a:solidFill>
            <a:ln>
              <a:noFill/>
            </a:ln>
            <a:effectLst>
              <a:outerShdw blurRad="190500" dist="38100" dir="10799140" algn="tl" rotWithShape="0">
                <a:srgbClr val="000000">
                  <a:alpha val="12000"/>
                </a:srgbClr>
              </a:outerShdw>
            </a:effectLst>
          </p:spPr>
        </p:sp>
        <p:grpSp>
          <p:nvGrpSpPr>
            <p:cNvPr id="32" name="Group 32"/>
            <p:cNvGrpSpPr/>
            <p:nvPr/>
          </p:nvGrpSpPr>
          <p:grpSpPr>
            <a:xfrm>
              <a:off x="8401050" y="1257300"/>
              <a:ext cx="266700" cy="266700"/>
              <a:chOff x="8401050" y="1257300"/>
              <a:chExt cx="266700" cy="266700"/>
            </a:xfrm>
          </p:grpSpPr>
          <p:sp>
            <p:nvSpPr>
              <p:cNvPr id="24" name="Freeform 24"/>
              <p:cNvSpPr/>
              <p:nvPr/>
            </p:nvSpPr>
            <p:spPr>
              <a:xfrm>
                <a:off x="8401050" y="1257300"/>
                <a:ext cx="38100" cy="38100"/>
              </a:xfrm>
              <a:custGeom>
                <a:avLst/>
                <a:gdLst/>
                <a:ahLst/>
                <a:cxnLst/>
                <a:rect l="l" t="t" r="r" b="b"/>
                <a:pathLst>
                  <a:path w="38100" h="38100">
                    <a:moveTo>
                      <a:pt x="38100" y="0"/>
                    </a:moveTo>
                    <a:lnTo>
                      <a:pt x="0" y="0"/>
                    </a:lnTo>
                    <a:lnTo>
                      <a:pt x="0" y="38100"/>
                    </a:lnTo>
                    <a:lnTo>
                      <a:pt x="38100" y="38100"/>
                    </a:lnTo>
                    <a:lnTo>
                      <a:pt x="38100" y="0"/>
                    </a:lnTo>
                    <a:close/>
                  </a:path>
                </a:pathLst>
              </a:custGeom>
              <a:solidFill>
                <a:srgbClr val="006AF9"/>
              </a:solidFill>
              <a:ln>
                <a:noFill/>
              </a:ln>
              <a:effectLst>
                <a:outerShdw blurRad="190500" dist="38100" dir="10799140" algn="tl" rotWithShape="0">
                  <a:srgbClr val="000000">
                    <a:alpha val="12000"/>
                  </a:srgbClr>
                </a:outerShdw>
              </a:effectLst>
            </p:spPr>
          </p:sp>
          <p:sp>
            <p:nvSpPr>
              <p:cNvPr id="25" name="Freeform 25"/>
              <p:cNvSpPr/>
              <p:nvPr/>
            </p:nvSpPr>
            <p:spPr>
              <a:xfrm>
                <a:off x="8401050" y="1333500"/>
                <a:ext cx="38100" cy="38100"/>
              </a:xfrm>
              <a:custGeom>
                <a:avLst/>
                <a:gdLst/>
                <a:ahLst/>
                <a:cxnLst/>
                <a:rect l="l" t="t" r="r" b="b"/>
                <a:pathLst>
                  <a:path w="38100" h="38100">
                    <a:moveTo>
                      <a:pt x="38100" y="0"/>
                    </a:moveTo>
                    <a:lnTo>
                      <a:pt x="0" y="0"/>
                    </a:lnTo>
                    <a:lnTo>
                      <a:pt x="0" y="38100"/>
                    </a:lnTo>
                    <a:lnTo>
                      <a:pt x="38100" y="38100"/>
                    </a:lnTo>
                    <a:lnTo>
                      <a:pt x="38100" y="0"/>
                    </a:lnTo>
                    <a:close/>
                  </a:path>
                </a:pathLst>
              </a:custGeom>
              <a:solidFill>
                <a:srgbClr val="006AF9"/>
              </a:solidFill>
              <a:ln>
                <a:noFill/>
              </a:ln>
              <a:effectLst>
                <a:outerShdw blurRad="190500" dist="38100" dir="10799140" algn="tl" rotWithShape="0">
                  <a:srgbClr val="000000">
                    <a:alpha val="12000"/>
                  </a:srgbClr>
                </a:outerShdw>
              </a:effectLst>
            </p:spPr>
          </p:sp>
          <p:sp>
            <p:nvSpPr>
              <p:cNvPr id="26" name="Freeform 26"/>
              <p:cNvSpPr/>
              <p:nvPr/>
            </p:nvSpPr>
            <p:spPr>
              <a:xfrm>
                <a:off x="8401050" y="1409700"/>
                <a:ext cx="38100" cy="38100"/>
              </a:xfrm>
              <a:custGeom>
                <a:avLst/>
                <a:gdLst/>
                <a:ahLst/>
                <a:cxnLst/>
                <a:rect l="l" t="t" r="r" b="b"/>
                <a:pathLst>
                  <a:path w="38100" h="38100">
                    <a:moveTo>
                      <a:pt x="0" y="0"/>
                    </a:moveTo>
                    <a:lnTo>
                      <a:pt x="38100" y="0"/>
                    </a:lnTo>
                    <a:lnTo>
                      <a:pt x="38100" y="38100"/>
                    </a:lnTo>
                    <a:lnTo>
                      <a:pt x="0" y="38100"/>
                    </a:lnTo>
                    <a:lnTo>
                      <a:pt x="0" y="0"/>
                    </a:lnTo>
                    <a:close/>
                  </a:path>
                </a:pathLst>
              </a:custGeom>
              <a:solidFill>
                <a:srgbClr val="006AF9"/>
              </a:solidFill>
              <a:ln>
                <a:noFill/>
              </a:ln>
              <a:effectLst>
                <a:outerShdw blurRad="190500" dist="38100" dir="10799140" algn="tl" rotWithShape="0">
                  <a:srgbClr val="000000">
                    <a:alpha val="12000"/>
                  </a:srgbClr>
                </a:outerShdw>
              </a:effectLst>
            </p:spPr>
          </p:sp>
          <p:sp>
            <p:nvSpPr>
              <p:cNvPr id="27" name="Freeform 27"/>
              <p:cNvSpPr/>
              <p:nvPr/>
            </p:nvSpPr>
            <p:spPr>
              <a:xfrm>
                <a:off x="8401050" y="1485900"/>
                <a:ext cx="38100" cy="38100"/>
              </a:xfrm>
              <a:custGeom>
                <a:avLst/>
                <a:gdLst/>
                <a:ahLst/>
                <a:cxnLst/>
                <a:rect l="l" t="t" r="r" b="b"/>
                <a:pathLst>
                  <a:path w="38100" h="38100">
                    <a:moveTo>
                      <a:pt x="38100" y="0"/>
                    </a:moveTo>
                    <a:lnTo>
                      <a:pt x="0" y="0"/>
                    </a:lnTo>
                    <a:lnTo>
                      <a:pt x="0" y="38100"/>
                    </a:lnTo>
                    <a:lnTo>
                      <a:pt x="38100" y="38100"/>
                    </a:lnTo>
                    <a:lnTo>
                      <a:pt x="38100" y="0"/>
                    </a:lnTo>
                    <a:close/>
                  </a:path>
                </a:pathLst>
              </a:custGeom>
              <a:solidFill>
                <a:srgbClr val="006AF9"/>
              </a:solidFill>
              <a:ln>
                <a:noFill/>
              </a:ln>
              <a:effectLst>
                <a:outerShdw blurRad="190500" dist="38100" dir="10799140" algn="tl" rotWithShape="0">
                  <a:srgbClr val="000000">
                    <a:alpha val="12000"/>
                  </a:srgbClr>
                </a:outerShdw>
              </a:effectLst>
            </p:spPr>
          </p:sp>
          <p:sp>
            <p:nvSpPr>
              <p:cNvPr id="28" name="Freeform 28"/>
              <p:cNvSpPr/>
              <p:nvPr/>
            </p:nvSpPr>
            <p:spPr>
              <a:xfrm>
                <a:off x="8477250" y="1257300"/>
                <a:ext cx="190500" cy="38100"/>
              </a:xfrm>
              <a:custGeom>
                <a:avLst/>
                <a:gdLst/>
                <a:ahLst/>
                <a:cxnLst/>
                <a:rect l="l" t="t" r="r" b="b"/>
                <a:pathLst>
                  <a:path w="190500" h="38100">
                    <a:moveTo>
                      <a:pt x="190500" y="0"/>
                    </a:moveTo>
                    <a:lnTo>
                      <a:pt x="0" y="0"/>
                    </a:lnTo>
                    <a:lnTo>
                      <a:pt x="0" y="38100"/>
                    </a:lnTo>
                    <a:lnTo>
                      <a:pt x="190500" y="38100"/>
                    </a:lnTo>
                    <a:lnTo>
                      <a:pt x="190500" y="0"/>
                    </a:lnTo>
                    <a:close/>
                  </a:path>
                </a:pathLst>
              </a:custGeom>
              <a:solidFill>
                <a:srgbClr val="006AF9"/>
              </a:solidFill>
              <a:ln>
                <a:noFill/>
              </a:ln>
              <a:effectLst>
                <a:outerShdw blurRad="190500" dist="38100" dir="10799140" algn="tl" rotWithShape="0">
                  <a:srgbClr val="000000">
                    <a:alpha val="12000"/>
                  </a:srgbClr>
                </a:outerShdw>
              </a:effectLst>
            </p:spPr>
          </p:sp>
          <p:sp>
            <p:nvSpPr>
              <p:cNvPr id="29" name="Freeform 29"/>
              <p:cNvSpPr/>
              <p:nvPr/>
            </p:nvSpPr>
            <p:spPr>
              <a:xfrm>
                <a:off x="8477250" y="1333500"/>
                <a:ext cx="190500" cy="38100"/>
              </a:xfrm>
              <a:custGeom>
                <a:avLst/>
                <a:gdLst/>
                <a:ahLst/>
                <a:cxnLst/>
                <a:rect l="l" t="t" r="r" b="b"/>
                <a:pathLst>
                  <a:path w="190500" h="38100">
                    <a:moveTo>
                      <a:pt x="190500" y="0"/>
                    </a:moveTo>
                    <a:lnTo>
                      <a:pt x="0" y="0"/>
                    </a:lnTo>
                    <a:lnTo>
                      <a:pt x="0" y="38100"/>
                    </a:lnTo>
                    <a:lnTo>
                      <a:pt x="190500" y="38100"/>
                    </a:lnTo>
                    <a:lnTo>
                      <a:pt x="190500" y="0"/>
                    </a:lnTo>
                    <a:close/>
                  </a:path>
                </a:pathLst>
              </a:custGeom>
              <a:solidFill>
                <a:srgbClr val="006AF9"/>
              </a:solidFill>
              <a:ln>
                <a:noFill/>
              </a:ln>
              <a:effectLst>
                <a:outerShdw blurRad="190500" dist="38100" dir="10799140" algn="tl" rotWithShape="0">
                  <a:srgbClr val="000000">
                    <a:alpha val="12000"/>
                  </a:srgbClr>
                </a:outerShdw>
              </a:effectLst>
            </p:spPr>
          </p:sp>
          <p:sp>
            <p:nvSpPr>
              <p:cNvPr id="30" name="Freeform 30"/>
              <p:cNvSpPr/>
              <p:nvPr/>
            </p:nvSpPr>
            <p:spPr>
              <a:xfrm>
                <a:off x="8477250" y="14097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006AF9"/>
              </a:solidFill>
              <a:ln>
                <a:noFill/>
              </a:ln>
              <a:effectLst>
                <a:outerShdw blurRad="190500" dist="38100" dir="10799140" algn="tl" rotWithShape="0">
                  <a:srgbClr val="000000">
                    <a:alpha val="12000"/>
                  </a:srgbClr>
                </a:outerShdw>
              </a:effectLst>
            </p:spPr>
          </p:sp>
          <p:sp>
            <p:nvSpPr>
              <p:cNvPr id="31" name="Freeform 31"/>
              <p:cNvSpPr/>
              <p:nvPr/>
            </p:nvSpPr>
            <p:spPr>
              <a:xfrm>
                <a:off x="8477250" y="1485900"/>
                <a:ext cx="190500" cy="38100"/>
              </a:xfrm>
              <a:custGeom>
                <a:avLst/>
                <a:gdLst/>
                <a:ahLst/>
                <a:cxnLst/>
                <a:rect l="l" t="t" r="r" b="b"/>
                <a:pathLst>
                  <a:path w="190500" h="38100">
                    <a:moveTo>
                      <a:pt x="190500" y="0"/>
                    </a:moveTo>
                    <a:lnTo>
                      <a:pt x="0" y="0"/>
                    </a:lnTo>
                    <a:lnTo>
                      <a:pt x="0" y="38100"/>
                    </a:lnTo>
                    <a:lnTo>
                      <a:pt x="190500" y="38100"/>
                    </a:lnTo>
                    <a:lnTo>
                      <a:pt x="190500" y="0"/>
                    </a:lnTo>
                    <a:close/>
                  </a:path>
                </a:pathLst>
              </a:custGeom>
              <a:solidFill>
                <a:srgbClr val="006AF9"/>
              </a:solidFill>
              <a:ln>
                <a:noFill/>
              </a:ln>
              <a:effectLst>
                <a:outerShdw blurRad="190500" dist="38100" dir="10799140" algn="tl" rotWithShape="0">
                  <a:srgbClr val="000000">
                    <a:alpha val="12000"/>
                  </a:srgbClr>
                </a:outerShdw>
              </a:effectLst>
            </p:spPr>
          </p:sp>
        </p:grpSp>
        <p:sp>
          <p:nvSpPr>
            <p:cNvPr id="33" name="TextBox 33"/>
            <p:cNvSpPr txBox="1"/>
            <p:nvPr/>
          </p:nvSpPr>
          <p:spPr>
            <a:xfrm>
              <a:off x="8791575" y="1266825"/>
              <a:ext cx="486656"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006AF9"/>
                  </a:solidFill>
                  <a:latin typeface="Arial"/>
                  <a:ea typeface="Microsoft YaHei"/>
                  <a:cs typeface="Arial"/>
                </a:rPr>
                <a:t>List</a:t>
              </a:r>
            </a:p>
          </p:txBody>
        </p:sp>
        <p:sp>
          <p:nvSpPr>
            <p:cNvPr id="34" name="TextBox 34"/>
            <p:cNvSpPr txBox="1"/>
            <p:nvPr/>
          </p:nvSpPr>
          <p:spPr>
            <a:xfrm>
              <a:off x="8367712" y="1640681"/>
              <a:ext cx="1581269"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Danh sách có thứ tự</a:t>
              </a:r>
            </a:p>
          </p:txBody>
        </p:sp>
        <p:sp>
          <p:nvSpPr>
            <p:cNvPr id="35" name="TextBox 35"/>
            <p:cNvSpPr txBox="1"/>
            <p:nvPr/>
          </p:nvSpPr>
          <p:spPr>
            <a:xfrm>
              <a:off x="8368665" y="1886902"/>
              <a:ext cx="1836229"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Message queue, timeline</a:t>
              </a:r>
            </a:p>
          </p:txBody>
        </p:sp>
        <p:sp>
          <p:nvSpPr>
            <p:cNvPr id="36" name="TextBox 36"/>
            <p:cNvSpPr txBox="1"/>
            <p:nvPr/>
          </p:nvSpPr>
          <p:spPr>
            <a:xfrm>
              <a:off x="8369618" y="2228374"/>
              <a:ext cx="1477232"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LPUSH / RPUSH / LPOP</a:t>
              </a:r>
            </a:p>
          </p:txBody>
        </p:sp>
      </p:grpSp>
      <p:grpSp>
        <p:nvGrpSpPr>
          <p:cNvPr id="48" name="Group 48"/>
          <p:cNvGrpSpPr/>
          <p:nvPr/>
        </p:nvGrpSpPr>
        <p:grpSpPr>
          <a:xfrm>
            <a:off x="1619250" y="2952750"/>
            <a:ext cx="4000500" cy="1714500"/>
            <a:chOff x="1619250" y="2952750"/>
            <a:chExt cx="4000500" cy="1714500"/>
          </a:xfrm>
          <a:effectLst>
            <a:outerShdw blurRad="190500" dist="38100" dir="10799140" algn="tl" rotWithShape="0">
              <a:srgbClr val="000000">
                <a:alpha val="12000"/>
              </a:srgbClr>
            </a:outerShdw>
          </a:effectLst>
        </p:grpSpPr>
        <p:sp>
          <p:nvSpPr>
            <p:cNvPr id="38" name="Freeform 38"/>
            <p:cNvSpPr/>
            <p:nvPr/>
          </p:nvSpPr>
          <p:spPr>
            <a:xfrm>
              <a:off x="1619250" y="2952750"/>
              <a:ext cx="4000500" cy="1714500"/>
            </a:xfrm>
            <a:custGeom>
              <a:avLst/>
              <a:gdLst/>
              <a:ahLst/>
              <a:cxnLst/>
              <a:rect l="l" t="t" r="r" b="b"/>
              <a:pathLst>
                <a:path w="4000500" h="1714500">
                  <a:moveTo>
                    <a:pt x="114300" y="0"/>
                  </a:moveTo>
                  <a:lnTo>
                    <a:pt x="3886200" y="0"/>
                  </a:lnTo>
                  <a:cubicBezTo>
                    <a:pt x="3949326" y="0"/>
                    <a:pt x="4000500" y="51174"/>
                    <a:pt x="4000500" y="114300"/>
                  </a:cubicBezTo>
                  <a:lnTo>
                    <a:pt x="4000500" y="1600200"/>
                  </a:lnTo>
                  <a:cubicBezTo>
                    <a:pt x="4000500" y="1663326"/>
                    <a:pt x="3949326" y="1714500"/>
                    <a:pt x="388620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9" name="Freeform 39"/>
            <p:cNvSpPr/>
            <p:nvPr/>
          </p:nvSpPr>
          <p:spPr>
            <a:xfrm>
              <a:off x="1619250" y="2952750"/>
              <a:ext cx="4000500" cy="57150"/>
            </a:xfrm>
            <a:custGeom>
              <a:avLst/>
              <a:gdLst/>
              <a:ahLst/>
              <a:cxnLst/>
              <a:rect l="l" t="t" r="r" b="b"/>
              <a:pathLst>
                <a:path w="4000500" h="57150">
                  <a:moveTo>
                    <a:pt x="28575" y="0"/>
                  </a:moveTo>
                  <a:lnTo>
                    <a:pt x="3971925" y="0"/>
                  </a:lnTo>
                  <a:cubicBezTo>
                    <a:pt x="3987707" y="0"/>
                    <a:pt x="4000500" y="12793"/>
                    <a:pt x="4000500" y="28575"/>
                  </a:cubicBezTo>
                  <a:lnTo>
                    <a:pt x="4000500" y="28575"/>
                  </a:lnTo>
                  <a:cubicBezTo>
                    <a:pt x="4000500" y="44357"/>
                    <a:pt x="3987707" y="57150"/>
                    <a:pt x="3971925" y="57150"/>
                  </a:cubicBezTo>
                  <a:lnTo>
                    <a:pt x="28575" y="57150"/>
                  </a:lnTo>
                  <a:cubicBezTo>
                    <a:pt x="12793" y="57150"/>
                    <a:pt x="0" y="44357"/>
                    <a:pt x="0" y="28575"/>
                  </a:cubicBezTo>
                  <a:lnTo>
                    <a:pt x="0" y="28575"/>
                  </a:lnTo>
                  <a:cubicBezTo>
                    <a:pt x="0" y="12793"/>
                    <a:pt x="12793" y="0"/>
                    <a:pt x="28575" y="0"/>
                  </a:cubicBezTo>
                  <a:close/>
                </a:path>
              </a:pathLst>
            </a:custGeom>
            <a:solidFill>
              <a:srgbClr val="2E7D32"/>
            </a:solidFill>
            <a:ln>
              <a:noFill/>
            </a:ln>
            <a:effectLst>
              <a:outerShdw blurRad="190500" dist="38100" dir="10799140" algn="tl" rotWithShape="0">
                <a:srgbClr val="000000">
                  <a:alpha val="12000"/>
                </a:srgbClr>
              </a:outerShdw>
            </a:effectLst>
          </p:spPr>
        </p:sp>
        <p:grpSp>
          <p:nvGrpSpPr>
            <p:cNvPr id="43" name="Group 43"/>
            <p:cNvGrpSpPr/>
            <p:nvPr/>
          </p:nvGrpSpPr>
          <p:grpSpPr>
            <a:xfrm>
              <a:off x="1924050" y="3238500"/>
              <a:ext cx="266700" cy="304800"/>
              <a:chOff x="1924050" y="3238500"/>
              <a:chExt cx="266700" cy="304800"/>
            </a:xfrm>
          </p:grpSpPr>
          <p:sp>
            <p:nvSpPr>
              <p:cNvPr id="40" name="Freeform 40"/>
              <p:cNvSpPr/>
              <p:nvPr/>
            </p:nvSpPr>
            <p:spPr>
              <a:xfrm>
                <a:off x="1924050" y="3238500"/>
                <a:ext cx="266700" cy="152400"/>
              </a:xfrm>
              <a:custGeom>
                <a:avLst/>
                <a:gdLst/>
                <a:ahLst/>
                <a:cxnLst/>
                <a:rect l="l" t="t" r="r" b="b"/>
                <a:pathLst>
                  <a:path w="266700" h="152400">
                    <a:moveTo>
                      <a:pt x="0" y="95250"/>
                    </a:moveTo>
                    <a:lnTo>
                      <a:pt x="0" y="57150"/>
                    </a:lnTo>
                    <a:lnTo>
                      <a:pt x="133350" y="0"/>
                    </a:lnTo>
                    <a:lnTo>
                      <a:pt x="266700" y="57150"/>
                    </a:lnTo>
                    <a:lnTo>
                      <a:pt x="266700" y="95250"/>
                    </a:lnTo>
                    <a:lnTo>
                      <a:pt x="133350" y="152400"/>
                    </a:lnTo>
                    <a:lnTo>
                      <a:pt x="0" y="95250"/>
                    </a:lnTo>
                    <a:close/>
                  </a:path>
                </a:pathLst>
              </a:custGeom>
              <a:solidFill>
                <a:srgbClr val="2E7D32"/>
              </a:solidFill>
              <a:ln>
                <a:noFill/>
              </a:ln>
              <a:effectLst>
                <a:outerShdw blurRad="190500" dist="38100" dir="10799140" algn="tl" rotWithShape="0">
                  <a:srgbClr val="000000">
                    <a:alpha val="12000"/>
                  </a:srgbClr>
                </a:outerShdw>
              </a:effectLst>
            </p:spPr>
          </p:sp>
          <p:sp>
            <p:nvSpPr>
              <p:cNvPr id="41" name="Freeform 41"/>
              <p:cNvSpPr/>
              <p:nvPr/>
            </p:nvSpPr>
            <p:spPr>
              <a:xfrm>
                <a:off x="1924050" y="3448050"/>
                <a:ext cx="266700" cy="95250"/>
              </a:xfrm>
              <a:custGeom>
                <a:avLst/>
                <a:gdLst/>
                <a:ahLst/>
                <a:cxnLst/>
                <a:rect l="l" t="t" r="r" b="b"/>
                <a:pathLst>
                  <a:path w="266700" h="95250">
                    <a:moveTo>
                      <a:pt x="133350" y="95250"/>
                    </a:moveTo>
                    <a:lnTo>
                      <a:pt x="0" y="38100"/>
                    </a:lnTo>
                    <a:lnTo>
                      <a:pt x="0" y="0"/>
                    </a:lnTo>
                    <a:lnTo>
                      <a:pt x="133350" y="57150"/>
                    </a:lnTo>
                    <a:lnTo>
                      <a:pt x="266700" y="0"/>
                    </a:lnTo>
                    <a:lnTo>
                      <a:pt x="266700" y="38100"/>
                    </a:lnTo>
                    <a:lnTo>
                      <a:pt x="133350" y="95250"/>
                    </a:lnTo>
                    <a:close/>
                  </a:path>
                </a:pathLst>
              </a:custGeom>
              <a:solidFill>
                <a:srgbClr val="2E7D32"/>
              </a:solidFill>
              <a:ln>
                <a:noFill/>
              </a:ln>
              <a:effectLst>
                <a:outerShdw blurRad="190500" dist="38100" dir="10799140" algn="tl" rotWithShape="0">
                  <a:srgbClr val="000000">
                    <a:alpha val="12000"/>
                  </a:srgbClr>
                </a:outerShdw>
              </a:effectLst>
            </p:spPr>
          </p:sp>
          <p:sp>
            <p:nvSpPr>
              <p:cNvPr id="42" name="Freeform 42"/>
              <p:cNvSpPr/>
              <p:nvPr/>
            </p:nvSpPr>
            <p:spPr>
              <a:xfrm>
                <a:off x="1924050" y="3371850"/>
                <a:ext cx="266700" cy="95250"/>
              </a:xfrm>
              <a:custGeom>
                <a:avLst/>
                <a:gdLst/>
                <a:ahLst/>
                <a:cxnLst/>
                <a:rect l="l" t="t" r="r" b="b"/>
                <a:pathLst>
                  <a:path w="266700" h="95250">
                    <a:moveTo>
                      <a:pt x="0" y="38100"/>
                    </a:moveTo>
                    <a:lnTo>
                      <a:pt x="133350" y="95250"/>
                    </a:lnTo>
                    <a:lnTo>
                      <a:pt x="266700" y="38100"/>
                    </a:lnTo>
                    <a:lnTo>
                      <a:pt x="266700" y="0"/>
                    </a:lnTo>
                    <a:lnTo>
                      <a:pt x="133350" y="57150"/>
                    </a:lnTo>
                    <a:lnTo>
                      <a:pt x="0" y="0"/>
                    </a:lnTo>
                    <a:lnTo>
                      <a:pt x="0" y="38100"/>
                    </a:lnTo>
                    <a:close/>
                  </a:path>
                </a:pathLst>
              </a:custGeom>
              <a:solidFill>
                <a:srgbClr val="2E7D32"/>
              </a:solidFill>
              <a:ln>
                <a:noFill/>
              </a:ln>
              <a:effectLst>
                <a:outerShdw blurRad="190500" dist="38100" dir="10799140" algn="tl" rotWithShape="0">
                  <a:srgbClr val="000000">
                    <a:alpha val="12000"/>
                  </a:srgbClr>
                </a:outerShdw>
              </a:effectLst>
            </p:spPr>
          </p:sp>
        </p:grpSp>
        <p:sp>
          <p:nvSpPr>
            <p:cNvPr id="44" name="TextBox 44"/>
            <p:cNvSpPr txBox="1"/>
            <p:nvPr/>
          </p:nvSpPr>
          <p:spPr>
            <a:xfrm>
              <a:off x="2314575" y="3267075"/>
              <a:ext cx="417647"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2E7D32"/>
                  </a:solidFill>
                  <a:latin typeface="Arial"/>
                  <a:ea typeface="Microsoft YaHei"/>
                  <a:cs typeface="Arial"/>
                </a:rPr>
                <a:t>Set</a:t>
              </a:r>
            </a:p>
          </p:txBody>
        </p:sp>
        <p:sp>
          <p:nvSpPr>
            <p:cNvPr id="45" name="TextBox 45"/>
            <p:cNvSpPr txBox="1"/>
            <p:nvPr/>
          </p:nvSpPr>
          <p:spPr>
            <a:xfrm>
              <a:off x="1890712" y="3640931"/>
              <a:ext cx="3043595"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Tập hợp không trùng lặp, không thứ tự</a:t>
              </a:r>
            </a:p>
          </p:txBody>
        </p:sp>
        <p:sp>
          <p:nvSpPr>
            <p:cNvPr id="46" name="TextBox 46"/>
            <p:cNvSpPr txBox="1"/>
            <p:nvPr/>
          </p:nvSpPr>
          <p:spPr>
            <a:xfrm>
              <a:off x="1891665" y="3887152"/>
              <a:ext cx="3055382"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Tags, unique visitors, phép toán tập hợp</a:t>
              </a:r>
            </a:p>
          </p:txBody>
        </p:sp>
        <p:sp>
          <p:nvSpPr>
            <p:cNvPr id="47" name="TextBox 47"/>
            <p:cNvSpPr txBox="1"/>
            <p:nvPr/>
          </p:nvSpPr>
          <p:spPr>
            <a:xfrm>
              <a:off x="1892618" y="4228624"/>
              <a:ext cx="240994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SADD / SMEMBERS / SINTER / SUNION</a:t>
              </a:r>
            </a:p>
          </p:txBody>
        </p:sp>
      </p:grpSp>
      <p:grpSp>
        <p:nvGrpSpPr>
          <p:cNvPr id="56" name="Group 56"/>
          <p:cNvGrpSpPr/>
          <p:nvPr/>
        </p:nvGrpSpPr>
        <p:grpSpPr>
          <a:xfrm>
            <a:off x="5905500" y="2952750"/>
            <a:ext cx="4953000" cy="1714500"/>
            <a:chOff x="5905500" y="2952750"/>
            <a:chExt cx="4953000" cy="1714500"/>
          </a:xfrm>
          <a:effectLst>
            <a:outerShdw blurRad="190500" dist="38100" dir="10799140" algn="tl" rotWithShape="0">
              <a:srgbClr val="000000">
                <a:alpha val="12000"/>
              </a:srgbClr>
            </a:outerShdw>
          </a:effectLst>
        </p:grpSpPr>
        <p:sp>
          <p:nvSpPr>
            <p:cNvPr id="49" name="Freeform 49"/>
            <p:cNvSpPr/>
            <p:nvPr/>
          </p:nvSpPr>
          <p:spPr>
            <a:xfrm>
              <a:off x="5905500" y="2952750"/>
              <a:ext cx="4953000" cy="1714500"/>
            </a:xfrm>
            <a:custGeom>
              <a:avLst/>
              <a:gdLst/>
              <a:ahLst/>
              <a:cxnLst/>
              <a:rect l="l" t="t" r="r" b="b"/>
              <a:pathLst>
                <a:path w="4953000" h="1714500">
                  <a:moveTo>
                    <a:pt x="114300" y="0"/>
                  </a:moveTo>
                  <a:lnTo>
                    <a:pt x="4838700" y="0"/>
                  </a:lnTo>
                  <a:cubicBezTo>
                    <a:pt x="4901826" y="0"/>
                    <a:pt x="4953000" y="51174"/>
                    <a:pt x="4953000" y="114300"/>
                  </a:cubicBezTo>
                  <a:lnTo>
                    <a:pt x="4953000" y="1600200"/>
                  </a:lnTo>
                  <a:cubicBezTo>
                    <a:pt x="4953000" y="1663326"/>
                    <a:pt x="4901826" y="1714500"/>
                    <a:pt x="483870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50" name="Freeform 50"/>
            <p:cNvSpPr/>
            <p:nvPr/>
          </p:nvSpPr>
          <p:spPr>
            <a:xfrm>
              <a:off x="5905500" y="2952750"/>
              <a:ext cx="4953000" cy="57150"/>
            </a:xfrm>
            <a:custGeom>
              <a:avLst/>
              <a:gdLst/>
              <a:ahLst/>
              <a:cxnLst/>
              <a:rect l="l" t="t" r="r" b="b"/>
              <a:pathLst>
                <a:path w="4953000" h="57150">
                  <a:moveTo>
                    <a:pt x="28575" y="0"/>
                  </a:moveTo>
                  <a:lnTo>
                    <a:pt x="4924425" y="0"/>
                  </a:lnTo>
                  <a:cubicBezTo>
                    <a:pt x="4940207" y="0"/>
                    <a:pt x="4953000" y="12793"/>
                    <a:pt x="4953000" y="28575"/>
                  </a:cubicBezTo>
                  <a:lnTo>
                    <a:pt x="4953000" y="28575"/>
                  </a:lnTo>
                  <a:cubicBezTo>
                    <a:pt x="4953000" y="44357"/>
                    <a:pt x="4940207" y="57150"/>
                    <a:pt x="4924425" y="57150"/>
                  </a:cubicBezTo>
                  <a:lnTo>
                    <a:pt x="28575" y="57150"/>
                  </a:lnTo>
                  <a:cubicBezTo>
                    <a:pt x="12793" y="57150"/>
                    <a:pt x="0" y="44357"/>
                    <a:pt x="0" y="28575"/>
                  </a:cubicBezTo>
                  <a:lnTo>
                    <a:pt x="0" y="28575"/>
                  </a:lnTo>
                  <a:cubicBezTo>
                    <a:pt x="0" y="12793"/>
                    <a:pt x="12793" y="0"/>
                    <a:pt x="28575" y="0"/>
                  </a:cubicBezTo>
                  <a:close/>
                </a:path>
              </a:pathLst>
            </a:custGeom>
            <a:solidFill>
              <a:srgbClr val="FF6B35"/>
            </a:solidFill>
            <a:ln>
              <a:noFill/>
            </a:ln>
            <a:effectLst>
              <a:outerShdw blurRad="190500" dist="38100" dir="10799140" algn="tl" rotWithShape="0">
                <a:srgbClr val="000000">
                  <a:alpha val="12000"/>
                </a:srgbClr>
              </a:outerShdw>
            </a:effectLst>
          </p:spPr>
        </p:sp>
        <p:sp>
          <p:nvSpPr>
            <p:cNvPr id="51" name="Freeform 51"/>
            <p:cNvSpPr/>
            <p:nvPr/>
          </p:nvSpPr>
          <p:spPr>
            <a:xfrm>
              <a:off x="6192822" y="3238500"/>
              <a:ext cx="301656" cy="286891"/>
            </a:xfrm>
            <a:custGeom>
              <a:avLst/>
              <a:gdLst/>
              <a:ahLst/>
              <a:cxnLst/>
              <a:rect l="l" t="t" r="r" b="b"/>
              <a:pathLst>
                <a:path w="301656" h="286891">
                  <a:moveTo>
                    <a:pt x="169878" y="0"/>
                  </a:moveTo>
                  <a:lnTo>
                    <a:pt x="131778" y="0"/>
                  </a:lnTo>
                  <a:lnTo>
                    <a:pt x="103449" y="87188"/>
                  </a:lnTo>
                  <a:lnTo>
                    <a:pt x="11774" y="87188"/>
                  </a:lnTo>
                  <a:lnTo>
                    <a:pt x="0" y="123424"/>
                  </a:lnTo>
                  <a:lnTo>
                    <a:pt x="74167" y="177309"/>
                  </a:lnTo>
                  <a:lnTo>
                    <a:pt x="45838" y="264496"/>
                  </a:lnTo>
                  <a:lnTo>
                    <a:pt x="76662" y="286891"/>
                  </a:lnTo>
                  <a:lnTo>
                    <a:pt x="150828" y="233006"/>
                  </a:lnTo>
                  <a:lnTo>
                    <a:pt x="224995" y="286891"/>
                  </a:lnTo>
                  <a:lnTo>
                    <a:pt x="255818" y="264496"/>
                  </a:lnTo>
                  <a:lnTo>
                    <a:pt x="227489" y="177309"/>
                  </a:lnTo>
                  <a:lnTo>
                    <a:pt x="301656" y="123423"/>
                  </a:lnTo>
                  <a:lnTo>
                    <a:pt x="289882" y="87188"/>
                  </a:lnTo>
                  <a:lnTo>
                    <a:pt x="198207" y="87188"/>
                  </a:lnTo>
                  <a:lnTo>
                    <a:pt x="169878" y="0"/>
                  </a:lnTo>
                  <a:close/>
                </a:path>
              </a:pathLst>
            </a:custGeom>
            <a:solidFill>
              <a:srgbClr val="FF6B35"/>
            </a:solidFill>
            <a:ln>
              <a:noFill/>
            </a:ln>
            <a:effectLst>
              <a:outerShdw blurRad="190500" dist="38100" dir="10799140" algn="tl" rotWithShape="0">
                <a:srgbClr val="000000">
                  <a:alpha val="12000"/>
                </a:srgbClr>
              </a:outerShdw>
            </a:effectLst>
          </p:spPr>
        </p:sp>
        <p:sp>
          <p:nvSpPr>
            <p:cNvPr id="52" name="TextBox 52"/>
            <p:cNvSpPr txBox="1"/>
            <p:nvPr/>
          </p:nvSpPr>
          <p:spPr>
            <a:xfrm>
              <a:off x="6600825" y="3267075"/>
              <a:ext cx="1245751"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FF6B35"/>
                  </a:solidFill>
                  <a:latin typeface="Arial"/>
                  <a:ea typeface="Microsoft YaHei"/>
                  <a:cs typeface="Arial"/>
                </a:rPr>
                <a:t>Sorted Set</a:t>
              </a:r>
            </a:p>
          </p:txBody>
        </p:sp>
        <p:sp>
          <p:nvSpPr>
            <p:cNvPr id="53" name="TextBox 53"/>
            <p:cNvSpPr txBox="1"/>
            <p:nvPr/>
          </p:nvSpPr>
          <p:spPr>
            <a:xfrm>
              <a:off x="6176962" y="3640931"/>
              <a:ext cx="3355777"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Tập hợp không trùng lặp + điểm số (score)</a:t>
              </a:r>
            </a:p>
          </p:txBody>
        </p:sp>
        <p:sp>
          <p:nvSpPr>
            <p:cNvPr id="54" name="TextBox 54"/>
            <p:cNvSpPr txBox="1"/>
            <p:nvPr/>
          </p:nvSpPr>
          <p:spPr>
            <a:xfrm>
              <a:off x="6177915" y="3887152"/>
              <a:ext cx="2787015"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Leaderboard, ranking, bảng xếp hạng</a:t>
              </a:r>
            </a:p>
          </p:txBody>
        </p:sp>
        <p:sp>
          <p:nvSpPr>
            <p:cNvPr id="55" name="TextBox 55"/>
            <p:cNvSpPr txBox="1"/>
            <p:nvPr/>
          </p:nvSpPr>
          <p:spPr>
            <a:xfrm>
              <a:off x="6178868" y="4228624"/>
              <a:ext cx="242418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ZADD / ZREVRANGE / ZRANK / ZCOUNT</a:t>
              </a:r>
            </a:p>
          </p:txBody>
        </p:sp>
      </p:grpSp>
      <p:sp>
        <p:nvSpPr>
          <p:cNvPr id="57" name="Ellipse 57"/>
          <p:cNvSpPr/>
          <p:nvPr/>
        </p:nvSpPr>
        <p:spPr>
          <a:xfrm>
            <a:off x="5619750" y="4953000"/>
            <a:ext cx="952500" cy="952500"/>
          </a:xfrm>
          <a:prstGeom prst="ellipse">
            <a:avLst/>
          </a:prstGeom>
          <a:solidFill>
            <a:srgbClr val="D12B1F">
              <a:alpha val="10000"/>
            </a:srgbClr>
          </a:solidFill>
          <a:ln w="19050">
            <a:solidFill>
              <a:srgbClr val="D12B1F"/>
            </a:solidFill>
          </a:ln>
        </p:spPr>
      </p:sp>
      <p:grpSp>
        <p:nvGrpSpPr>
          <p:cNvPr id="61" name="Group 61"/>
          <p:cNvGrpSpPr/>
          <p:nvPr/>
        </p:nvGrpSpPr>
        <p:grpSpPr>
          <a:xfrm>
            <a:off x="5924550" y="5200650"/>
            <a:ext cx="342900" cy="457200"/>
            <a:chOff x="5924550" y="5200650"/>
            <a:chExt cx="342900" cy="457200"/>
          </a:xfrm>
        </p:grpSpPr>
        <p:sp>
          <p:nvSpPr>
            <p:cNvPr id="58" name="Freeform 58"/>
            <p:cNvSpPr/>
            <p:nvPr/>
          </p:nvSpPr>
          <p:spPr>
            <a:xfrm>
              <a:off x="5924550" y="5383530"/>
              <a:ext cx="342900" cy="131445"/>
            </a:xfrm>
            <a:custGeom>
              <a:avLst/>
              <a:gdLst/>
              <a:ahLst/>
              <a:cxnLst/>
              <a:rect l="l" t="t" r="r" b="b"/>
              <a:pathLst>
                <a:path w="342900" h="131445">
                  <a:moveTo>
                    <a:pt x="318243" y="14578"/>
                  </a:moveTo>
                  <a:cubicBezTo>
                    <a:pt x="326281" y="10558"/>
                    <a:pt x="334679" y="5709"/>
                    <a:pt x="342900" y="0"/>
                  </a:cubicBezTo>
                  <a:lnTo>
                    <a:pt x="342900" y="45720"/>
                  </a:lnTo>
                  <a:cubicBezTo>
                    <a:pt x="342900" y="93064"/>
                    <a:pt x="266139" y="131445"/>
                    <a:pt x="171450" y="131445"/>
                  </a:cubicBezTo>
                  <a:cubicBezTo>
                    <a:pt x="76761" y="131445"/>
                    <a:pt x="0" y="93064"/>
                    <a:pt x="0" y="45720"/>
                  </a:cubicBezTo>
                  <a:lnTo>
                    <a:pt x="0" y="0"/>
                  </a:lnTo>
                  <a:cubicBezTo>
                    <a:pt x="8222" y="5709"/>
                    <a:pt x="16619" y="10558"/>
                    <a:pt x="24658" y="14578"/>
                  </a:cubicBezTo>
                  <a:cubicBezTo>
                    <a:pt x="65178" y="34838"/>
                    <a:pt x="117157" y="45720"/>
                    <a:pt x="171450" y="45720"/>
                  </a:cubicBezTo>
                  <a:cubicBezTo>
                    <a:pt x="225743" y="45720"/>
                    <a:pt x="277720" y="34838"/>
                    <a:pt x="318243" y="14578"/>
                  </a:cubicBezTo>
                  <a:close/>
                </a:path>
              </a:pathLst>
            </a:custGeom>
            <a:solidFill>
              <a:srgbClr val="D12B1F"/>
            </a:solidFill>
            <a:ln>
              <a:noFill/>
            </a:ln>
          </p:spPr>
        </p:sp>
        <p:sp>
          <p:nvSpPr>
            <p:cNvPr id="59" name="Freeform 59"/>
            <p:cNvSpPr/>
            <p:nvPr/>
          </p:nvSpPr>
          <p:spPr>
            <a:xfrm>
              <a:off x="5924550" y="5526405"/>
              <a:ext cx="342900" cy="131445"/>
            </a:xfrm>
            <a:custGeom>
              <a:avLst/>
              <a:gdLst/>
              <a:ahLst/>
              <a:cxnLst/>
              <a:rect l="l" t="t" r="r" b="b"/>
              <a:pathLst>
                <a:path w="342900" h="131445">
                  <a:moveTo>
                    <a:pt x="0" y="0"/>
                  </a:moveTo>
                  <a:lnTo>
                    <a:pt x="0" y="45720"/>
                  </a:lnTo>
                  <a:cubicBezTo>
                    <a:pt x="0" y="93066"/>
                    <a:pt x="76761" y="131445"/>
                    <a:pt x="171450" y="131445"/>
                  </a:cubicBezTo>
                  <a:cubicBezTo>
                    <a:pt x="266139" y="131445"/>
                    <a:pt x="342900" y="93066"/>
                    <a:pt x="342900" y="45720"/>
                  </a:cubicBezTo>
                  <a:lnTo>
                    <a:pt x="342900" y="0"/>
                  </a:lnTo>
                  <a:cubicBezTo>
                    <a:pt x="334679" y="5709"/>
                    <a:pt x="326281" y="10558"/>
                    <a:pt x="318243" y="14579"/>
                  </a:cubicBezTo>
                  <a:cubicBezTo>
                    <a:pt x="277720" y="34839"/>
                    <a:pt x="225743" y="45720"/>
                    <a:pt x="171450" y="45720"/>
                  </a:cubicBezTo>
                  <a:cubicBezTo>
                    <a:pt x="117157" y="45720"/>
                    <a:pt x="65178" y="34839"/>
                    <a:pt x="24658" y="14579"/>
                  </a:cubicBezTo>
                  <a:cubicBezTo>
                    <a:pt x="16619" y="10558"/>
                    <a:pt x="8222" y="5709"/>
                    <a:pt x="0" y="0"/>
                  </a:cubicBezTo>
                  <a:close/>
                </a:path>
              </a:pathLst>
            </a:custGeom>
            <a:solidFill>
              <a:srgbClr val="D12B1F"/>
            </a:solidFill>
            <a:ln>
              <a:noFill/>
            </a:ln>
          </p:spPr>
        </p:sp>
        <p:sp>
          <p:nvSpPr>
            <p:cNvPr id="60" name="Freeform 60"/>
            <p:cNvSpPr/>
            <p:nvPr/>
          </p:nvSpPr>
          <p:spPr>
            <a:xfrm>
              <a:off x="5924550" y="5200650"/>
              <a:ext cx="342900" cy="171450"/>
            </a:xfrm>
            <a:custGeom>
              <a:avLst/>
              <a:gdLst/>
              <a:ahLst/>
              <a:cxnLst/>
              <a:rect l="l" t="t" r="r" b="b"/>
              <a:pathLst>
                <a:path w="342900" h="171450">
                  <a:moveTo>
                    <a:pt x="171450" y="0"/>
                  </a:moveTo>
                  <a:cubicBezTo>
                    <a:pt x="266139" y="0"/>
                    <a:pt x="342900" y="38381"/>
                    <a:pt x="342900" y="85725"/>
                  </a:cubicBezTo>
                  <a:cubicBezTo>
                    <a:pt x="342900" y="133069"/>
                    <a:pt x="266139" y="171450"/>
                    <a:pt x="171450" y="171450"/>
                  </a:cubicBezTo>
                  <a:cubicBezTo>
                    <a:pt x="76761" y="171450"/>
                    <a:pt x="0" y="133069"/>
                    <a:pt x="0" y="85725"/>
                  </a:cubicBezTo>
                  <a:cubicBezTo>
                    <a:pt x="0" y="38381"/>
                    <a:pt x="76761" y="0"/>
                    <a:pt x="171450" y="0"/>
                  </a:cubicBezTo>
                  <a:close/>
                </a:path>
              </a:pathLst>
            </a:custGeom>
            <a:solidFill>
              <a:srgbClr val="D12B1F"/>
            </a:solidFill>
            <a:ln>
              <a:noFill/>
            </a:ln>
          </p:spPr>
        </p:sp>
      </p:grpSp>
      <p:sp>
        <p:nvSpPr>
          <p:cNvPr id="62" name="TextBox 62"/>
          <p:cNvSpPr txBox="1"/>
          <p:nvPr/>
        </p:nvSpPr>
        <p:spPr>
          <a:xfrm>
            <a:off x="5340067" y="5966460"/>
            <a:ext cx="1511865"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Redis Data Types</a:t>
            </a:r>
          </a:p>
        </p:txBody>
      </p:sp>
      <p:sp>
        <p:nvSpPr>
          <p:cNvPr id="63" name="TextBox 63"/>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17 / 25</a:t>
            </a:r>
          </a:p>
        </p:txBody>
      </p:sp>
    </p:spTree>
  </p:cSld>
  <p:clrMapOvr>
    <a:masterClrMapping/>
  </p:clrMapOvr>
  <p:transition 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12B1F"/>
          </a:solidFill>
          <a:ln>
            <a:noFill/>
          </a:ln>
        </p:spPr>
      </p:sp>
      <p:sp>
        <p:nvSpPr>
          <p:cNvPr id="4" name="TextBox 4"/>
          <p:cNvSpPr txBox="1"/>
          <p:nvPr/>
        </p:nvSpPr>
        <p:spPr>
          <a:xfrm>
            <a:off x="541020" y="264795"/>
            <a:ext cx="5360822"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String — SET, GET, INCR</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sp>
      <p:sp>
        <p:nvSpPr>
          <p:cNvPr id="6" name="TextBox 6"/>
          <p:cNvSpPr txBox="1"/>
          <p:nvPr/>
        </p:nvSpPr>
        <p:spPr>
          <a:xfrm>
            <a:off x="556260" y="918210"/>
            <a:ext cx="1981124" cy="243840"/>
          </a:xfrm>
          <a:prstGeom prst="rect">
            <a:avLst/>
          </a:prstGeom>
          <a:noFill/>
          <a:ln>
            <a:noFill/>
          </a:ln>
        </p:spPr>
        <p:txBody>
          <a:bodyPr wrap="none" lIns="0" tIns="0" rIns="0" bIns="0" anchor="t" anchorCtr="0">
            <a:spAutoFit/>
          </a:bodyPr>
          <a:lstStyle/>
          <a:p>
            <a:pPr algn="l"/>
            <a:r>
              <a:rPr lang="zh-CN" sz="1200" b="1" dirty="0">
                <a:solidFill>
                  <a:srgbClr val="0B4DA2"/>
                </a:solidFill>
                <a:latin typeface="Arial"/>
                <a:ea typeface="Microsoft YaHei"/>
                <a:cs typeface="Arial"/>
              </a:rPr>
              <a:t>SET / GET cơ bản &amp; TTL</a:t>
            </a:r>
          </a:p>
        </p:txBody>
      </p:sp>
      <p:sp>
        <p:nvSpPr>
          <p:cNvPr id="7" name="Freeform 7"/>
          <p:cNvSpPr/>
          <p:nvPr/>
        </p:nvSpPr>
        <p:spPr>
          <a:xfrm>
            <a:off x="571500" y="1143000"/>
            <a:ext cx="5334000" cy="2381250"/>
          </a:xfrm>
          <a:custGeom>
            <a:avLst/>
            <a:gdLst/>
            <a:ahLst/>
            <a:cxnLst/>
            <a:rect l="l" t="t" r="r" b="b"/>
            <a:pathLst>
              <a:path w="5334000" h="2381250">
                <a:moveTo>
                  <a:pt x="95250" y="0"/>
                </a:moveTo>
                <a:lnTo>
                  <a:pt x="5238750" y="0"/>
                </a:lnTo>
                <a:cubicBezTo>
                  <a:pt x="5291355" y="0"/>
                  <a:pt x="5334000" y="42645"/>
                  <a:pt x="5334000" y="95250"/>
                </a:cubicBezTo>
                <a:lnTo>
                  <a:pt x="5334000" y="2286000"/>
                </a:lnTo>
                <a:cubicBezTo>
                  <a:pt x="5334000" y="2338605"/>
                  <a:pt x="5291355" y="2381250"/>
                  <a:pt x="5238750" y="2381250"/>
                </a:cubicBezTo>
                <a:lnTo>
                  <a:pt x="95250" y="2381250"/>
                </a:lnTo>
                <a:cubicBezTo>
                  <a:pt x="42645" y="2381250"/>
                  <a:pt x="0" y="2338605"/>
                  <a:pt x="0" y="2286000"/>
                </a:cubicBezTo>
                <a:lnTo>
                  <a:pt x="0" y="95250"/>
                </a:lnTo>
                <a:cubicBezTo>
                  <a:pt x="0" y="42645"/>
                  <a:pt x="42645" y="0"/>
                  <a:pt x="95250" y="0"/>
                </a:cubicBezTo>
                <a:close/>
              </a:path>
            </a:pathLst>
          </a:custGeom>
          <a:solidFill>
            <a:srgbClr val="1E293B"/>
          </a:solidFill>
          <a:ln>
            <a:noFill/>
          </a:ln>
        </p:spPr>
      </p:sp>
      <p:sp>
        <p:nvSpPr>
          <p:cNvPr id="8" name="TextBox 8"/>
          <p:cNvSpPr txBox="1"/>
          <p:nvPr/>
        </p:nvSpPr>
        <p:spPr>
          <a:xfrm>
            <a:off x="748665" y="1296352"/>
            <a:ext cx="1215152"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Consolas"/>
                <a:ea typeface="Microsoft YaHei"/>
                <a:cs typeface="Consolas"/>
              </a:rPr>
              <a:t>127.0.0.1:6379&gt;</a:t>
            </a:r>
          </a:p>
        </p:txBody>
      </p:sp>
      <p:sp>
        <p:nvSpPr>
          <p:cNvPr id="9" name="TextBox 9"/>
          <p:cNvSpPr txBox="1"/>
          <p:nvPr/>
        </p:nvSpPr>
        <p:spPr>
          <a:xfrm>
            <a:off x="748665" y="1505902"/>
            <a:ext cx="184389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SET name "Nguyen Van A"</a:t>
            </a:r>
          </a:p>
        </p:txBody>
      </p:sp>
      <p:sp>
        <p:nvSpPr>
          <p:cNvPr id="10" name="TextBox 10"/>
          <p:cNvSpPr txBox="1"/>
          <p:nvPr/>
        </p:nvSpPr>
        <p:spPr>
          <a:xfrm>
            <a:off x="748665" y="1715452"/>
            <a:ext cx="226028"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OK</a:t>
            </a:r>
          </a:p>
        </p:txBody>
      </p:sp>
      <p:sp>
        <p:nvSpPr>
          <p:cNvPr id="11" name="TextBox 11"/>
          <p:cNvSpPr txBox="1"/>
          <p:nvPr/>
        </p:nvSpPr>
        <p:spPr>
          <a:xfrm>
            <a:off x="748665" y="2001202"/>
            <a:ext cx="69375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GET name</a:t>
            </a:r>
          </a:p>
        </p:txBody>
      </p:sp>
      <p:sp>
        <p:nvSpPr>
          <p:cNvPr id="12" name="TextBox 12"/>
          <p:cNvSpPr txBox="1"/>
          <p:nvPr/>
        </p:nvSpPr>
        <p:spPr>
          <a:xfrm>
            <a:off x="748665" y="2210752"/>
            <a:ext cx="1130808"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"Nguyen Van A"</a:t>
            </a:r>
          </a:p>
        </p:txBody>
      </p:sp>
      <p:sp>
        <p:nvSpPr>
          <p:cNvPr id="13" name="TextBox 13"/>
          <p:cNvSpPr txBox="1"/>
          <p:nvPr/>
        </p:nvSpPr>
        <p:spPr>
          <a:xfrm>
            <a:off x="748665" y="2534602"/>
            <a:ext cx="1529525"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Hết hạn sau 10 giây</a:t>
            </a:r>
          </a:p>
        </p:txBody>
      </p:sp>
      <p:sp>
        <p:nvSpPr>
          <p:cNvPr id="14" name="TextBox 14"/>
          <p:cNvSpPr txBox="1"/>
          <p:nvPr/>
        </p:nvSpPr>
        <p:spPr>
          <a:xfrm>
            <a:off x="748665" y="2744152"/>
            <a:ext cx="2119932"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SET session:u1 "token" EX 10</a:t>
            </a:r>
          </a:p>
        </p:txBody>
      </p:sp>
      <p:sp>
        <p:nvSpPr>
          <p:cNvPr id="15" name="TextBox 15"/>
          <p:cNvSpPr txBox="1"/>
          <p:nvPr/>
        </p:nvSpPr>
        <p:spPr>
          <a:xfrm>
            <a:off x="748665" y="2953702"/>
            <a:ext cx="1092470"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TTL session:u1</a:t>
            </a:r>
          </a:p>
        </p:txBody>
      </p:sp>
      <p:sp>
        <p:nvSpPr>
          <p:cNvPr id="16" name="TextBox 16"/>
          <p:cNvSpPr txBox="1"/>
          <p:nvPr/>
        </p:nvSpPr>
        <p:spPr>
          <a:xfrm>
            <a:off x="748665" y="3163252"/>
            <a:ext cx="877776"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Consolas"/>
                <a:ea typeface="Microsoft YaHei"/>
                <a:cs typeface="Consolas"/>
              </a:rPr>
              <a:t>(integer) 8</a:t>
            </a:r>
          </a:p>
        </p:txBody>
      </p:sp>
      <p:sp>
        <p:nvSpPr>
          <p:cNvPr id="17" name="TextBox 17"/>
          <p:cNvSpPr txBox="1"/>
          <p:nvPr/>
        </p:nvSpPr>
        <p:spPr>
          <a:xfrm>
            <a:off x="6271260" y="918210"/>
            <a:ext cx="2514791" cy="243840"/>
          </a:xfrm>
          <a:prstGeom prst="rect">
            <a:avLst/>
          </a:prstGeom>
          <a:noFill/>
          <a:ln>
            <a:noFill/>
          </a:ln>
        </p:spPr>
        <p:txBody>
          <a:bodyPr wrap="none" lIns="0" tIns="0" rIns="0" bIns="0" anchor="t" anchorCtr="0">
            <a:spAutoFit/>
          </a:bodyPr>
          <a:lstStyle/>
          <a:p>
            <a:pPr algn="l"/>
            <a:r>
              <a:rPr lang="zh-CN" sz="1200" b="1" dirty="0">
                <a:solidFill>
                  <a:srgbClr val="0B4DA2"/>
                </a:solidFill>
                <a:latin typeface="Arial"/>
                <a:ea typeface="Microsoft YaHei"/>
                <a:cs typeface="Arial"/>
              </a:rPr>
              <a:t>INCR / DECRBY &amp; MSET / MGET</a:t>
            </a:r>
          </a:p>
        </p:txBody>
      </p:sp>
      <p:sp>
        <p:nvSpPr>
          <p:cNvPr id="18" name="Freeform 18"/>
          <p:cNvSpPr/>
          <p:nvPr/>
        </p:nvSpPr>
        <p:spPr>
          <a:xfrm>
            <a:off x="6286500" y="1143000"/>
            <a:ext cx="5334000" cy="2381250"/>
          </a:xfrm>
          <a:custGeom>
            <a:avLst/>
            <a:gdLst/>
            <a:ahLst/>
            <a:cxnLst/>
            <a:rect l="l" t="t" r="r" b="b"/>
            <a:pathLst>
              <a:path w="5334000" h="2381250">
                <a:moveTo>
                  <a:pt x="95250" y="0"/>
                </a:moveTo>
                <a:lnTo>
                  <a:pt x="5238750" y="0"/>
                </a:lnTo>
                <a:cubicBezTo>
                  <a:pt x="5291355" y="0"/>
                  <a:pt x="5334000" y="42645"/>
                  <a:pt x="5334000" y="95250"/>
                </a:cubicBezTo>
                <a:lnTo>
                  <a:pt x="5334000" y="2286000"/>
                </a:lnTo>
                <a:cubicBezTo>
                  <a:pt x="5334000" y="2338605"/>
                  <a:pt x="5291355" y="2381250"/>
                  <a:pt x="5238750" y="2381250"/>
                </a:cubicBezTo>
                <a:lnTo>
                  <a:pt x="95250" y="2381250"/>
                </a:lnTo>
                <a:cubicBezTo>
                  <a:pt x="42645" y="2381250"/>
                  <a:pt x="0" y="2338605"/>
                  <a:pt x="0" y="2286000"/>
                </a:cubicBezTo>
                <a:lnTo>
                  <a:pt x="0" y="95250"/>
                </a:lnTo>
                <a:cubicBezTo>
                  <a:pt x="0" y="42645"/>
                  <a:pt x="42645" y="0"/>
                  <a:pt x="95250" y="0"/>
                </a:cubicBezTo>
                <a:close/>
              </a:path>
            </a:pathLst>
          </a:custGeom>
          <a:solidFill>
            <a:srgbClr val="1E293B"/>
          </a:solidFill>
          <a:ln>
            <a:noFill/>
          </a:ln>
        </p:spPr>
      </p:sp>
      <p:sp>
        <p:nvSpPr>
          <p:cNvPr id="19" name="TextBox 19"/>
          <p:cNvSpPr txBox="1"/>
          <p:nvPr/>
        </p:nvSpPr>
        <p:spPr>
          <a:xfrm>
            <a:off x="6463665" y="1296352"/>
            <a:ext cx="1468184"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Đếm lượt truy cập</a:t>
            </a:r>
          </a:p>
        </p:txBody>
      </p:sp>
      <p:sp>
        <p:nvSpPr>
          <p:cNvPr id="20" name="TextBox 20"/>
          <p:cNvSpPr txBox="1"/>
          <p:nvPr/>
        </p:nvSpPr>
        <p:spPr>
          <a:xfrm>
            <a:off x="6463665" y="1505902"/>
            <a:ext cx="1291828"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SET page:views 0</a:t>
            </a:r>
          </a:p>
        </p:txBody>
      </p:sp>
      <p:sp>
        <p:nvSpPr>
          <p:cNvPr id="21" name="TextBox 21"/>
          <p:cNvSpPr txBox="1"/>
          <p:nvPr/>
        </p:nvSpPr>
        <p:spPr>
          <a:xfrm>
            <a:off x="6463665" y="1715452"/>
            <a:ext cx="1207484"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INCR page:views</a:t>
            </a:r>
          </a:p>
        </p:txBody>
      </p:sp>
      <p:sp>
        <p:nvSpPr>
          <p:cNvPr id="22" name="TextBox 22"/>
          <p:cNvSpPr txBox="1"/>
          <p:nvPr/>
        </p:nvSpPr>
        <p:spPr>
          <a:xfrm>
            <a:off x="6463665" y="1925002"/>
            <a:ext cx="839438"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Consolas"/>
                <a:ea typeface="Microsoft YaHei"/>
                <a:cs typeface="Consolas"/>
              </a:rPr>
              <a:t>(integer) 1</a:t>
            </a:r>
          </a:p>
        </p:txBody>
      </p:sp>
      <p:sp>
        <p:nvSpPr>
          <p:cNvPr id="23" name="TextBox 23"/>
          <p:cNvSpPr txBox="1"/>
          <p:nvPr/>
        </p:nvSpPr>
        <p:spPr>
          <a:xfrm>
            <a:off x="6463665" y="2172652"/>
            <a:ext cx="155252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INCRBY page:views 10</a:t>
            </a:r>
          </a:p>
        </p:txBody>
      </p:sp>
      <p:sp>
        <p:nvSpPr>
          <p:cNvPr id="24" name="TextBox 24"/>
          <p:cNvSpPr txBox="1"/>
          <p:nvPr/>
        </p:nvSpPr>
        <p:spPr>
          <a:xfrm>
            <a:off x="6463665" y="2382202"/>
            <a:ext cx="885444"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Consolas"/>
                <a:ea typeface="Microsoft YaHei"/>
                <a:cs typeface="Consolas"/>
              </a:rPr>
              <a:t>(integer) 11</a:t>
            </a:r>
          </a:p>
        </p:txBody>
      </p:sp>
      <p:sp>
        <p:nvSpPr>
          <p:cNvPr id="25" name="TextBox 25"/>
          <p:cNvSpPr txBox="1"/>
          <p:nvPr/>
        </p:nvSpPr>
        <p:spPr>
          <a:xfrm>
            <a:off x="6463665" y="2706052"/>
            <a:ext cx="1483519"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Nhiều key cùng lúc</a:t>
            </a:r>
          </a:p>
        </p:txBody>
      </p:sp>
      <p:sp>
        <p:nvSpPr>
          <p:cNvPr id="26" name="TextBox 26"/>
          <p:cNvSpPr txBox="1"/>
          <p:nvPr/>
        </p:nvSpPr>
        <p:spPr>
          <a:xfrm>
            <a:off x="6463665" y="2915602"/>
            <a:ext cx="2127599"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MSET u:name "A" u:age "25"</a:t>
            </a:r>
          </a:p>
        </p:txBody>
      </p:sp>
      <p:sp>
        <p:nvSpPr>
          <p:cNvPr id="27" name="TextBox 27"/>
          <p:cNvSpPr txBox="1"/>
          <p:nvPr/>
        </p:nvSpPr>
        <p:spPr>
          <a:xfrm>
            <a:off x="6463665" y="3125152"/>
            <a:ext cx="1445181"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MGET u:name u:age</a:t>
            </a:r>
          </a:p>
        </p:txBody>
      </p:sp>
      <p:sp>
        <p:nvSpPr>
          <p:cNvPr id="28" name="TextBox 28"/>
          <p:cNvSpPr txBox="1"/>
          <p:nvPr/>
        </p:nvSpPr>
        <p:spPr>
          <a:xfrm>
            <a:off x="6463665" y="3334702"/>
            <a:ext cx="1054132"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1) "A" 2) "25"</a:t>
            </a:r>
          </a:p>
        </p:txBody>
      </p:sp>
      <p:sp>
        <p:nvSpPr>
          <p:cNvPr id="29" name="Freeform 29"/>
          <p:cNvSpPr/>
          <p:nvPr/>
        </p:nvSpPr>
        <p:spPr>
          <a:xfrm>
            <a:off x="571500" y="3810000"/>
            <a:ext cx="11049000" cy="762000"/>
          </a:xfrm>
          <a:custGeom>
            <a:avLst/>
            <a:gdLst/>
            <a:ahLst/>
            <a:cxnLst/>
            <a:rect l="l" t="t" r="r" b="b"/>
            <a:pathLst>
              <a:path w="11049000" h="762000">
                <a:moveTo>
                  <a:pt x="95250" y="0"/>
                </a:moveTo>
                <a:lnTo>
                  <a:pt x="10953750" y="0"/>
                </a:lnTo>
                <a:cubicBezTo>
                  <a:pt x="11006355" y="0"/>
                  <a:pt x="11049000" y="42645"/>
                  <a:pt x="11049000" y="95250"/>
                </a:cubicBezTo>
                <a:lnTo>
                  <a:pt x="11049000" y="666750"/>
                </a:lnTo>
                <a:cubicBezTo>
                  <a:pt x="11049000" y="719355"/>
                  <a:pt x="11006355" y="762000"/>
                  <a:pt x="10953750" y="762000"/>
                </a:cubicBezTo>
                <a:lnTo>
                  <a:pt x="95250" y="762000"/>
                </a:lnTo>
                <a:cubicBezTo>
                  <a:pt x="42645" y="762000"/>
                  <a:pt x="0" y="719355"/>
                  <a:pt x="0" y="666750"/>
                </a:cubicBezTo>
                <a:lnTo>
                  <a:pt x="0" y="95250"/>
                </a:lnTo>
                <a:cubicBezTo>
                  <a:pt x="0" y="42645"/>
                  <a:pt x="42645" y="0"/>
                  <a:pt x="95250" y="0"/>
                </a:cubicBezTo>
                <a:close/>
              </a:path>
            </a:pathLst>
          </a:custGeom>
          <a:solidFill>
            <a:srgbClr val="D12B1F">
              <a:alpha val="5000"/>
            </a:srgbClr>
          </a:solidFill>
          <a:ln w="9525">
            <a:solidFill>
              <a:srgbClr val="D12B1F">
                <a:alpha val="30000"/>
              </a:srgbClr>
            </a:solidFill>
          </a:ln>
        </p:spPr>
      </p:sp>
      <p:sp>
        <p:nvSpPr>
          <p:cNvPr id="30" name="TextBox 30"/>
          <p:cNvSpPr txBox="1"/>
          <p:nvPr/>
        </p:nvSpPr>
        <p:spPr>
          <a:xfrm>
            <a:off x="842010" y="4013835"/>
            <a:ext cx="1557871" cy="243840"/>
          </a:xfrm>
          <a:prstGeom prst="rect">
            <a:avLst/>
          </a:prstGeom>
          <a:noFill/>
          <a:ln>
            <a:noFill/>
          </a:ln>
        </p:spPr>
        <p:txBody>
          <a:bodyPr wrap="none" lIns="0" tIns="0" rIns="0" bIns="0" anchor="t" anchorCtr="0">
            <a:spAutoFit/>
          </a:bodyPr>
          <a:lstStyle/>
          <a:p>
            <a:pPr algn="l"/>
            <a:r>
              <a:rPr lang="zh-CN" sz="1200" b="1" dirty="0">
                <a:solidFill>
                  <a:srgbClr val="D12B1F"/>
                </a:solidFill>
                <a:latin typeface="Arial"/>
                <a:ea typeface="Microsoft YaHei"/>
                <a:cs typeface="Arial"/>
              </a:rPr>
              <a:t>Lệnh quan trọng:</a:t>
            </a:r>
          </a:p>
        </p:txBody>
      </p:sp>
      <p:sp>
        <p:nvSpPr>
          <p:cNvPr id="31" name="TextBox 31"/>
          <p:cNvSpPr txBox="1"/>
          <p:nvPr/>
        </p:nvSpPr>
        <p:spPr>
          <a:xfrm>
            <a:off x="842962" y="4279106"/>
            <a:ext cx="7151251"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Consolas"/>
                <a:ea typeface="Microsoft YaHei"/>
                <a:cs typeface="Consolas"/>
              </a:rPr>
              <a:t>SET key value [EX seconds] | GET key | INCR key | INCRBY key n | MSET k1 v1 k2 v2 | MGET k1 k2</a:t>
            </a:r>
          </a:p>
        </p:txBody>
      </p:sp>
      <p:sp>
        <p:nvSpPr>
          <p:cNvPr id="32" name="TextBox 32"/>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18 / 25</a:t>
            </a:r>
          </a:p>
        </p:txBody>
      </p:sp>
    </p:spTree>
  </p:cSld>
  <p:clrMapOvr>
    <a:masterClrMapping/>
  </p:clrMapOvr>
  <p:transition 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12B1F"/>
          </a:solidFill>
          <a:ln>
            <a:noFill/>
          </a:ln>
        </p:spPr>
      </p:sp>
      <p:sp>
        <p:nvSpPr>
          <p:cNvPr id="4" name="TextBox 4"/>
          <p:cNvSpPr txBox="1"/>
          <p:nvPr/>
        </p:nvSpPr>
        <p:spPr>
          <a:xfrm>
            <a:off x="541020" y="264795"/>
            <a:ext cx="6152121"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Hash — HSET, HGET, HGETALL</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sp>
      <p:sp>
        <p:nvSpPr>
          <p:cNvPr id="6" name="Freeform 6"/>
          <p:cNvSpPr/>
          <p:nvPr/>
        </p:nvSpPr>
        <p:spPr>
          <a:xfrm>
            <a:off x="571500" y="904875"/>
            <a:ext cx="11049000" cy="3048000"/>
          </a:xfrm>
          <a:custGeom>
            <a:avLst/>
            <a:gdLst/>
            <a:ahLst/>
            <a:cxnLst/>
            <a:rect l="l" t="t" r="r" b="b"/>
            <a:pathLst>
              <a:path w="11049000" h="3048000">
                <a:moveTo>
                  <a:pt x="95250" y="0"/>
                </a:moveTo>
                <a:lnTo>
                  <a:pt x="10953750" y="0"/>
                </a:lnTo>
                <a:cubicBezTo>
                  <a:pt x="11006355" y="0"/>
                  <a:pt x="11049000" y="42645"/>
                  <a:pt x="11049000" y="95250"/>
                </a:cubicBezTo>
                <a:lnTo>
                  <a:pt x="11049000" y="2952750"/>
                </a:lnTo>
                <a:cubicBezTo>
                  <a:pt x="11049000" y="3005355"/>
                  <a:pt x="11006355" y="3048000"/>
                  <a:pt x="10953750" y="3048000"/>
                </a:cubicBezTo>
                <a:lnTo>
                  <a:pt x="95250" y="3048000"/>
                </a:lnTo>
                <a:cubicBezTo>
                  <a:pt x="42645" y="3048000"/>
                  <a:pt x="0" y="3005355"/>
                  <a:pt x="0" y="2952750"/>
                </a:cubicBezTo>
                <a:lnTo>
                  <a:pt x="0" y="95250"/>
                </a:lnTo>
                <a:cubicBezTo>
                  <a:pt x="0" y="42645"/>
                  <a:pt x="42645" y="0"/>
                  <a:pt x="95250" y="0"/>
                </a:cubicBezTo>
                <a:close/>
              </a:path>
            </a:pathLst>
          </a:custGeom>
          <a:solidFill>
            <a:srgbClr val="1E293B"/>
          </a:solidFill>
          <a:ln>
            <a:noFill/>
          </a:ln>
        </p:spPr>
      </p:sp>
      <p:sp>
        <p:nvSpPr>
          <p:cNvPr id="7" name="TextBox 7"/>
          <p:cNvSpPr txBox="1"/>
          <p:nvPr/>
        </p:nvSpPr>
        <p:spPr>
          <a:xfrm>
            <a:off x="748665" y="1077278"/>
            <a:ext cx="4067508"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Tạo thông tin sinh viên (tương tự 1 row trong RDBMS)</a:t>
            </a:r>
          </a:p>
        </p:txBody>
      </p:sp>
      <p:sp>
        <p:nvSpPr>
          <p:cNvPr id="8" name="TextBox 8"/>
          <p:cNvSpPr txBox="1"/>
          <p:nvPr/>
        </p:nvSpPr>
        <p:spPr>
          <a:xfrm>
            <a:off x="748665" y="1315402"/>
            <a:ext cx="478059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HSET student:101 name "Tran Van B" age 22 major "CNTT" gpa 3.5</a:t>
            </a:r>
          </a:p>
        </p:txBody>
      </p:sp>
      <p:sp>
        <p:nvSpPr>
          <p:cNvPr id="9" name="TextBox 9"/>
          <p:cNvSpPr txBox="1"/>
          <p:nvPr/>
        </p:nvSpPr>
        <p:spPr>
          <a:xfrm>
            <a:off x="748665" y="1601152"/>
            <a:ext cx="1675209"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HGET student:101 name</a:t>
            </a:r>
          </a:p>
        </p:txBody>
      </p:sp>
      <p:sp>
        <p:nvSpPr>
          <p:cNvPr id="10" name="TextBox 10"/>
          <p:cNvSpPr txBox="1"/>
          <p:nvPr/>
        </p:nvSpPr>
        <p:spPr>
          <a:xfrm>
            <a:off x="748665" y="1810702"/>
            <a:ext cx="962120"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"Tran Van B"</a:t>
            </a:r>
          </a:p>
        </p:txBody>
      </p:sp>
      <p:sp>
        <p:nvSpPr>
          <p:cNvPr id="11" name="TextBox 11"/>
          <p:cNvSpPr txBox="1"/>
          <p:nvPr/>
        </p:nvSpPr>
        <p:spPr>
          <a:xfrm>
            <a:off x="748665" y="2096452"/>
            <a:ext cx="1514189"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HGETALL student:101</a:t>
            </a:r>
          </a:p>
        </p:txBody>
      </p:sp>
      <p:sp>
        <p:nvSpPr>
          <p:cNvPr id="12" name="TextBox 12"/>
          <p:cNvSpPr txBox="1"/>
          <p:nvPr/>
        </p:nvSpPr>
        <p:spPr>
          <a:xfrm>
            <a:off x="748665" y="2306002"/>
            <a:ext cx="1935909"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1) "name" 2) "Tran Van B"</a:t>
            </a:r>
          </a:p>
        </p:txBody>
      </p:sp>
      <p:sp>
        <p:nvSpPr>
          <p:cNvPr id="13" name="TextBox 13"/>
          <p:cNvSpPr txBox="1"/>
          <p:nvPr/>
        </p:nvSpPr>
        <p:spPr>
          <a:xfrm>
            <a:off x="748665" y="2515552"/>
            <a:ext cx="1261158"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3) "age" 4) "22"</a:t>
            </a:r>
          </a:p>
        </p:txBody>
      </p:sp>
      <p:sp>
        <p:nvSpPr>
          <p:cNvPr id="14" name="TextBox 14"/>
          <p:cNvSpPr txBox="1"/>
          <p:nvPr/>
        </p:nvSpPr>
        <p:spPr>
          <a:xfrm>
            <a:off x="748665" y="2725102"/>
            <a:ext cx="1590866"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5) "major" 6) "CNTT"</a:t>
            </a:r>
          </a:p>
        </p:txBody>
      </p:sp>
      <p:sp>
        <p:nvSpPr>
          <p:cNvPr id="15" name="TextBox 15"/>
          <p:cNvSpPr txBox="1"/>
          <p:nvPr/>
        </p:nvSpPr>
        <p:spPr>
          <a:xfrm>
            <a:off x="748665" y="2934652"/>
            <a:ext cx="1345502"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7) "gpa" 8) "3.5"</a:t>
            </a:r>
          </a:p>
        </p:txBody>
      </p:sp>
      <p:sp>
        <p:nvSpPr>
          <p:cNvPr id="16" name="TextBox 16"/>
          <p:cNvSpPr txBox="1"/>
          <p:nvPr/>
        </p:nvSpPr>
        <p:spPr>
          <a:xfrm>
            <a:off x="748665" y="3268028"/>
            <a:ext cx="2625995"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HSET student:101 gpa 3.7</a:t>
            </a:r>
            <a:r>
              <a:rPr lang="zh-CN" sz="1050" dirty="0">
                <a:solidFill>
                  <a:srgbClr val="718096"/>
                </a:solidFill>
                <a:latin typeface="Consolas"/>
                <a:ea typeface="Microsoft YaHei"/>
                <a:cs typeface="Consolas"/>
              </a:rPr>
              <a:t># Cập nhật</a:t>
            </a:r>
          </a:p>
        </p:txBody>
      </p:sp>
      <p:sp>
        <p:nvSpPr>
          <p:cNvPr id="17" name="TextBox 17"/>
          <p:cNvSpPr txBox="1"/>
          <p:nvPr/>
        </p:nvSpPr>
        <p:spPr>
          <a:xfrm>
            <a:off x="748665" y="3477578"/>
            <a:ext cx="274867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HDEL student:101 major</a:t>
            </a:r>
            <a:r>
              <a:rPr lang="zh-CN" sz="1050" dirty="0">
                <a:solidFill>
                  <a:srgbClr val="718096"/>
                </a:solidFill>
                <a:latin typeface="Consolas"/>
                <a:ea typeface="Microsoft YaHei"/>
                <a:cs typeface="Consolas"/>
              </a:rPr>
              <a:t># Xóa 1 trường</a:t>
            </a:r>
          </a:p>
        </p:txBody>
      </p:sp>
      <p:sp>
        <p:nvSpPr>
          <p:cNvPr id="18" name="TextBox 18"/>
          <p:cNvSpPr txBox="1"/>
          <p:nvPr/>
        </p:nvSpPr>
        <p:spPr>
          <a:xfrm>
            <a:off x="748665" y="3744278"/>
            <a:ext cx="2319290"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Ví dụ: Tăng tồn kho sản phẩm</a:t>
            </a:r>
          </a:p>
        </p:txBody>
      </p:sp>
      <p:sp>
        <p:nvSpPr>
          <p:cNvPr id="19" name="TextBox 19"/>
          <p:cNvSpPr txBox="1"/>
          <p:nvPr/>
        </p:nvSpPr>
        <p:spPr>
          <a:xfrm>
            <a:off x="761048" y="3820954"/>
            <a:ext cx="7930" cy="15240"/>
          </a:xfrm>
          <a:prstGeom prst="rect">
            <a:avLst/>
          </a:prstGeom>
          <a:noFill/>
          <a:ln>
            <a:noFill/>
          </a:ln>
        </p:spPr>
        <p:txBody>
          <a:bodyPr wrap="none" lIns="0" tIns="0" rIns="0" bIns="0" anchor="t" anchorCtr="0">
            <a:spAutoFit/>
          </a:bodyPr>
          <a:lstStyle/>
          <a:p>
            <a:pPr algn="l"/>
            <a:r>
              <a:rPr lang="zh-CN" sz="75" dirty="0">
                <a:solidFill>
                  <a:srgbClr val="1E293B"/>
                </a:solidFill>
                <a:latin typeface="Consolas"/>
                <a:ea typeface="Microsoft YaHei"/>
                <a:cs typeface="Consolas"/>
              </a:rPr>
              <a:t>.</a:t>
            </a:r>
          </a:p>
        </p:txBody>
      </p:sp>
      <p:sp>
        <p:nvSpPr>
          <p:cNvPr id="20" name="Freeform 20"/>
          <p:cNvSpPr/>
          <p:nvPr/>
        </p:nvSpPr>
        <p:spPr>
          <a:xfrm>
            <a:off x="571500" y="4095750"/>
            <a:ext cx="11049000" cy="952500"/>
          </a:xfrm>
          <a:custGeom>
            <a:avLst/>
            <a:gdLst/>
            <a:ahLst/>
            <a:cxnLst/>
            <a:rect l="l" t="t" r="r" b="b"/>
            <a:pathLst>
              <a:path w="11049000" h="952500">
                <a:moveTo>
                  <a:pt x="95250" y="0"/>
                </a:moveTo>
                <a:lnTo>
                  <a:pt x="10953750" y="0"/>
                </a:lnTo>
                <a:cubicBezTo>
                  <a:pt x="11006355" y="0"/>
                  <a:pt x="11049000" y="42645"/>
                  <a:pt x="11049000" y="95250"/>
                </a:cubicBezTo>
                <a:lnTo>
                  <a:pt x="11049000" y="857250"/>
                </a:lnTo>
                <a:cubicBezTo>
                  <a:pt x="11049000" y="909855"/>
                  <a:pt x="11006355" y="952500"/>
                  <a:pt x="10953750" y="952500"/>
                </a:cubicBezTo>
                <a:lnTo>
                  <a:pt x="95250" y="952500"/>
                </a:lnTo>
                <a:cubicBezTo>
                  <a:pt x="42645" y="952500"/>
                  <a:pt x="0" y="909855"/>
                  <a:pt x="0" y="857250"/>
                </a:cubicBezTo>
                <a:lnTo>
                  <a:pt x="0" y="95250"/>
                </a:lnTo>
                <a:cubicBezTo>
                  <a:pt x="0" y="42645"/>
                  <a:pt x="42645" y="0"/>
                  <a:pt x="95250" y="0"/>
                </a:cubicBezTo>
                <a:close/>
              </a:path>
            </a:pathLst>
          </a:custGeom>
          <a:solidFill>
            <a:srgbClr val="1E293B"/>
          </a:solidFill>
          <a:ln>
            <a:noFill/>
          </a:ln>
        </p:spPr>
      </p:sp>
      <p:sp>
        <p:nvSpPr>
          <p:cNvPr id="21" name="TextBox 21"/>
          <p:cNvSpPr txBox="1"/>
          <p:nvPr/>
        </p:nvSpPr>
        <p:spPr>
          <a:xfrm>
            <a:off x="748665" y="4249102"/>
            <a:ext cx="2495645"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Ví dụ thực tế: quản lý sản phẩm</a:t>
            </a:r>
          </a:p>
        </p:txBody>
      </p:sp>
      <p:sp>
        <p:nvSpPr>
          <p:cNvPr id="22" name="TextBox 22"/>
          <p:cNvSpPr txBox="1"/>
          <p:nvPr/>
        </p:nvSpPr>
        <p:spPr>
          <a:xfrm>
            <a:off x="748665" y="4458652"/>
            <a:ext cx="461957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HSET product:1001 name "Laptop Dell" price 35000000 stock 50</a:t>
            </a:r>
          </a:p>
        </p:txBody>
      </p:sp>
      <p:sp>
        <p:nvSpPr>
          <p:cNvPr id="23" name="TextBox 23"/>
          <p:cNvSpPr txBox="1"/>
          <p:nvPr/>
        </p:nvSpPr>
        <p:spPr>
          <a:xfrm>
            <a:off x="748665" y="4668202"/>
            <a:ext cx="3178064"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HINCRBY product:1001 stock 20</a:t>
            </a:r>
            <a:r>
              <a:rPr lang="zh-CN" sz="1050" dirty="0">
                <a:solidFill>
                  <a:srgbClr val="2E7D32"/>
                </a:solidFill>
                <a:latin typeface="Consolas"/>
                <a:ea typeface="Microsoft YaHei"/>
                <a:cs typeface="Consolas"/>
              </a:rPr>
              <a:t>(integer) 70</a:t>
            </a:r>
          </a:p>
        </p:txBody>
      </p:sp>
      <p:sp>
        <p:nvSpPr>
          <p:cNvPr id="24" name="Freeform 24"/>
          <p:cNvSpPr/>
          <p:nvPr/>
        </p:nvSpPr>
        <p:spPr>
          <a:xfrm>
            <a:off x="571500" y="5286375"/>
            <a:ext cx="11049000" cy="571500"/>
          </a:xfrm>
          <a:custGeom>
            <a:avLst/>
            <a:gdLst/>
            <a:ahLst/>
            <a:cxnLst/>
            <a:rect l="l" t="t" r="r" b="b"/>
            <a:pathLst>
              <a:path w="11049000" h="571500">
                <a:moveTo>
                  <a:pt x="95250" y="0"/>
                </a:moveTo>
                <a:lnTo>
                  <a:pt x="10953750" y="0"/>
                </a:lnTo>
                <a:cubicBezTo>
                  <a:pt x="11006355" y="0"/>
                  <a:pt x="11049000" y="42645"/>
                  <a:pt x="11049000" y="95250"/>
                </a:cubicBezTo>
                <a:lnTo>
                  <a:pt x="11049000" y="476250"/>
                </a:lnTo>
                <a:cubicBezTo>
                  <a:pt x="11049000" y="528855"/>
                  <a:pt x="11006355" y="571500"/>
                  <a:pt x="10953750" y="571500"/>
                </a:cubicBezTo>
                <a:lnTo>
                  <a:pt x="95250" y="571500"/>
                </a:lnTo>
                <a:cubicBezTo>
                  <a:pt x="42645" y="571500"/>
                  <a:pt x="0" y="528855"/>
                  <a:pt x="0" y="476250"/>
                </a:cubicBezTo>
                <a:lnTo>
                  <a:pt x="0" y="95250"/>
                </a:lnTo>
                <a:cubicBezTo>
                  <a:pt x="0" y="42645"/>
                  <a:pt x="42645" y="0"/>
                  <a:pt x="95250" y="0"/>
                </a:cubicBezTo>
                <a:close/>
              </a:path>
            </a:pathLst>
          </a:custGeom>
          <a:solidFill>
            <a:srgbClr val="0B4DA2">
              <a:alpha val="5000"/>
            </a:srgbClr>
          </a:solidFill>
          <a:ln w="9525">
            <a:solidFill>
              <a:srgbClr val="0B4DA2">
                <a:alpha val="30000"/>
              </a:srgbClr>
            </a:solidFill>
          </a:ln>
        </p:spPr>
      </p:sp>
      <p:sp>
        <p:nvSpPr>
          <p:cNvPr id="25" name="TextBox 25"/>
          <p:cNvSpPr txBox="1"/>
          <p:nvPr/>
        </p:nvSpPr>
        <p:spPr>
          <a:xfrm>
            <a:off x="842010" y="5490210"/>
            <a:ext cx="536543" cy="243840"/>
          </a:xfrm>
          <a:prstGeom prst="rect">
            <a:avLst/>
          </a:prstGeom>
          <a:noFill/>
          <a:ln>
            <a:noFill/>
          </a:ln>
        </p:spPr>
        <p:txBody>
          <a:bodyPr wrap="none" lIns="0" tIns="0" rIns="0" bIns="0" anchor="t" anchorCtr="0">
            <a:spAutoFit/>
          </a:bodyPr>
          <a:lstStyle/>
          <a:p>
            <a:pPr algn="l"/>
            <a:r>
              <a:rPr lang="zh-CN" sz="1200" b="1" dirty="0">
                <a:solidFill>
                  <a:srgbClr val="0B4DA2"/>
                </a:solidFill>
                <a:latin typeface="Arial"/>
                <a:ea typeface="Microsoft YaHei"/>
                <a:cs typeface="Arial"/>
              </a:rPr>
              <a:t>Lệnh:</a:t>
            </a:r>
          </a:p>
        </p:txBody>
      </p:sp>
      <p:sp>
        <p:nvSpPr>
          <p:cNvPr id="26" name="TextBox 26"/>
          <p:cNvSpPr txBox="1"/>
          <p:nvPr/>
        </p:nvSpPr>
        <p:spPr>
          <a:xfrm>
            <a:off x="1462088" y="5498306"/>
            <a:ext cx="6625471"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Consolas"/>
                <a:ea typeface="Microsoft YaHei"/>
                <a:cs typeface="Consolas"/>
              </a:rPr>
              <a:t>HSET key field val | HGET key field | HGETALL key | HDEL key field | HINCRBY key field n</a:t>
            </a:r>
          </a:p>
        </p:txBody>
      </p:sp>
      <p:sp>
        <p:nvSpPr>
          <p:cNvPr id="27" name="TextBox 27"/>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19 / 25</a:t>
            </a:r>
          </a:p>
        </p:txBody>
      </p:sp>
    </p:spTree>
  </p:cSld>
  <p:clrMapOvr>
    <a:masterClrMapping/>
  </p:clrMapOvr>
  <p:transition 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12B1F"/>
          </a:solidFill>
          <a:ln>
            <a:noFill/>
          </a:ln>
        </p:spPr>
      </p:sp>
      <p:sp>
        <p:nvSpPr>
          <p:cNvPr id="4" name="TextBox 4"/>
          <p:cNvSpPr txBox="1"/>
          <p:nvPr/>
        </p:nvSpPr>
        <p:spPr>
          <a:xfrm>
            <a:off x="541020" y="264795"/>
            <a:ext cx="5931294"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List — LPUSH, RPUSH, LPOP</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sp>
      <p:sp>
        <p:nvSpPr>
          <p:cNvPr id="6" name="Freeform 6"/>
          <p:cNvSpPr/>
          <p:nvPr/>
        </p:nvSpPr>
        <p:spPr>
          <a:xfrm>
            <a:off x="571500" y="904875"/>
            <a:ext cx="5334000" cy="2857500"/>
          </a:xfrm>
          <a:custGeom>
            <a:avLst/>
            <a:gdLst/>
            <a:ahLst/>
            <a:cxnLst/>
            <a:rect l="l" t="t" r="r" b="b"/>
            <a:pathLst>
              <a:path w="5334000" h="2857500">
                <a:moveTo>
                  <a:pt x="95250" y="0"/>
                </a:moveTo>
                <a:lnTo>
                  <a:pt x="5238750" y="0"/>
                </a:lnTo>
                <a:cubicBezTo>
                  <a:pt x="5291355" y="0"/>
                  <a:pt x="5334000" y="42645"/>
                  <a:pt x="5334000" y="95250"/>
                </a:cubicBezTo>
                <a:lnTo>
                  <a:pt x="5334000" y="2762250"/>
                </a:lnTo>
                <a:cubicBezTo>
                  <a:pt x="5334000" y="2814855"/>
                  <a:pt x="5291355" y="2857500"/>
                  <a:pt x="5238750" y="2857500"/>
                </a:cubicBezTo>
                <a:lnTo>
                  <a:pt x="95250" y="2857500"/>
                </a:lnTo>
                <a:cubicBezTo>
                  <a:pt x="42645" y="2857500"/>
                  <a:pt x="0" y="2814855"/>
                  <a:pt x="0" y="2762250"/>
                </a:cubicBezTo>
                <a:lnTo>
                  <a:pt x="0" y="95250"/>
                </a:lnTo>
                <a:cubicBezTo>
                  <a:pt x="0" y="42645"/>
                  <a:pt x="42645" y="0"/>
                  <a:pt x="95250" y="0"/>
                </a:cubicBezTo>
                <a:close/>
              </a:path>
            </a:pathLst>
          </a:custGeom>
          <a:solidFill>
            <a:srgbClr val="1E293B"/>
          </a:solidFill>
          <a:ln>
            <a:noFill/>
          </a:ln>
        </p:spPr>
      </p:sp>
      <p:sp>
        <p:nvSpPr>
          <p:cNvPr id="7" name="TextBox 7"/>
          <p:cNvSpPr txBox="1"/>
          <p:nvPr/>
        </p:nvSpPr>
        <p:spPr>
          <a:xfrm>
            <a:off x="748665" y="1029652"/>
            <a:ext cx="2188940"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Thêm phần tử vào danh sách</a:t>
            </a:r>
          </a:p>
        </p:txBody>
      </p:sp>
      <p:sp>
        <p:nvSpPr>
          <p:cNvPr id="8" name="TextBox 8"/>
          <p:cNvSpPr txBox="1"/>
          <p:nvPr/>
        </p:nvSpPr>
        <p:spPr>
          <a:xfrm>
            <a:off x="748665" y="1239202"/>
            <a:ext cx="159853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LPUSH tasks "Task 3"</a:t>
            </a:r>
          </a:p>
        </p:txBody>
      </p:sp>
      <p:sp>
        <p:nvSpPr>
          <p:cNvPr id="9" name="TextBox 9"/>
          <p:cNvSpPr txBox="1"/>
          <p:nvPr/>
        </p:nvSpPr>
        <p:spPr>
          <a:xfrm>
            <a:off x="748665" y="1429702"/>
            <a:ext cx="159853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LPUSH tasks "Task 2"</a:t>
            </a:r>
          </a:p>
        </p:txBody>
      </p:sp>
      <p:sp>
        <p:nvSpPr>
          <p:cNvPr id="10" name="TextBox 10"/>
          <p:cNvSpPr txBox="1"/>
          <p:nvPr/>
        </p:nvSpPr>
        <p:spPr>
          <a:xfrm>
            <a:off x="748665" y="1620202"/>
            <a:ext cx="1560195"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LPUSH tasks "Task 1"</a:t>
            </a:r>
          </a:p>
        </p:txBody>
      </p:sp>
      <p:sp>
        <p:nvSpPr>
          <p:cNvPr id="11" name="TextBox 11"/>
          <p:cNvSpPr txBox="1"/>
          <p:nvPr/>
        </p:nvSpPr>
        <p:spPr>
          <a:xfrm>
            <a:off x="748665" y="1905952"/>
            <a:ext cx="130716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LRANGE tasks 0 -1</a:t>
            </a:r>
          </a:p>
        </p:txBody>
      </p:sp>
      <p:sp>
        <p:nvSpPr>
          <p:cNvPr id="12" name="TextBox 12"/>
          <p:cNvSpPr txBox="1"/>
          <p:nvPr/>
        </p:nvSpPr>
        <p:spPr>
          <a:xfrm>
            <a:off x="748665" y="2115502"/>
            <a:ext cx="801100"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1) "Task 1"</a:t>
            </a:r>
          </a:p>
        </p:txBody>
      </p:sp>
      <p:sp>
        <p:nvSpPr>
          <p:cNvPr id="13" name="TextBox 13"/>
          <p:cNvSpPr txBox="1"/>
          <p:nvPr/>
        </p:nvSpPr>
        <p:spPr>
          <a:xfrm>
            <a:off x="748665" y="2306002"/>
            <a:ext cx="877776"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2) "Task 2"</a:t>
            </a:r>
          </a:p>
        </p:txBody>
      </p:sp>
      <p:sp>
        <p:nvSpPr>
          <p:cNvPr id="14" name="TextBox 14"/>
          <p:cNvSpPr txBox="1"/>
          <p:nvPr/>
        </p:nvSpPr>
        <p:spPr>
          <a:xfrm>
            <a:off x="748665" y="2496502"/>
            <a:ext cx="877776"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3) "Task 3"</a:t>
            </a:r>
          </a:p>
        </p:txBody>
      </p:sp>
      <p:sp>
        <p:nvSpPr>
          <p:cNvPr id="15" name="TextBox 15"/>
          <p:cNvSpPr txBox="1"/>
          <p:nvPr/>
        </p:nvSpPr>
        <p:spPr>
          <a:xfrm>
            <a:off x="748665" y="2782252"/>
            <a:ext cx="159853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RPUSH tasks "Task 4"</a:t>
            </a:r>
          </a:p>
        </p:txBody>
      </p:sp>
      <p:sp>
        <p:nvSpPr>
          <p:cNvPr id="16" name="TextBox 16"/>
          <p:cNvSpPr txBox="1"/>
          <p:nvPr/>
        </p:nvSpPr>
        <p:spPr>
          <a:xfrm>
            <a:off x="748665" y="2991802"/>
            <a:ext cx="1460516"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LPOP tasks</a:t>
            </a:r>
            <a:r>
              <a:rPr lang="zh-CN" sz="1050" dirty="0">
                <a:solidFill>
                  <a:srgbClr val="2E7D32"/>
                </a:solidFill>
                <a:latin typeface="Consolas"/>
                <a:ea typeface="Microsoft YaHei"/>
                <a:cs typeface="Consolas"/>
              </a:rPr>
              <a:t>"Task 1"</a:t>
            </a:r>
          </a:p>
        </p:txBody>
      </p:sp>
      <p:sp>
        <p:nvSpPr>
          <p:cNvPr id="17" name="TextBox 17"/>
          <p:cNvSpPr txBox="1"/>
          <p:nvPr/>
        </p:nvSpPr>
        <p:spPr>
          <a:xfrm>
            <a:off x="748665" y="3201352"/>
            <a:ext cx="1498854"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RPOP tasks</a:t>
            </a:r>
            <a:r>
              <a:rPr lang="zh-CN" sz="1050" dirty="0">
                <a:solidFill>
                  <a:srgbClr val="2E7D32"/>
                </a:solidFill>
                <a:latin typeface="Consolas"/>
                <a:ea typeface="Microsoft YaHei"/>
                <a:cs typeface="Consolas"/>
              </a:rPr>
              <a:t>"Task 4"</a:t>
            </a:r>
          </a:p>
        </p:txBody>
      </p:sp>
      <p:sp>
        <p:nvSpPr>
          <p:cNvPr id="18" name="TextBox 18"/>
          <p:cNvSpPr txBox="1"/>
          <p:nvPr/>
        </p:nvSpPr>
        <p:spPr>
          <a:xfrm>
            <a:off x="748665" y="3410902"/>
            <a:ext cx="168287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LLEN tasks</a:t>
            </a:r>
            <a:r>
              <a:rPr lang="zh-CN" sz="1050" dirty="0">
                <a:solidFill>
                  <a:srgbClr val="FF6B35"/>
                </a:solidFill>
                <a:latin typeface="Consolas"/>
                <a:ea typeface="Microsoft YaHei"/>
                <a:cs typeface="Consolas"/>
              </a:rPr>
              <a:t>(integer) 2</a:t>
            </a:r>
          </a:p>
        </p:txBody>
      </p:sp>
      <p:sp>
        <p:nvSpPr>
          <p:cNvPr id="19" name="TextBox 19"/>
          <p:cNvSpPr txBox="1"/>
          <p:nvPr/>
        </p:nvSpPr>
        <p:spPr>
          <a:xfrm>
            <a:off x="6271260" y="918210"/>
            <a:ext cx="2947245" cy="243840"/>
          </a:xfrm>
          <a:prstGeom prst="rect">
            <a:avLst/>
          </a:prstGeom>
          <a:noFill/>
          <a:ln>
            <a:noFill/>
          </a:ln>
        </p:spPr>
        <p:txBody>
          <a:bodyPr wrap="none" lIns="0" tIns="0" rIns="0" bIns="0" anchor="t" anchorCtr="0">
            <a:spAutoFit/>
          </a:bodyPr>
          <a:lstStyle/>
          <a:p>
            <a:pPr algn="l"/>
            <a:r>
              <a:rPr lang="zh-CN" sz="1200" b="1" dirty="0">
                <a:solidFill>
                  <a:srgbClr val="0B4DA2"/>
                </a:solidFill>
                <a:latin typeface="Arial"/>
                <a:ea typeface="Microsoft YaHei"/>
                <a:cs typeface="Arial"/>
              </a:rPr>
              <a:t>Ứng dụng: Message Queue (FIFO)</a:t>
            </a:r>
          </a:p>
        </p:txBody>
      </p:sp>
      <p:sp>
        <p:nvSpPr>
          <p:cNvPr id="20" name="Freeform 20"/>
          <p:cNvSpPr/>
          <p:nvPr/>
        </p:nvSpPr>
        <p:spPr>
          <a:xfrm>
            <a:off x="6286500" y="1190625"/>
            <a:ext cx="5334000" cy="1714500"/>
          </a:xfrm>
          <a:custGeom>
            <a:avLst/>
            <a:gdLst/>
            <a:ahLst/>
            <a:cxnLst/>
            <a:rect l="l" t="t" r="r" b="b"/>
            <a:pathLst>
              <a:path w="5334000" h="1714500">
                <a:moveTo>
                  <a:pt x="95250" y="0"/>
                </a:moveTo>
                <a:lnTo>
                  <a:pt x="5238750" y="0"/>
                </a:lnTo>
                <a:cubicBezTo>
                  <a:pt x="5291355" y="0"/>
                  <a:pt x="5334000" y="42645"/>
                  <a:pt x="5334000" y="95250"/>
                </a:cubicBezTo>
                <a:lnTo>
                  <a:pt x="5334000" y="1619250"/>
                </a:lnTo>
                <a:cubicBezTo>
                  <a:pt x="5334000" y="1671855"/>
                  <a:pt x="5291355" y="1714500"/>
                  <a:pt x="5238750" y="1714500"/>
                </a:cubicBezTo>
                <a:lnTo>
                  <a:pt x="95250" y="1714500"/>
                </a:lnTo>
                <a:cubicBezTo>
                  <a:pt x="42645" y="1714500"/>
                  <a:pt x="0" y="1671855"/>
                  <a:pt x="0" y="1619250"/>
                </a:cubicBezTo>
                <a:lnTo>
                  <a:pt x="0" y="95250"/>
                </a:lnTo>
                <a:cubicBezTo>
                  <a:pt x="0" y="42645"/>
                  <a:pt x="42645" y="0"/>
                  <a:pt x="95250" y="0"/>
                </a:cubicBezTo>
                <a:close/>
              </a:path>
            </a:pathLst>
          </a:custGeom>
          <a:solidFill>
            <a:srgbClr val="1E293B"/>
          </a:solidFill>
          <a:ln>
            <a:noFill/>
          </a:ln>
        </p:spPr>
      </p:sp>
      <p:sp>
        <p:nvSpPr>
          <p:cNvPr id="21" name="TextBox 21"/>
          <p:cNvSpPr txBox="1"/>
          <p:nvPr/>
        </p:nvSpPr>
        <p:spPr>
          <a:xfrm>
            <a:off x="6463665" y="1343978"/>
            <a:ext cx="179789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Producer đẩy message</a:t>
            </a:r>
          </a:p>
        </p:txBody>
      </p:sp>
      <p:sp>
        <p:nvSpPr>
          <p:cNvPr id="22" name="TextBox 22"/>
          <p:cNvSpPr txBox="1"/>
          <p:nvPr/>
        </p:nvSpPr>
        <p:spPr>
          <a:xfrm>
            <a:off x="6464618" y="1561624"/>
            <a:ext cx="132059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RPUSH order:queue</a:t>
            </a:r>
          </a:p>
        </p:txBody>
      </p:sp>
      <p:sp>
        <p:nvSpPr>
          <p:cNvPr id="23" name="TextBox 23"/>
          <p:cNvSpPr txBox="1"/>
          <p:nvPr/>
        </p:nvSpPr>
        <p:spPr>
          <a:xfrm>
            <a:off x="6655118" y="1752124"/>
            <a:ext cx="2694742" cy="198120"/>
          </a:xfrm>
          <a:prstGeom prst="rect">
            <a:avLst/>
          </a:prstGeom>
          <a:noFill/>
          <a:ln>
            <a:noFill/>
          </a:ln>
        </p:spPr>
        <p:txBody>
          <a:bodyPr wrap="none" lIns="0" tIns="0" rIns="0" bIns="0" anchor="t" anchorCtr="0">
            <a:spAutoFit/>
          </a:bodyPr>
          <a:lstStyle/>
          <a:p>
            <a:pPr algn="l"/>
            <a:r>
              <a:rPr lang="zh-CN" sz="975" dirty="0">
                <a:solidFill>
                  <a:srgbClr val="FF6B35"/>
                </a:solidFill>
                <a:latin typeface="Consolas"/>
                <a:ea typeface="Microsoft YaHei"/>
                <a:cs typeface="Consolas"/>
              </a:rPr>
              <a:t>'{"order_id":1,"product":"Laptop"}'</a:t>
            </a:r>
          </a:p>
        </p:txBody>
      </p:sp>
      <p:sp>
        <p:nvSpPr>
          <p:cNvPr id="24" name="TextBox 24"/>
          <p:cNvSpPr txBox="1"/>
          <p:nvPr/>
        </p:nvSpPr>
        <p:spPr>
          <a:xfrm>
            <a:off x="6463665" y="2029778"/>
            <a:ext cx="1790224"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Consumer lấy message</a:t>
            </a:r>
          </a:p>
        </p:txBody>
      </p:sp>
      <p:sp>
        <p:nvSpPr>
          <p:cNvPr id="25" name="TextBox 25"/>
          <p:cNvSpPr txBox="1"/>
          <p:nvPr/>
        </p:nvSpPr>
        <p:spPr>
          <a:xfrm>
            <a:off x="6463665" y="2239328"/>
            <a:ext cx="1368504"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LPOP order:queue</a:t>
            </a:r>
          </a:p>
        </p:txBody>
      </p:sp>
      <p:sp>
        <p:nvSpPr>
          <p:cNvPr id="26" name="TextBox 26"/>
          <p:cNvSpPr txBox="1"/>
          <p:nvPr/>
        </p:nvSpPr>
        <p:spPr>
          <a:xfrm>
            <a:off x="6464618" y="2456974"/>
            <a:ext cx="2694742"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'{"order_id":1,"product":"Laptop"}'</a:t>
            </a:r>
          </a:p>
        </p:txBody>
      </p:sp>
      <p:sp>
        <p:nvSpPr>
          <p:cNvPr id="27" name="Freeform 27"/>
          <p:cNvSpPr/>
          <p:nvPr/>
        </p:nvSpPr>
        <p:spPr>
          <a:xfrm>
            <a:off x="6286500" y="3143250"/>
            <a:ext cx="5334000" cy="1143000"/>
          </a:xfrm>
          <a:custGeom>
            <a:avLst/>
            <a:gdLst/>
            <a:ahLst/>
            <a:cxnLst/>
            <a:rect l="l" t="t" r="r" b="b"/>
            <a:pathLst>
              <a:path w="5334000" h="1143000">
                <a:moveTo>
                  <a:pt x="95250" y="0"/>
                </a:moveTo>
                <a:lnTo>
                  <a:pt x="5238750" y="0"/>
                </a:lnTo>
                <a:cubicBezTo>
                  <a:pt x="5291355" y="0"/>
                  <a:pt x="5334000" y="42645"/>
                  <a:pt x="5334000" y="95250"/>
                </a:cubicBezTo>
                <a:lnTo>
                  <a:pt x="5334000" y="1047750"/>
                </a:lnTo>
                <a:cubicBezTo>
                  <a:pt x="5334000" y="1100355"/>
                  <a:pt x="5291355" y="1143000"/>
                  <a:pt x="5238750" y="1143000"/>
                </a:cubicBezTo>
                <a:lnTo>
                  <a:pt x="95250" y="1143000"/>
                </a:lnTo>
                <a:cubicBezTo>
                  <a:pt x="42645" y="1143000"/>
                  <a:pt x="0" y="1100355"/>
                  <a:pt x="0" y="1047750"/>
                </a:cubicBezTo>
                <a:lnTo>
                  <a:pt x="0" y="95250"/>
                </a:lnTo>
                <a:cubicBezTo>
                  <a:pt x="0" y="42645"/>
                  <a:pt x="42645" y="0"/>
                  <a:pt x="95250" y="0"/>
                </a:cubicBezTo>
                <a:close/>
              </a:path>
            </a:pathLst>
          </a:custGeom>
          <a:solidFill>
            <a:srgbClr val="E5F4F9"/>
          </a:solidFill>
          <a:ln>
            <a:noFill/>
          </a:ln>
        </p:spPr>
      </p:sp>
      <p:sp>
        <p:nvSpPr>
          <p:cNvPr id="28" name="TextBox 28"/>
          <p:cNvSpPr txBox="1"/>
          <p:nvPr/>
        </p:nvSpPr>
        <p:spPr>
          <a:xfrm>
            <a:off x="6652260" y="3442335"/>
            <a:ext cx="661416" cy="243840"/>
          </a:xfrm>
          <a:prstGeom prst="rect">
            <a:avLst/>
          </a:prstGeom>
          <a:noFill/>
          <a:ln>
            <a:noFill/>
          </a:ln>
        </p:spPr>
        <p:txBody>
          <a:bodyPr wrap="none" lIns="0" tIns="0" rIns="0" bIns="0" anchor="t" anchorCtr="0">
            <a:spAutoFit/>
          </a:bodyPr>
          <a:lstStyle/>
          <a:p>
            <a:pPr algn="l"/>
            <a:r>
              <a:rPr lang="zh-CN" sz="1200" dirty="0">
                <a:solidFill>
                  <a:srgbClr val="2D3748"/>
                </a:solidFill>
                <a:latin typeface="Arial"/>
                <a:ea typeface="Microsoft YaHei"/>
                <a:cs typeface="Arial"/>
              </a:rPr>
              <a:t>LPUSH →</a:t>
            </a:r>
          </a:p>
        </p:txBody>
      </p:sp>
      <p:sp>
        <p:nvSpPr>
          <p:cNvPr id="29" name="Freeform 29"/>
          <p:cNvSpPr/>
          <p:nvPr/>
        </p:nvSpPr>
        <p:spPr>
          <a:xfrm>
            <a:off x="7524750" y="3381375"/>
            <a:ext cx="571500" cy="333375"/>
          </a:xfrm>
          <a:custGeom>
            <a:avLst/>
            <a:gdLst/>
            <a:ahLst/>
            <a:cxnLst/>
            <a:rect l="l" t="t" r="r" b="b"/>
            <a:pathLst>
              <a:path w="571500" h="333375">
                <a:moveTo>
                  <a:pt x="57150" y="0"/>
                </a:moveTo>
                <a:lnTo>
                  <a:pt x="514350" y="0"/>
                </a:lnTo>
                <a:cubicBezTo>
                  <a:pt x="545913" y="0"/>
                  <a:pt x="571500" y="25587"/>
                  <a:pt x="571500" y="57150"/>
                </a:cubicBezTo>
                <a:lnTo>
                  <a:pt x="571500" y="276225"/>
                </a:lnTo>
                <a:cubicBezTo>
                  <a:pt x="571500" y="307788"/>
                  <a:pt x="545913" y="333375"/>
                  <a:pt x="514350" y="333375"/>
                </a:cubicBezTo>
                <a:lnTo>
                  <a:pt x="57150" y="333375"/>
                </a:lnTo>
                <a:cubicBezTo>
                  <a:pt x="25587" y="333375"/>
                  <a:pt x="0" y="307788"/>
                  <a:pt x="0" y="276225"/>
                </a:cubicBezTo>
                <a:lnTo>
                  <a:pt x="0" y="57150"/>
                </a:lnTo>
                <a:cubicBezTo>
                  <a:pt x="0" y="25587"/>
                  <a:pt x="25587" y="0"/>
                  <a:pt x="57150" y="0"/>
                </a:cubicBezTo>
                <a:close/>
              </a:path>
            </a:pathLst>
          </a:custGeom>
          <a:solidFill>
            <a:srgbClr val="D12B1F">
              <a:alpha val="15000"/>
            </a:srgbClr>
          </a:solidFill>
          <a:ln>
            <a:noFill/>
          </a:ln>
        </p:spPr>
      </p:sp>
      <p:sp>
        <p:nvSpPr>
          <p:cNvPr id="30" name="TextBox 30"/>
          <p:cNvSpPr txBox="1"/>
          <p:nvPr/>
        </p:nvSpPr>
        <p:spPr>
          <a:xfrm>
            <a:off x="7737598" y="3495199"/>
            <a:ext cx="145804" cy="198120"/>
          </a:xfrm>
          <a:prstGeom prst="rect">
            <a:avLst/>
          </a:prstGeom>
          <a:noFill/>
          <a:ln>
            <a:noFill/>
          </a:ln>
        </p:spPr>
        <p:txBody>
          <a:bodyPr wrap="none" lIns="0" tIns="0" rIns="0" bIns="0" anchor="t" anchorCtr="0">
            <a:spAutoFit/>
          </a:bodyPr>
          <a:lstStyle/>
          <a:p>
            <a:pPr algn="ctr"/>
            <a:r>
              <a:rPr lang="zh-CN" sz="975" dirty="0">
                <a:solidFill>
                  <a:srgbClr val="D12B1F"/>
                </a:solidFill>
                <a:latin typeface="Arial"/>
                <a:ea typeface="Microsoft YaHei"/>
                <a:cs typeface="Arial"/>
              </a:rPr>
              <a:t>T1</a:t>
            </a:r>
          </a:p>
        </p:txBody>
      </p:sp>
      <p:sp>
        <p:nvSpPr>
          <p:cNvPr id="31" name="Freeform 31"/>
          <p:cNvSpPr/>
          <p:nvPr/>
        </p:nvSpPr>
        <p:spPr>
          <a:xfrm>
            <a:off x="8191500" y="3381375"/>
            <a:ext cx="571500" cy="333375"/>
          </a:xfrm>
          <a:custGeom>
            <a:avLst/>
            <a:gdLst/>
            <a:ahLst/>
            <a:cxnLst/>
            <a:rect l="l" t="t" r="r" b="b"/>
            <a:pathLst>
              <a:path w="571500" h="333375">
                <a:moveTo>
                  <a:pt x="57150" y="0"/>
                </a:moveTo>
                <a:lnTo>
                  <a:pt x="514350" y="0"/>
                </a:lnTo>
                <a:cubicBezTo>
                  <a:pt x="545913" y="0"/>
                  <a:pt x="571500" y="25587"/>
                  <a:pt x="571500" y="57150"/>
                </a:cubicBezTo>
                <a:lnTo>
                  <a:pt x="571500" y="276225"/>
                </a:lnTo>
                <a:cubicBezTo>
                  <a:pt x="571500" y="307788"/>
                  <a:pt x="545913" y="333375"/>
                  <a:pt x="514350" y="333375"/>
                </a:cubicBezTo>
                <a:lnTo>
                  <a:pt x="57150" y="333375"/>
                </a:lnTo>
                <a:cubicBezTo>
                  <a:pt x="25587" y="333375"/>
                  <a:pt x="0" y="307788"/>
                  <a:pt x="0" y="276225"/>
                </a:cubicBezTo>
                <a:lnTo>
                  <a:pt x="0" y="57150"/>
                </a:lnTo>
                <a:cubicBezTo>
                  <a:pt x="0" y="25587"/>
                  <a:pt x="25587" y="0"/>
                  <a:pt x="57150" y="0"/>
                </a:cubicBezTo>
                <a:close/>
              </a:path>
            </a:pathLst>
          </a:custGeom>
          <a:solidFill>
            <a:srgbClr val="0B4DA2">
              <a:alpha val="15000"/>
            </a:srgbClr>
          </a:solidFill>
          <a:ln>
            <a:noFill/>
          </a:ln>
        </p:spPr>
      </p:sp>
      <p:sp>
        <p:nvSpPr>
          <p:cNvPr id="32" name="TextBox 32"/>
          <p:cNvSpPr txBox="1"/>
          <p:nvPr/>
        </p:nvSpPr>
        <p:spPr>
          <a:xfrm>
            <a:off x="8386548" y="3495199"/>
            <a:ext cx="181404" cy="198120"/>
          </a:xfrm>
          <a:prstGeom prst="rect">
            <a:avLst/>
          </a:prstGeom>
          <a:noFill/>
          <a:ln>
            <a:noFill/>
          </a:ln>
        </p:spPr>
        <p:txBody>
          <a:bodyPr wrap="none" lIns="0" tIns="0" rIns="0" bIns="0" anchor="t" anchorCtr="0">
            <a:spAutoFit/>
          </a:bodyPr>
          <a:lstStyle/>
          <a:p>
            <a:pPr algn="ctr"/>
            <a:r>
              <a:rPr lang="zh-CN" sz="975" dirty="0">
                <a:solidFill>
                  <a:srgbClr val="0B4DA2"/>
                </a:solidFill>
                <a:latin typeface="Arial"/>
                <a:ea typeface="Microsoft YaHei"/>
                <a:cs typeface="Arial"/>
              </a:rPr>
              <a:t>T2</a:t>
            </a:r>
          </a:p>
        </p:txBody>
      </p:sp>
      <p:sp>
        <p:nvSpPr>
          <p:cNvPr id="33" name="Freeform 33"/>
          <p:cNvSpPr/>
          <p:nvPr/>
        </p:nvSpPr>
        <p:spPr>
          <a:xfrm>
            <a:off x="8858250" y="3381375"/>
            <a:ext cx="571500" cy="333375"/>
          </a:xfrm>
          <a:custGeom>
            <a:avLst/>
            <a:gdLst/>
            <a:ahLst/>
            <a:cxnLst/>
            <a:rect l="l" t="t" r="r" b="b"/>
            <a:pathLst>
              <a:path w="571500" h="333375">
                <a:moveTo>
                  <a:pt x="57150" y="0"/>
                </a:moveTo>
                <a:lnTo>
                  <a:pt x="514350" y="0"/>
                </a:lnTo>
                <a:cubicBezTo>
                  <a:pt x="545913" y="0"/>
                  <a:pt x="571500" y="25587"/>
                  <a:pt x="571500" y="57150"/>
                </a:cubicBezTo>
                <a:lnTo>
                  <a:pt x="571500" y="276225"/>
                </a:lnTo>
                <a:cubicBezTo>
                  <a:pt x="571500" y="307788"/>
                  <a:pt x="545913" y="333375"/>
                  <a:pt x="514350" y="333375"/>
                </a:cubicBezTo>
                <a:lnTo>
                  <a:pt x="57150" y="333375"/>
                </a:lnTo>
                <a:cubicBezTo>
                  <a:pt x="25587" y="333375"/>
                  <a:pt x="0" y="307788"/>
                  <a:pt x="0" y="276225"/>
                </a:cubicBezTo>
                <a:lnTo>
                  <a:pt x="0" y="57150"/>
                </a:lnTo>
                <a:cubicBezTo>
                  <a:pt x="0" y="25587"/>
                  <a:pt x="25587" y="0"/>
                  <a:pt x="57150" y="0"/>
                </a:cubicBezTo>
                <a:close/>
              </a:path>
            </a:pathLst>
          </a:custGeom>
          <a:solidFill>
            <a:srgbClr val="006AF9">
              <a:alpha val="15000"/>
            </a:srgbClr>
          </a:solidFill>
          <a:ln>
            <a:noFill/>
          </a:ln>
        </p:spPr>
      </p:sp>
      <p:sp>
        <p:nvSpPr>
          <p:cNvPr id="34" name="TextBox 34"/>
          <p:cNvSpPr txBox="1"/>
          <p:nvPr/>
        </p:nvSpPr>
        <p:spPr>
          <a:xfrm>
            <a:off x="9053298" y="3495199"/>
            <a:ext cx="181404" cy="198120"/>
          </a:xfrm>
          <a:prstGeom prst="rect">
            <a:avLst/>
          </a:prstGeom>
          <a:noFill/>
          <a:ln>
            <a:noFill/>
          </a:ln>
        </p:spPr>
        <p:txBody>
          <a:bodyPr wrap="none" lIns="0" tIns="0" rIns="0" bIns="0" anchor="t" anchorCtr="0">
            <a:spAutoFit/>
          </a:bodyPr>
          <a:lstStyle/>
          <a:p>
            <a:pPr algn="ctr"/>
            <a:r>
              <a:rPr lang="zh-CN" sz="975" dirty="0">
                <a:solidFill>
                  <a:srgbClr val="006AF9"/>
                </a:solidFill>
                <a:latin typeface="Arial"/>
                <a:ea typeface="Microsoft YaHei"/>
                <a:cs typeface="Arial"/>
              </a:rPr>
              <a:t>T3</a:t>
            </a:r>
          </a:p>
        </p:txBody>
      </p:sp>
      <p:sp>
        <p:nvSpPr>
          <p:cNvPr id="35" name="Freeform 35"/>
          <p:cNvSpPr/>
          <p:nvPr/>
        </p:nvSpPr>
        <p:spPr>
          <a:xfrm>
            <a:off x="9525000" y="3381375"/>
            <a:ext cx="571500" cy="333375"/>
          </a:xfrm>
          <a:custGeom>
            <a:avLst/>
            <a:gdLst/>
            <a:ahLst/>
            <a:cxnLst/>
            <a:rect l="l" t="t" r="r" b="b"/>
            <a:pathLst>
              <a:path w="571500" h="333375">
                <a:moveTo>
                  <a:pt x="57150" y="0"/>
                </a:moveTo>
                <a:lnTo>
                  <a:pt x="514350" y="0"/>
                </a:lnTo>
                <a:cubicBezTo>
                  <a:pt x="545913" y="0"/>
                  <a:pt x="571500" y="25587"/>
                  <a:pt x="571500" y="57150"/>
                </a:cubicBezTo>
                <a:lnTo>
                  <a:pt x="571500" y="276225"/>
                </a:lnTo>
                <a:cubicBezTo>
                  <a:pt x="571500" y="307788"/>
                  <a:pt x="545913" y="333375"/>
                  <a:pt x="514350" y="333375"/>
                </a:cubicBezTo>
                <a:lnTo>
                  <a:pt x="57150" y="333375"/>
                </a:lnTo>
                <a:cubicBezTo>
                  <a:pt x="25587" y="333375"/>
                  <a:pt x="0" y="307788"/>
                  <a:pt x="0" y="276225"/>
                </a:cubicBezTo>
                <a:lnTo>
                  <a:pt x="0" y="57150"/>
                </a:lnTo>
                <a:cubicBezTo>
                  <a:pt x="0" y="25587"/>
                  <a:pt x="25587" y="0"/>
                  <a:pt x="57150" y="0"/>
                </a:cubicBezTo>
                <a:close/>
              </a:path>
            </a:pathLst>
          </a:custGeom>
          <a:solidFill>
            <a:srgbClr val="2E7D32">
              <a:alpha val="15000"/>
            </a:srgbClr>
          </a:solidFill>
          <a:ln>
            <a:noFill/>
          </a:ln>
        </p:spPr>
      </p:sp>
      <p:sp>
        <p:nvSpPr>
          <p:cNvPr id="36" name="TextBox 36"/>
          <p:cNvSpPr txBox="1"/>
          <p:nvPr/>
        </p:nvSpPr>
        <p:spPr>
          <a:xfrm>
            <a:off x="9720048" y="3495199"/>
            <a:ext cx="181404"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Arial"/>
                <a:ea typeface="Microsoft YaHei"/>
                <a:cs typeface="Arial"/>
              </a:rPr>
              <a:t>T4</a:t>
            </a:r>
          </a:p>
        </p:txBody>
      </p:sp>
      <p:sp>
        <p:nvSpPr>
          <p:cNvPr id="37" name="TextBox 37"/>
          <p:cNvSpPr txBox="1"/>
          <p:nvPr/>
        </p:nvSpPr>
        <p:spPr>
          <a:xfrm>
            <a:off x="10271760" y="3470910"/>
            <a:ext cx="661416" cy="243840"/>
          </a:xfrm>
          <a:prstGeom prst="rect">
            <a:avLst/>
          </a:prstGeom>
          <a:noFill/>
          <a:ln>
            <a:noFill/>
          </a:ln>
        </p:spPr>
        <p:txBody>
          <a:bodyPr wrap="none" lIns="0" tIns="0" rIns="0" bIns="0" anchor="t" anchorCtr="0">
            <a:spAutoFit/>
          </a:bodyPr>
          <a:lstStyle/>
          <a:p>
            <a:pPr algn="l"/>
            <a:r>
              <a:rPr lang="zh-CN" sz="1200" dirty="0">
                <a:solidFill>
                  <a:srgbClr val="2D3748"/>
                </a:solidFill>
                <a:latin typeface="Arial"/>
                <a:ea typeface="Microsoft YaHei"/>
                <a:cs typeface="Arial"/>
              </a:rPr>
              <a:t>→ RPUSH</a:t>
            </a:r>
          </a:p>
        </p:txBody>
      </p:sp>
      <p:sp>
        <p:nvSpPr>
          <p:cNvPr id="38" name="TextBox 38"/>
          <p:cNvSpPr txBox="1"/>
          <p:nvPr/>
        </p:nvSpPr>
        <p:spPr>
          <a:xfrm>
            <a:off x="6654165" y="3982402"/>
            <a:ext cx="3845147"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LPOP ← lấy từ đầu (FIFO) | RPOP → lấy từ cuối (LIFO)</a:t>
            </a:r>
          </a:p>
        </p:txBody>
      </p:sp>
      <p:sp>
        <p:nvSpPr>
          <p:cNvPr id="39" name="Freeform 39"/>
          <p:cNvSpPr/>
          <p:nvPr/>
        </p:nvSpPr>
        <p:spPr>
          <a:xfrm>
            <a:off x="571500" y="4572000"/>
            <a:ext cx="11049000" cy="476250"/>
          </a:xfrm>
          <a:custGeom>
            <a:avLst/>
            <a:gdLst/>
            <a:ahLst/>
            <a:cxnLst/>
            <a:rect l="l" t="t" r="r" b="b"/>
            <a:pathLst>
              <a:path w="11049000" h="476250">
                <a:moveTo>
                  <a:pt x="95250" y="0"/>
                </a:moveTo>
                <a:lnTo>
                  <a:pt x="10953750" y="0"/>
                </a:lnTo>
                <a:cubicBezTo>
                  <a:pt x="11006355" y="0"/>
                  <a:pt x="11049000" y="42645"/>
                  <a:pt x="11049000" y="95250"/>
                </a:cubicBezTo>
                <a:lnTo>
                  <a:pt x="11049000" y="381000"/>
                </a:lnTo>
                <a:cubicBezTo>
                  <a:pt x="11049000" y="433605"/>
                  <a:pt x="11006355" y="476250"/>
                  <a:pt x="10953750" y="476250"/>
                </a:cubicBezTo>
                <a:lnTo>
                  <a:pt x="95250" y="476250"/>
                </a:lnTo>
                <a:cubicBezTo>
                  <a:pt x="42645" y="476250"/>
                  <a:pt x="0" y="433605"/>
                  <a:pt x="0" y="381000"/>
                </a:cubicBezTo>
                <a:lnTo>
                  <a:pt x="0" y="95250"/>
                </a:lnTo>
                <a:cubicBezTo>
                  <a:pt x="0" y="42645"/>
                  <a:pt x="42645" y="0"/>
                  <a:pt x="95250" y="0"/>
                </a:cubicBezTo>
                <a:close/>
              </a:path>
            </a:pathLst>
          </a:custGeom>
          <a:solidFill>
            <a:srgbClr val="006AF9">
              <a:alpha val="5000"/>
            </a:srgbClr>
          </a:solidFill>
          <a:ln>
            <a:noFill/>
          </a:ln>
        </p:spPr>
      </p:sp>
      <p:sp>
        <p:nvSpPr>
          <p:cNvPr id="40" name="TextBox 40"/>
          <p:cNvSpPr txBox="1"/>
          <p:nvPr/>
        </p:nvSpPr>
        <p:spPr>
          <a:xfrm>
            <a:off x="842962" y="4755356"/>
            <a:ext cx="5918954"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Consolas"/>
                <a:ea typeface="Microsoft YaHei"/>
                <a:cs typeface="Consolas"/>
              </a:rPr>
              <a:t>LPUSH / RPUSH key val | LPOP / RPOP key | LRANGE key start stop | LLEN key</a:t>
            </a:r>
          </a:p>
        </p:txBody>
      </p:sp>
      <p:sp>
        <p:nvSpPr>
          <p:cNvPr id="41" name="TextBox 41"/>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20 / 25</a:t>
            </a:r>
          </a:p>
        </p:txBody>
      </p:sp>
    </p:spTree>
  </p:cSld>
  <p:clrMapOvr>
    <a:masterClrMapping/>
  </p:clrMapOvr>
  <p:transition 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12B1F"/>
          </a:solidFill>
          <a:ln>
            <a:noFill/>
          </a:ln>
        </p:spPr>
      </p:sp>
      <p:sp>
        <p:nvSpPr>
          <p:cNvPr id="4" name="TextBox 4"/>
          <p:cNvSpPr txBox="1"/>
          <p:nvPr/>
        </p:nvSpPr>
        <p:spPr>
          <a:xfrm>
            <a:off x="541020" y="264795"/>
            <a:ext cx="4219880"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Set &amp; Sorted Set</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sp>
      <p:sp>
        <p:nvSpPr>
          <p:cNvPr id="6" name="TextBox 6"/>
          <p:cNvSpPr txBox="1"/>
          <p:nvPr/>
        </p:nvSpPr>
        <p:spPr>
          <a:xfrm>
            <a:off x="554355" y="902018"/>
            <a:ext cx="2974057"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Arial"/>
                <a:ea typeface="Microsoft YaHei"/>
                <a:cs typeface="Arial"/>
              </a:rPr>
              <a:t>Set — Tập hợp không trùng lặp</a:t>
            </a:r>
          </a:p>
        </p:txBody>
      </p:sp>
      <p:sp>
        <p:nvSpPr>
          <p:cNvPr id="7" name="Freeform 7"/>
          <p:cNvSpPr/>
          <p:nvPr/>
        </p:nvSpPr>
        <p:spPr>
          <a:xfrm>
            <a:off x="571500" y="1143000"/>
            <a:ext cx="5334000" cy="2476500"/>
          </a:xfrm>
          <a:custGeom>
            <a:avLst/>
            <a:gdLst/>
            <a:ahLst/>
            <a:cxnLst/>
            <a:rect l="l" t="t" r="r" b="b"/>
            <a:pathLst>
              <a:path w="5334000" h="2476500">
                <a:moveTo>
                  <a:pt x="95250" y="0"/>
                </a:moveTo>
                <a:lnTo>
                  <a:pt x="5238750" y="0"/>
                </a:lnTo>
                <a:cubicBezTo>
                  <a:pt x="5291355" y="0"/>
                  <a:pt x="5334000" y="42645"/>
                  <a:pt x="5334000" y="95250"/>
                </a:cubicBezTo>
                <a:lnTo>
                  <a:pt x="5334000" y="2381250"/>
                </a:lnTo>
                <a:cubicBezTo>
                  <a:pt x="5334000" y="2433855"/>
                  <a:pt x="5291355" y="2476500"/>
                  <a:pt x="5238750" y="2476500"/>
                </a:cubicBezTo>
                <a:lnTo>
                  <a:pt x="95250" y="2476500"/>
                </a:lnTo>
                <a:cubicBezTo>
                  <a:pt x="42645" y="2476500"/>
                  <a:pt x="0" y="2433855"/>
                  <a:pt x="0" y="2381250"/>
                </a:cubicBezTo>
                <a:lnTo>
                  <a:pt x="0" y="95250"/>
                </a:lnTo>
                <a:cubicBezTo>
                  <a:pt x="0" y="42645"/>
                  <a:pt x="42645" y="0"/>
                  <a:pt x="95250" y="0"/>
                </a:cubicBezTo>
                <a:close/>
              </a:path>
            </a:pathLst>
          </a:custGeom>
          <a:solidFill>
            <a:srgbClr val="1E293B"/>
          </a:solidFill>
          <a:ln>
            <a:noFill/>
          </a:ln>
        </p:spPr>
      </p:sp>
      <p:sp>
        <p:nvSpPr>
          <p:cNvPr id="8" name="TextBox 8"/>
          <p:cNvSpPr txBox="1"/>
          <p:nvPr/>
        </p:nvSpPr>
        <p:spPr>
          <a:xfrm>
            <a:off x="749618" y="1304449"/>
            <a:ext cx="3107698"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SADD post:1:tags "redis" "nosql" "big-data"</a:t>
            </a:r>
          </a:p>
        </p:txBody>
      </p:sp>
      <p:sp>
        <p:nvSpPr>
          <p:cNvPr id="9" name="TextBox 9"/>
          <p:cNvSpPr txBox="1"/>
          <p:nvPr/>
        </p:nvSpPr>
        <p:spPr>
          <a:xfrm>
            <a:off x="749618" y="1513999"/>
            <a:ext cx="3477935"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SADD post:2:tags "redis" "cache" "performance"</a:t>
            </a:r>
          </a:p>
        </p:txBody>
      </p:sp>
      <p:sp>
        <p:nvSpPr>
          <p:cNvPr id="10" name="TextBox 10"/>
          <p:cNvSpPr txBox="1"/>
          <p:nvPr/>
        </p:nvSpPr>
        <p:spPr>
          <a:xfrm>
            <a:off x="749618" y="1799749"/>
            <a:ext cx="1576911"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SMEMBERS post:1:tags</a:t>
            </a:r>
          </a:p>
        </p:txBody>
      </p:sp>
      <p:sp>
        <p:nvSpPr>
          <p:cNvPr id="11" name="TextBox 11"/>
          <p:cNvSpPr txBox="1"/>
          <p:nvPr/>
        </p:nvSpPr>
        <p:spPr>
          <a:xfrm>
            <a:off x="749618" y="2009299"/>
            <a:ext cx="1883069"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"redis" "nosql" "big-data"</a:t>
            </a:r>
          </a:p>
        </p:txBody>
      </p:sp>
      <p:sp>
        <p:nvSpPr>
          <p:cNvPr id="12" name="TextBox 12"/>
          <p:cNvSpPr txBox="1"/>
          <p:nvPr/>
        </p:nvSpPr>
        <p:spPr>
          <a:xfrm>
            <a:off x="749618" y="2295049"/>
            <a:ext cx="1370433"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Phép toán tập hợp</a:t>
            </a:r>
          </a:p>
        </p:txBody>
      </p:sp>
      <p:sp>
        <p:nvSpPr>
          <p:cNvPr id="13" name="TextBox 13"/>
          <p:cNvSpPr txBox="1"/>
          <p:nvPr/>
        </p:nvSpPr>
        <p:spPr>
          <a:xfrm>
            <a:off x="749618" y="2504599"/>
            <a:ext cx="2082427"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SINTER post:1 post:2</a:t>
            </a:r>
            <a:r>
              <a:rPr lang="zh-CN" sz="975" dirty="0">
                <a:solidFill>
                  <a:srgbClr val="2E7D32"/>
                </a:solidFill>
                <a:latin typeface="Consolas"/>
                <a:ea typeface="Microsoft YaHei"/>
                <a:cs typeface="Consolas"/>
              </a:rPr>
              <a:t>→ "redis"</a:t>
            </a:r>
          </a:p>
        </p:txBody>
      </p:sp>
      <p:sp>
        <p:nvSpPr>
          <p:cNvPr id="14" name="TextBox 14"/>
          <p:cNvSpPr txBox="1"/>
          <p:nvPr/>
        </p:nvSpPr>
        <p:spPr>
          <a:xfrm>
            <a:off x="749618" y="2714149"/>
            <a:ext cx="238858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SUNION post:1 post:2</a:t>
            </a:r>
            <a:r>
              <a:rPr lang="zh-CN" sz="975" dirty="0">
                <a:solidFill>
                  <a:srgbClr val="2E7D32"/>
                </a:solidFill>
                <a:latin typeface="Consolas"/>
                <a:ea typeface="Microsoft YaHei"/>
                <a:cs typeface="Consolas"/>
              </a:rPr>
              <a:t>→ tất cả tags</a:t>
            </a:r>
          </a:p>
        </p:txBody>
      </p:sp>
      <p:sp>
        <p:nvSpPr>
          <p:cNvPr id="15" name="TextBox 15"/>
          <p:cNvSpPr txBox="1"/>
          <p:nvPr/>
        </p:nvSpPr>
        <p:spPr>
          <a:xfrm>
            <a:off x="749618" y="2923699"/>
            <a:ext cx="2830020"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SDIFF post:1 post:2</a:t>
            </a:r>
            <a:r>
              <a:rPr lang="zh-CN" sz="975" dirty="0">
                <a:solidFill>
                  <a:srgbClr val="2E7D32"/>
                </a:solidFill>
                <a:latin typeface="Consolas"/>
                <a:ea typeface="Microsoft YaHei"/>
                <a:cs typeface="Consolas"/>
              </a:rPr>
              <a:t>→ "nosql","big-data"</a:t>
            </a:r>
          </a:p>
        </p:txBody>
      </p:sp>
      <p:sp>
        <p:nvSpPr>
          <p:cNvPr id="16" name="TextBox 16"/>
          <p:cNvSpPr txBox="1"/>
          <p:nvPr/>
        </p:nvSpPr>
        <p:spPr>
          <a:xfrm>
            <a:off x="749618" y="3209449"/>
            <a:ext cx="2929700"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SISMEMBER post:1:tags "redis"</a:t>
            </a:r>
            <a:r>
              <a:rPr lang="zh-CN" sz="975" dirty="0">
                <a:solidFill>
                  <a:srgbClr val="FF6B35"/>
                </a:solidFill>
                <a:latin typeface="Consolas"/>
                <a:ea typeface="Microsoft YaHei"/>
                <a:cs typeface="Consolas"/>
              </a:rPr>
              <a:t>(integer) 1</a:t>
            </a:r>
          </a:p>
        </p:txBody>
      </p:sp>
      <p:sp>
        <p:nvSpPr>
          <p:cNvPr id="17" name="TextBox 17"/>
          <p:cNvSpPr txBox="1"/>
          <p:nvPr/>
        </p:nvSpPr>
        <p:spPr>
          <a:xfrm>
            <a:off x="749618" y="3418999"/>
            <a:ext cx="2075307"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SCARD post:1:tags</a:t>
            </a:r>
            <a:r>
              <a:rPr lang="zh-CN" sz="975" dirty="0">
                <a:solidFill>
                  <a:srgbClr val="FF6B35"/>
                </a:solidFill>
                <a:latin typeface="Consolas"/>
                <a:ea typeface="Microsoft YaHei"/>
                <a:cs typeface="Consolas"/>
              </a:rPr>
              <a:t>(integer) 3</a:t>
            </a:r>
          </a:p>
        </p:txBody>
      </p:sp>
      <p:sp>
        <p:nvSpPr>
          <p:cNvPr id="18" name="TextBox 18"/>
          <p:cNvSpPr txBox="1"/>
          <p:nvPr/>
        </p:nvSpPr>
        <p:spPr>
          <a:xfrm>
            <a:off x="6269355" y="902018"/>
            <a:ext cx="3253542" cy="274320"/>
          </a:xfrm>
          <a:prstGeom prst="rect">
            <a:avLst/>
          </a:prstGeom>
          <a:noFill/>
          <a:ln>
            <a:noFill/>
          </a:ln>
        </p:spPr>
        <p:txBody>
          <a:bodyPr wrap="none" lIns="0" tIns="0" rIns="0" bIns="0" anchor="t" anchorCtr="0">
            <a:spAutoFit/>
          </a:bodyPr>
          <a:lstStyle/>
          <a:p>
            <a:pPr algn="l"/>
            <a:r>
              <a:rPr lang="zh-CN" sz="1350" b="1" dirty="0">
                <a:solidFill>
                  <a:srgbClr val="FF6B35"/>
                </a:solidFill>
                <a:latin typeface="Arial"/>
                <a:ea typeface="Microsoft YaHei"/>
                <a:cs typeface="Arial"/>
              </a:rPr>
              <a:t>Sorted Set — Xếp hạng (Ranking)</a:t>
            </a:r>
          </a:p>
        </p:txBody>
      </p:sp>
      <p:sp>
        <p:nvSpPr>
          <p:cNvPr id="19" name="Freeform 19"/>
          <p:cNvSpPr/>
          <p:nvPr/>
        </p:nvSpPr>
        <p:spPr>
          <a:xfrm>
            <a:off x="6286500" y="1143000"/>
            <a:ext cx="5334000" cy="2476500"/>
          </a:xfrm>
          <a:custGeom>
            <a:avLst/>
            <a:gdLst/>
            <a:ahLst/>
            <a:cxnLst/>
            <a:rect l="l" t="t" r="r" b="b"/>
            <a:pathLst>
              <a:path w="5334000" h="2476500">
                <a:moveTo>
                  <a:pt x="95250" y="0"/>
                </a:moveTo>
                <a:lnTo>
                  <a:pt x="5238750" y="0"/>
                </a:lnTo>
                <a:cubicBezTo>
                  <a:pt x="5291355" y="0"/>
                  <a:pt x="5334000" y="42645"/>
                  <a:pt x="5334000" y="95250"/>
                </a:cubicBezTo>
                <a:lnTo>
                  <a:pt x="5334000" y="2381250"/>
                </a:lnTo>
                <a:cubicBezTo>
                  <a:pt x="5334000" y="2433855"/>
                  <a:pt x="5291355" y="2476500"/>
                  <a:pt x="5238750" y="2476500"/>
                </a:cubicBezTo>
                <a:lnTo>
                  <a:pt x="95250" y="2476500"/>
                </a:lnTo>
                <a:cubicBezTo>
                  <a:pt x="42645" y="2476500"/>
                  <a:pt x="0" y="2433855"/>
                  <a:pt x="0" y="2381250"/>
                </a:cubicBezTo>
                <a:lnTo>
                  <a:pt x="0" y="95250"/>
                </a:lnTo>
                <a:cubicBezTo>
                  <a:pt x="0" y="42645"/>
                  <a:pt x="42645" y="0"/>
                  <a:pt x="95250" y="0"/>
                </a:cubicBezTo>
                <a:close/>
              </a:path>
            </a:pathLst>
          </a:custGeom>
          <a:solidFill>
            <a:srgbClr val="1E293B"/>
          </a:solidFill>
          <a:ln>
            <a:noFill/>
          </a:ln>
        </p:spPr>
      </p:sp>
      <p:sp>
        <p:nvSpPr>
          <p:cNvPr id="20" name="TextBox 20"/>
          <p:cNvSpPr txBox="1"/>
          <p:nvPr/>
        </p:nvSpPr>
        <p:spPr>
          <a:xfrm>
            <a:off x="6464618" y="1304449"/>
            <a:ext cx="168371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Bảng xếp hạng điểm thi</a:t>
            </a:r>
          </a:p>
        </p:txBody>
      </p:sp>
      <p:sp>
        <p:nvSpPr>
          <p:cNvPr id="21" name="TextBox 21"/>
          <p:cNvSpPr txBox="1"/>
          <p:nvPr/>
        </p:nvSpPr>
        <p:spPr>
          <a:xfrm>
            <a:off x="6464618" y="1513999"/>
            <a:ext cx="261642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ZADD exam:scores 9.5 "Nguyen Van A"</a:t>
            </a:r>
          </a:p>
        </p:txBody>
      </p:sp>
      <p:sp>
        <p:nvSpPr>
          <p:cNvPr id="22" name="TextBox 22"/>
          <p:cNvSpPr txBox="1"/>
          <p:nvPr/>
        </p:nvSpPr>
        <p:spPr>
          <a:xfrm>
            <a:off x="6464618" y="1723549"/>
            <a:ext cx="242418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ZADD exam:scores 8.7 "Tran Thi B"</a:t>
            </a:r>
          </a:p>
        </p:txBody>
      </p:sp>
      <p:sp>
        <p:nvSpPr>
          <p:cNvPr id="23" name="TextBox 23"/>
          <p:cNvSpPr txBox="1"/>
          <p:nvPr/>
        </p:nvSpPr>
        <p:spPr>
          <a:xfrm>
            <a:off x="6464618" y="1933099"/>
            <a:ext cx="2303145"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ZADD exam:scores 9.8 "Le Van C"</a:t>
            </a:r>
          </a:p>
        </p:txBody>
      </p:sp>
      <p:sp>
        <p:nvSpPr>
          <p:cNvPr id="24" name="TextBox 24"/>
          <p:cNvSpPr txBox="1"/>
          <p:nvPr/>
        </p:nvSpPr>
        <p:spPr>
          <a:xfrm>
            <a:off x="6464618" y="2218849"/>
            <a:ext cx="1455872"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Top 3 từ cao → thấp</a:t>
            </a:r>
          </a:p>
        </p:txBody>
      </p:sp>
      <p:sp>
        <p:nvSpPr>
          <p:cNvPr id="25" name="TextBox 25"/>
          <p:cNvSpPr txBox="1"/>
          <p:nvPr/>
        </p:nvSpPr>
        <p:spPr>
          <a:xfrm>
            <a:off x="6464618" y="2428399"/>
            <a:ext cx="2751701"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ZREVRANGE exam:scores 0 2 WITHSCORES</a:t>
            </a:r>
          </a:p>
        </p:txBody>
      </p:sp>
      <p:sp>
        <p:nvSpPr>
          <p:cNvPr id="26" name="TextBox 26"/>
          <p:cNvSpPr txBox="1"/>
          <p:nvPr/>
        </p:nvSpPr>
        <p:spPr>
          <a:xfrm>
            <a:off x="6464618" y="2637949"/>
            <a:ext cx="1178195"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1) "Le Van C" 9.8</a:t>
            </a:r>
          </a:p>
        </p:txBody>
      </p:sp>
      <p:sp>
        <p:nvSpPr>
          <p:cNvPr id="27" name="TextBox 27"/>
          <p:cNvSpPr txBox="1"/>
          <p:nvPr/>
        </p:nvSpPr>
        <p:spPr>
          <a:xfrm>
            <a:off x="6464618" y="2828449"/>
            <a:ext cx="1527072"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2) "Nguyen Van A" 9.5</a:t>
            </a:r>
          </a:p>
        </p:txBody>
      </p:sp>
      <p:sp>
        <p:nvSpPr>
          <p:cNvPr id="28" name="TextBox 28"/>
          <p:cNvSpPr txBox="1"/>
          <p:nvPr/>
        </p:nvSpPr>
        <p:spPr>
          <a:xfrm>
            <a:off x="6464618" y="3018949"/>
            <a:ext cx="1334834"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3) "Tran Thi B" 8.7</a:t>
            </a:r>
          </a:p>
        </p:txBody>
      </p:sp>
      <p:sp>
        <p:nvSpPr>
          <p:cNvPr id="29" name="TextBox 29"/>
          <p:cNvSpPr txBox="1"/>
          <p:nvPr/>
        </p:nvSpPr>
        <p:spPr>
          <a:xfrm>
            <a:off x="6464618" y="3304699"/>
            <a:ext cx="265202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ZREVRANK exam:scores "Nguyen Van A"</a:t>
            </a:r>
          </a:p>
        </p:txBody>
      </p:sp>
      <p:sp>
        <p:nvSpPr>
          <p:cNvPr id="30" name="TextBox 30"/>
          <p:cNvSpPr txBox="1"/>
          <p:nvPr/>
        </p:nvSpPr>
        <p:spPr>
          <a:xfrm>
            <a:off x="6464618" y="3495199"/>
            <a:ext cx="1334834" cy="198120"/>
          </a:xfrm>
          <a:prstGeom prst="rect">
            <a:avLst/>
          </a:prstGeom>
          <a:noFill/>
          <a:ln>
            <a:noFill/>
          </a:ln>
        </p:spPr>
        <p:txBody>
          <a:bodyPr wrap="none" lIns="0" tIns="0" rIns="0" bIns="0" anchor="t" anchorCtr="0">
            <a:spAutoFit/>
          </a:bodyPr>
          <a:lstStyle/>
          <a:p>
            <a:pPr algn="l"/>
            <a:r>
              <a:rPr lang="zh-CN" sz="975" dirty="0">
                <a:solidFill>
                  <a:srgbClr val="FF6B35"/>
                </a:solidFill>
                <a:latin typeface="Consolas"/>
                <a:ea typeface="Microsoft YaHei"/>
                <a:cs typeface="Consolas"/>
              </a:rPr>
              <a:t>(integer) 1</a:t>
            </a:r>
            <a:r>
              <a:rPr lang="zh-CN" sz="975" dirty="0">
                <a:solidFill>
                  <a:srgbClr val="718096"/>
                </a:solidFill>
                <a:latin typeface="Consolas"/>
                <a:ea typeface="Microsoft YaHei"/>
                <a:cs typeface="Consolas"/>
              </a:rPr>
              <a:t># Hạng 2</a:t>
            </a:r>
          </a:p>
        </p:txBody>
      </p:sp>
      <p:sp>
        <p:nvSpPr>
          <p:cNvPr id="31" name="Freeform 31"/>
          <p:cNvSpPr/>
          <p:nvPr/>
        </p:nvSpPr>
        <p:spPr>
          <a:xfrm>
            <a:off x="571500" y="3905250"/>
            <a:ext cx="5334000" cy="476250"/>
          </a:xfrm>
          <a:custGeom>
            <a:avLst/>
            <a:gdLst/>
            <a:ahLst/>
            <a:cxnLst/>
            <a:rect l="l" t="t" r="r" b="b"/>
            <a:pathLst>
              <a:path w="5334000" h="476250">
                <a:moveTo>
                  <a:pt x="76200" y="0"/>
                </a:moveTo>
                <a:lnTo>
                  <a:pt x="5257800" y="0"/>
                </a:lnTo>
                <a:cubicBezTo>
                  <a:pt x="5299884" y="0"/>
                  <a:pt x="5334000" y="34116"/>
                  <a:pt x="5334000" y="76200"/>
                </a:cubicBezTo>
                <a:lnTo>
                  <a:pt x="5334000" y="400050"/>
                </a:lnTo>
                <a:cubicBezTo>
                  <a:pt x="5334000" y="442134"/>
                  <a:pt x="5299884" y="476250"/>
                  <a:pt x="5257800" y="476250"/>
                </a:cubicBezTo>
                <a:lnTo>
                  <a:pt x="76200" y="476250"/>
                </a:lnTo>
                <a:cubicBezTo>
                  <a:pt x="34116" y="476250"/>
                  <a:pt x="0" y="442134"/>
                  <a:pt x="0" y="400050"/>
                </a:cubicBezTo>
                <a:lnTo>
                  <a:pt x="0" y="76200"/>
                </a:lnTo>
                <a:cubicBezTo>
                  <a:pt x="0" y="34116"/>
                  <a:pt x="34116" y="0"/>
                  <a:pt x="76200" y="0"/>
                </a:cubicBezTo>
                <a:close/>
              </a:path>
            </a:pathLst>
          </a:custGeom>
          <a:solidFill>
            <a:srgbClr val="2E7D32">
              <a:alpha val="5000"/>
            </a:srgbClr>
          </a:solidFill>
          <a:ln>
            <a:noFill/>
          </a:ln>
        </p:spPr>
      </p:sp>
      <p:sp>
        <p:nvSpPr>
          <p:cNvPr id="32" name="TextBox 32"/>
          <p:cNvSpPr txBox="1"/>
          <p:nvPr/>
        </p:nvSpPr>
        <p:spPr>
          <a:xfrm>
            <a:off x="843915" y="4096702"/>
            <a:ext cx="3561445"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Consolas"/>
                <a:ea typeface="Microsoft YaHei"/>
                <a:cs typeface="Consolas"/>
              </a:rPr>
              <a:t>SADD | SMEMBERS | SINTER | SUNION | SDIFF | SCARD</a:t>
            </a:r>
          </a:p>
        </p:txBody>
      </p:sp>
      <p:sp>
        <p:nvSpPr>
          <p:cNvPr id="33" name="Freeform 33"/>
          <p:cNvSpPr/>
          <p:nvPr/>
        </p:nvSpPr>
        <p:spPr>
          <a:xfrm>
            <a:off x="6286500" y="3905250"/>
            <a:ext cx="5334000" cy="476250"/>
          </a:xfrm>
          <a:custGeom>
            <a:avLst/>
            <a:gdLst/>
            <a:ahLst/>
            <a:cxnLst/>
            <a:rect l="l" t="t" r="r" b="b"/>
            <a:pathLst>
              <a:path w="5334000" h="476250">
                <a:moveTo>
                  <a:pt x="76200" y="0"/>
                </a:moveTo>
                <a:lnTo>
                  <a:pt x="5257800" y="0"/>
                </a:lnTo>
                <a:cubicBezTo>
                  <a:pt x="5299884" y="0"/>
                  <a:pt x="5334000" y="34116"/>
                  <a:pt x="5334000" y="76200"/>
                </a:cubicBezTo>
                <a:lnTo>
                  <a:pt x="5334000" y="400050"/>
                </a:lnTo>
                <a:cubicBezTo>
                  <a:pt x="5334000" y="442134"/>
                  <a:pt x="5299884" y="476250"/>
                  <a:pt x="5257800" y="476250"/>
                </a:cubicBezTo>
                <a:lnTo>
                  <a:pt x="76200" y="476250"/>
                </a:lnTo>
                <a:cubicBezTo>
                  <a:pt x="34116" y="476250"/>
                  <a:pt x="0" y="442134"/>
                  <a:pt x="0" y="400050"/>
                </a:cubicBezTo>
                <a:lnTo>
                  <a:pt x="0" y="76200"/>
                </a:lnTo>
                <a:cubicBezTo>
                  <a:pt x="0" y="34116"/>
                  <a:pt x="34116" y="0"/>
                  <a:pt x="76200" y="0"/>
                </a:cubicBezTo>
                <a:close/>
              </a:path>
            </a:pathLst>
          </a:custGeom>
          <a:solidFill>
            <a:srgbClr val="FF6B35">
              <a:alpha val="5000"/>
            </a:srgbClr>
          </a:solidFill>
          <a:ln>
            <a:noFill/>
          </a:ln>
        </p:spPr>
      </p:sp>
      <p:sp>
        <p:nvSpPr>
          <p:cNvPr id="34" name="TextBox 34"/>
          <p:cNvSpPr txBox="1"/>
          <p:nvPr/>
        </p:nvSpPr>
        <p:spPr>
          <a:xfrm>
            <a:off x="6558915" y="4096702"/>
            <a:ext cx="3308413"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Consolas"/>
                <a:ea typeface="Microsoft YaHei"/>
                <a:cs typeface="Consolas"/>
              </a:rPr>
              <a:t>ZADD | ZREVRANGE | ZRANK | ZCOUNT | ZREVRANK</a:t>
            </a:r>
          </a:p>
        </p:txBody>
      </p:sp>
      <p:sp>
        <p:nvSpPr>
          <p:cNvPr id="35" name="TextBox 35"/>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21 / 25</a:t>
            </a:r>
          </a:p>
        </p:txBody>
      </p:sp>
    </p:spTree>
  </p:cSld>
  <p:clrMapOvr>
    <a:masterClrMapping/>
  </p:clrMapOvr>
  <p:transition 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12B1F"/>
          </a:solidFill>
          <a:ln>
            <a:noFill/>
          </a:ln>
        </p:spPr>
      </p:sp>
      <p:sp>
        <p:nvSpPr>
          <p:cNvPr id="4" name="TextBox 4"/>
          <p:cNvSpPr txBox="1"/>
          <p:nvPr/>
        </p:nvSpPr>
        <p:spPr>
          <a:xfrm>
            <a:off x="541020" y="264795"/>
            <a:ext cx="5232006"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Pub/Sub &amp; Transaction</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sp>
      <p:sp>
        <p:nvSpPr>
          <p:cNvPr id="6" name="TextBox 6"/>
          <p:cNvSpPr txBox="1"/>
          <p:nvPr/>
        </p:nvSpPr>
        <p:spPr>
          <a:xfrm>
            <a:off x="554355" y="902018"/>
            <a:ext cx="2083846" cy="274320"/>
          </a:xfrm>
          <a:prstGeom prst="rect">
            <a:avLst/>
          </a:prstGeom>
          <a:noFill/>
          <a:ln>
            <a:noFill/>
          </a:ln>
        </p:spPr>
        <p:txBody>
          <a:bodyPr wrap="none" lIns="0" tIns="0" rIns="0" bIns="0" anchor="t" anchorCtr="0">
            <a:spAutoFit/>
          </a:bodyPr>
          <a:lstStyle/>
          <a:p>
            <a:pPr algn="l"/>
            <a:r>
              <a:rPr lang="zh-CN" sz="1350" b="1" dirty="0">
                <a:solidFill>
                  <a:srgbClr val="006AF9"/>
                </a:solidFill>
                <a:latin typeface="Arial"/>
                <a:ea typeface="Microsoft YaHei"/>
                <a:cs typeface="Arial"/>
              </a:rPr>
              <a:t>Pub/Sub — Messaging</a:t>
            </a:r>
          </a:p>
        </p:txBody>
      </p:sp>
      <p:sp>
        <p:nvSpPr>
          <p:cNvPr id="7" name="Freeform 7"/>
          <p:cNvSpPr/>
          <p:nvPr/>
        </p:nvSpPr>
        <p:spPr>
          <a:xfrm>
            <a:off x="571500" y="1143000"/>
            <a:ext cx="5334000" cy="1905000"/>
          </a:xfrm>
          <a:custGeom>
            <a:avLst/>
            <a:gdLst/>
            <a:ahLst/>
            <a:cxnLst/>
            <a:rect l="l" t="t" r="r" b="b"/>
            <a:pathLst>
              <a:path w="5334000" h="1905000">
                <a:moveTo>
                  <a:pt x="95250" y="0"/>
                </a:moveTo>
                <a:lnTo>
                  <a:pt x="5238750" y="0"/>
                </a:lnTo>
                <a:cubicBezTo>
                  <a:pt x="5291355" y="0"/>
                  <a:pt x="5334000" y="42645"/>
                  <a:pt x="5334000" y="95250"/>
                </a:cubicBezTo>
                <a:lnTo>
                  <a:pt x="5334000" y="1809750"/>
                </a:lnTo>
                <a:cubicBezTo>
                  <a:pt x="5334000" y="1862355"/>
                  <a:pt x="5291355" y="1905000"/>
                  <a:pt x="5238750" y="1905000"/>
                </a:cubicBezTo>
                <a:lnTo>
                  <a:pt x="95250" y="1905000"/>
                </a:lnTo>
                <a:cubicBezTo>
                  <a:pt x="42645" y="1905000"/>
                  <a:pt x="0" y="1862355"/>
                  <a:pt x="0" y="1809750"/>
                </a:cubicBezTo>
                <a:lnTo>
                  <a:pt x="0" y="95250"/>
                </a:lnTo>
                <a:cubicBezTo>
                  <a:pt x="0" y="42645"/>
                  <a:pt x="42645" y="0"/>
                  <a:pt x="95250" y="0"/>
                </a:cubicBezTo>
                <a:close/>
              </a:path>
            </a:pathLst>
          </a:custGeom>
          <a:solidFill>
            <a:srgbClr val="1E293B"/>
          </a:solidFill>
          <a:ln>
            <a:noFill/>
          </a:ln>
        </p:spPr>
      </p:sp>
      <p:sp>
        <p:nvSpPr>
          <p:cNvPr id="8" name="TextBox 8"/>
          <p:cNvSpPr txBox="1"/>
          <p:nvPr/>
        </p:nvSpPr>
        <p:spPr>
          <a:xfrm>
            <a:off x="749618" y="1304449"/>
            <a:ext cx="168371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Terminal 1: Subscriber</a:t>
            </a:r>
          </a:p>
        </p:txBody>
      </p:sp>
      <p:sp>
        <p:nvSpPr>
          <p:cNvPr id="9" name="TextBox 9"/>
          <p:cNvSpPr txBox="1"/>
          <p:nvPr/>
        </p:nvSpPr>
        <p:spPr>
          <a:xfrm>
            <a:off x="749618" y="1513999"/>
            <a:ext cx="1078516"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SUBSCRIBE news</a:t>
            </a:r>
          </a:p>
        </p:txBody>
      </p:sp>
      <p:sp>
        <p:nvSpPr>
          <p:cNvPr id="10" name="TextBox 10"/>
          <p:cNvSpPr txBox="1"/>
          <p:nvPr/>
        </p:nvSpPr>
        <p:spPr>
          <a:xfrm>
            <a:off x="749618" y="1723549"/>
            <a:ext cx="1470112"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Reading messages...</a:t>
            </a:r>
          </a:p>
        </p:txBody>
      </p:sp>
      <p:sp>
        <p:nvSpPr>
          <p:cNvPr id="11" name="TextBox 11"/>
          <p:cNvSpPr txBox="1"/>
          <p:nvPr/>
        </p:nvSpPr>
        <p:spPr>
          <a:xfrm>
            <a:off x="749618" y="2009299"/>
            <a:ext cx="1605391"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Terminal 2: Publisher</a:t>
            </a:r>
          </a:p>
        </p:txBody>
      </p:sp>
      <p:sp>
        <p:nvSpPr>
          <p:cNvPr id="12" name="TextBox 12"/>
          <p:cNvSpPr txBox="1"/>
          <p:nvPr/>
        </p:nvSpPr>
        <p:spPr>
          <a:xfrm>
            <a:off x="749618" y="2218849"/>
            <a:ext cx="243130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PUBLISH news "Redis 8.0 released!"</a:t>
            </a:r>
          </a:p>
        </p:txBody>
      </p:sp>
      <p:sp>
        <p:nvSpPr>
          <p:cNvPr id="13" name="TextBox 13"/>
          <p:cNvSpPr txBox="1"/>
          <p:nvPr/>
        </p:nvSpPr>
        <p:spPr>
          <a:xfrm>
            <a:off x="749618" y="2504599"/>
            <a:ext cx="1605391"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Terminal 1 nhận được:</a:t>
            </a:r>
          </a:p>
        </p:txBody>
      </p:sp>
      <p:sp>
        <p:nvSpPr>
          <p:cNvPr id="14" name="TextBox 14"/>
          <p:cNvSpPr txBox="1"/>
          <p:nvPr/>
        </p:nvSpPr>
        <p:spPr>
          <a:xfrm>
            <a:off x="749618" y="2714149"/>
            <a:ext cx="3371136"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1) "message" 2) "news" 3) "Redis 8.0 released!"</a:t>
            </a:r>
          </a:p>
        </p:txBody>
      </p:sp>
      <p:sp>
        <p:nvSpPr>
          <p:cNvPr id="15" name="TextBox 15"/>
          <p:cNvSpPr txBox="1"/>
          <p:nvPr/>
        </p:nvSpPr>
        <p:spPr>
          <a:xfrm>
            <a:off x="6269355" y="902018"/>
            <a:ext cx="2601411" cy="274320"/>
          </a:xfrm>
          <a:prstGeom prst="rect">
            <a:avLst/>
          </a:prstGeom>
          <a:noFill/>
          <a:ln>
            <a:noFill/>
          </a:ln>
        </p:spPr>
        <p:txBody>
          <a:bodyPr wrap="none" lIns="0" tIns="0" rIns="0" bIns="0" anchor="t" anchorCtr="0">
            <a:spAutoFit/>
          </a:bodyPr>
          <a:lstStyle/>
          <a:p>
            <a:pPr algn="l"/>
            <a:r>
              <a:rPr lang="zh-CN" sz="1350" b="1" dirty="0">
                <a:solidFill>
                  <a:srgbClr val="D12B1F"/>
                </a:solidFill>
                <a:latin typeface="Arial"/>
                <a:ea typeface="Microsoft YaHei"/>
                <a:cs typeface="Arial"/>
              </a:rPr>
              <a:t>Transaction — MULTI/EXEC</a:t>
            </a:r>
          </a:p>
        </p:txBody>
      </p:sp>
      <p:sp>
        <p:nvSpPr>
          <p:cNvPr id="16" name="Freeform 16"/>
          <p:cNvSpPr/>
          <p:nvPr/>
        </p:nvSpPr>
        <p:spPr>
          <a:xfrm>
            <a:off x="6286500" y="1143000"/>
            <a:ext cx="5334000" cy="2476500"/>
          </a:xfrm>
          <a:custGeom>
            <a:avLst/>
            <a:gdLst/>
            <a:ahLst/>
            <a:cxnLst/>
            <a:rect l="l" t="t" r="r" b="b"/>
            <a:pathLst>
              <a:path w="5334000" h="2476500">
                <a:moveTo>
                  <a:pt x="95250" y="0"/>
                </a:moveTo>
                <a:lnTo>
                  <a:pt x="5238750" y="0"/>
                </a:lnTo>
                <a:cubicBezTo>
                  <a:pt x="5291355" y="0"/>
                  <a:pt x="5334000" y="42645"/>
                  <a:pt x="5334000" y="95250"/>
                </a:cubicBezTo>
                <a:lnTo>
                  <a:pt x="5334000" y="2381250"/>
                </a:lnTo>
                <a:cubicBezTo>
                  <a:pt x="5334000" y="2433855"/>
                  <a:pt x="5291355" y="2476500"/>
                  <a:pt x="5238750" y="2476500"/>
                </a:cubicBezTo>
                <a:lnTo>
                  <a:pt x="95250" y="2476500"/>
                </a:lnTo>
                <a:cubicBezTo>
                  <a:pt x="42645" y="2476500"/>
                  <a:pt x="0" y="2433855"/>
                  <a:pt x="0" y="2381250"/>
                </a:cubicBezTo>
                <a:lnTo>
                  <a:pt x="0" y="95250"/>
                </a:lnTo>
                <a:cubicBezTo>
                  <a:pt x="0" y="42645"/>
                  <a:pt x="42645" y="0"/>
                  <a:pt x="95250" y="0"/>
                </a:cubicBezTo>
                <a:close/>
              </a:path>
            </a:pathLst>
          </a:custGeom>
          <a:solidFill>
            <a:srgbClr val="1E293B"/>
          </a:solidFill>
          <a:ln>
            <a:noFill/>
          </a:ln>
        </p:spPr>
      </p:sp>
      <p:sp>
        <p:nvSpPr>
          <p:cNvPr id="17" name="TextBox 17"/>
          <p:cNvSpPr txBox="1"/>
          <p:nvPr/>
        </p:nvSpPr>
        <p:spPr>
          <a:xfrm>
            <a:off x="6464618" y="1304449"/>
            <a:ext cx="1377553"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Chuyển tiền: A → B</a:t>
            </a:r>
          </a:p>
        </p:txBody>
      </p:sp>
      <p:sp>
        <p:nvSpPr>
          <p:cNvPr id="18" name="TextBox 18"/>
          <p:cNvSpPr txBox="1"/>
          <p:nvPr/>
        </p:nvSpPr>
        <p:spPr>
          <a:xfrm>
            <a:off x="6464618" y="1513999"/>
            <a:ext cx="409242" cy="198120"/>
          </a:xfrm>
          <a:prstGeom prst="rect">
            <a:avLst/>
          </a:prstGeom>
          <a:noFill/>
          <a:ln>
            <a:noFill/>
          </a:ln>
        </p:spPr>
        <p:txBody>
          <a:bodyPr wrap="none" lIns="0" tIns="0" rIns="0" bIns="0" anchor="t" anchorCtr="0">
            <a:spAutoFit/>
          </a:bodyPr>
          <a:lstStyle/>
          <a:p>
            <a:pPr algn="l"/>
            <a:r>
              <a:rPr lang="zh-CN" sz="975" dirty="0">
                <a:solidFill>
                  <a:srgbClr val="FF6B35"/>
                </a:solidFill>
                <a:latin typeface="Consolas"/>
                <a:ea typeface="Microsoft YaHei"/>
                <a:cs typeface="Consolas"/>
              </a:rPr>
              <a:t>MULTI</a:t>
            </a:r>
          </a:p>
        </p:txBody>
      </p:sp>
      <p:sp>
        <p:nvSpPr>
          <p:cNvPr id="19" name="TextBox 19"/>
          <p:cNvSpPr txBox="1"/>
          <p:nvPr/>
        </p:nvSpPr>
        <p:spPr>
          <a:xfrm>
            <a:off x="6464618" y="1723549"/>
            <a:ext cx="182610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SET account:A 1000</a:t>
            </a:r>
            <a:r>
              <a:rPr lang="zh-CN" sz="975" dirty="0">
                <a:solidFill>
                  <a:srgbClr val="718096"/>
                </a:solidFill>
                <a:latin typeface="Consolas"/>
                <a:ea typeface="Microsoft YaHei"/>
                <a:cs typeface="Consolas"/>
              </a:rPr>
              <a:t>QUEUED</a:t>
            </a:r>
          </a:p>
        </p:txBody>
      </p:sp>
      <p:sp>
        <p:nvSpPr>
          <p:cNvPr id="20" name="TextBox 20"/>
          <p:cNvSpPr txBox="1"/>
          <p:nvPr/>
        </p:nvSpPr>
        <p:spPr>
          <a:xfrm>
            <a:off x="6464618" y="1933099"/>
            <a:ext cx="186170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SET account:B 2000</a:t>
            </a:r>
            <a:r>
              <a:rPr lang="zh-CN" sz="975" dirty="0">
                <a:solidFill>
                  <a:srgbClr val="718096"/>
                </a:solidFill>
                <a:latin typeface="Consolas"/>
                <a:ea typeface="Microsoft YaHei"/>
                <a:cs typeface="Consolas"/>
              </a:rPr>
              <a:t>QUEUED</a:t>
            </a:r>
          </a:p>
        </p:txBody>
      </p:sp>
      <p:sp>
        <p:nvSpPr>
          <p:cNvPr id="21" name="TextBox 21"/>
          <p:cNvSpPr txBox="1"/>
          <p:nvPr/>
        </p:nvSpPr>
        <p:spPr>
          <a:xfrm>
            <a:off x="6464618" y="2142649"/>
            <a:ext cx="2018348"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DECRBY account:A 500</a:t>
            </a:r>
            <a:r>
              <a:rPr lang="zh-CN" sz="975" dirty="0">
                <a:solidFill>
                  <a:srgbClr val="718096"/>
                </a:solidFill>
                <a:latin typeface="Consolas"/>
                <a:ea typeface="Microsoft YaHei"/>
                <a:cs typeface="Consolas"/>
              </a:rPr>
              <a:t>QUEUED</a:t>
            </a:r>
          </a:p>
        </p:txBody>
      </p:sp>
      <p:sp>
        <p:nvSpPr>
          <p:cNvPr id="22" name="TextBox 22"/>
          <p:cNvSpPr txBox="1"/>
          <p:nvPr/>
        </p:nvSpPr>
        <p:spPr>
          <a:xfrm>
            <a:off x="6464618" y="2352199"/>
            <a:ext cx="1982748"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INCRBY account:B 500</a:t>
            </a:r>
            <a:r>
              <a:rPr lang="zh-CN" sz="975" dirty="0">
                <a:solidFill>
                  <a:srgbClr val="718096"/>
                </a:solidFill>
                <a:latin typeface="Consolas"/>
                <a:ea typeface="Microsoft YaHei"/>
                <a:cs typeface="Consolas"/>
              </a:rPr>
              <a:t>QUEUED</a:t>
            </a:r>
          </a:p>
        </p:txBody>
      </p:sp>
      <p:sp>
        <p:nvSpPr>
          <p:cNvPr id="23" name="TextBox 23"/>
          <p:cNvSpPr txBox="1"/>
          <p:nvPr/>
        </p:nvSpPr>
        <p:spPr>
          <a:xfrm>
            <a:off x="6464618" y="2561749"/>
            <a:ext cx="338042" cy="198120"/>
          </a:xfrm>
          <a:prstGeom prst="rect">
            <a:avLst/>
          </a:prstGeom>
          <a:noFill/>
          <a:ln>
            <a:noFill/>
          </a:ln>
        </p:spPr>
        <p:txBody>
          <a:bodyPr wrap="none" lIns="0" tIns="0" rIns="0" bIns="0" anchor="t" anchorCtr="0">
            <a:spAutoFit/>
          </a:bodyPr>
          <a:lstStyle/>
          <a:p>
            <a:pPr algn="l"/>
            <a:r>
              <a:rPr lang="zh-CN" sz="975" dirty="0">
                <a:solidFill>
                  <a:srgbClr val="FF6B35"/>
                </a:solidFill>
                <a:latin typeface="Consolas"/>
                <a:ea typeface="Microsoft YaHei"/>
                <a:cs typeface="Consolas"/>
              </a:rPr>
              <a:t>EXEC</a:t>
            </a:r>
          </a:p>
        </p:txBody>
      </p:sp>
      <p:sp>
        <p:nvSpPr>
          <p:cNvPr id="24" name="TextBox 24"/>
          <p:cNvSpPr txBox="1"/>
          <p:nvPr/>
        </p:nvSpPr>
        <p:spPr>
          <a:xfrm>
            <a:off x="6464618" y="2847499"/>
            <a:ext cx="1833229"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1) OK 2) OK 3) 500 4) 2500</a:t>
            </a:r>
          </a:p>
        </p:txBody>
      </p:sp>
      <p:sp>
        <p:nvSpPr>
          <p:cNvPr id="25" name="TextBox 25"/>
          <p:cNvSpPr txBox="1"/>
          <p:nvPr/>
        </p:nvSpPr>
        <p:spPr>
          <a:xfrm>
            <a:off x="6464618" y="3133249"/>
            <a:ext cx="1398913"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GET account:A</a:t>
            </a:r>
            <a:r>
              <a:rPr lang="zh-CN" sz="975" dirty="0">
                <a:solidFill>
                  <a:srgbClr val="2E7D32"/>
                </a:solidFill>
                <a:latin typeface="Consolas"/>
                <a:ea typeface="Microsoft YaHei"/>
                <a:cs typeface="Consolas"/>
              </a:rPr>
              <a:t>"500"</a:t>
            </a:r>
          </a:p>
        </p:txBody>
      </p:sp>
      <p:sp>
        <p:nvSpPr>
          <p:cNvPr id="26" name="TextBox 26"/>
          <p:cNvSpPr txBox="1"/>
          <p:nvPr/>
        </p:nvSpPr>
        <p:spPr>
          <a:xfrm>
            <a:off x="6464618" y="3342799"/>
            <a:ext cx="147723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GET account:B</a:t>
            </a:r>
            <a:r>
              <a:rPr lang="zh-CN" sz="975" dirty="0">
                <a:solidFill>
                  <a:srgbClr val="2E7D32"/>
                </a:solidFill>
                <a:latin typeface="Consolas"/>
                <a:ea typeface="Microsoft YaHei"/>
                <a:cs typeface="Consolas"/>
              </a:rPr>
              <a:t>"2500"</a:t>
            </a:r>
          </a:p>
        </p:txBody>
      </p:sp>
      <p:sp>
        <p:nvSpPr>
          <p:cNvPr id="27" name="Freeform 27"/>
          <p:cNvSpPr/>
          <p:nvPr/>
        </p:nvSpPr>
        <p:spPr>
          <a:xfrm>
            <a:off x="571500" y="3286125"/>
            <a:ext cx="5334000" cy="666750"/>
          </a:xfrm>
          <a:custGeom>
            <a:avLst/>
            <a:gdLst/>
            <a:ahLst/>
            <a:cxnLst/>
            <a:rect l="l" t="t" r="r" b="b"/>
            <a:pathLst>
              <a:path w="5334000" h="666750">
                <a:moveTo>
                  <a:pt x="76200" y="0"/>
                </a:moveTo>
                <a:lnTo>
                  <a:pt x="5257800" y="0"/>
                </a:lnTo>
                <a:cubicBezTo>
                  <a:pt x="5299884" y="0"/>
                  <a:pt x="5334000" y="34116"/>
                  <a:pt x="5334000" y="76200"/>
                </a:cubicBezTo>
                <a:lnTo>
                  <a:pt x="5334000" y="590550"/>
                </a:lnTo>
                <a:cubicBezTo>
                  <a:pt x="5334000" y="632634"/>
                  <a:pt x="5299884" y="666750"/>
                  <a:pt x="5257800" y="666750"/>
                </a:cubicBezTo>
                <a:lnTo>
                  <a:pt x="76200" y="666750"/>
                </a:lnTo>
                <a:cubicBezTo>
                  <a:pt x="34116" y="666750"/>
                  <a:pt x="0" y="632634"/>
                  <a:pt x="0" y="590550"/>
                </a:cubicBezTo>
                <a:lnTo>
                  <a:pt x="0" y="76200"/>
                </a:lnTo>
                <a:cubicBezTo>
                  <a:pt x="0" y="34116"/>
                  <a:pt x="34116" y="0"/>
                  <a:pt x="76200" y="0"/>
                </a:cubicBezTo>
                <a:close/>
              </a:path>
            </a:pathLst>
          </a:custGeom>
          <a:solidFill>
            <a:srgbClr val="006AF9">
              <a:alpha val="5000"/>
            </a:srgbClr>
          </a:solidFill>
          <a:ln>
            <a:noFill/>
          </a:ln>
        </p:spPr>
      </p:sp>
      <p:sp>
        <p:nvSpPr>
          <p:cNvPr id="28" name="TextBox 28"/>
          <p:cNvSpPr txBox="1"/>
          <p:nvPr/>
        </p:nvSpPr>
        <p:spPr>
          <a:xfrm>
            <a:off x="843915" y="3458528"/>
            <a:ext cx="735159" cy="213360"/>
          </a:xfrm>
          <a:prstGeom prst="rect">
            <a:avLst/>
          </a:prstGeom>
          <a:noFill/>
          <a:ln>
            <a:noFill/>
          </a:ln>
        </p:spPr>
        <p:txBody>
          <a:bodyPr wrap="none" lIns="0" tIns="0" rIns="0" bIns="0" anchor="t" anchorCtr="0">
            <a:spAutoFit/>
          </a:bodyPr>
          <a:lstStyle/>
          <a:p>
            <a:pPr algn="l"/>
            <a:r>
              <a:rPr lang="zh-CN" sz="1050" b="1" dirty="0">
                <a:solidFill>
                  <a:srgbClr val="006AF9"/>
                </a:solidFill>
                <a:latin typeface="Arial"/>
                <a:ea typeface="Microsoft YaHei"/>
                <a:cs typeface="Arial"/>
              </a:rPr>
              <a:t>Pub/Sub:</a:t>
            </a:r>
          </a:p>
        </p:txBody>
      </p:sp>
      <p:sp>
        <p:nvSpPr>
          <p:cNvPr id="29" name="TextBox 29"/>
          <p:cNvSpPr txBox="1"/>
          <p:nvPr/>
        </p:nvSpPr>
        <p:spPr>
          <a:xfrm>
            <a:off x="1701165" y="3458528"/>
            <a:ext cx="3676459"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Real-time messaging giữa publisher và subscriber</a:t>
            </a:r>
          </a:p>
        </p:txBody>
      </p:sp>
      <p:sp>
        <p:nvSpPr>
          <p:cNvPr id="30" name="TextBox 30"/>
          <p:cNvSpPr txBox="1"/>
          <p:nvPr/>
        </p:nvSpPr>
        <p:spPr>
          <a:xfrm>
            <a:off x="844868" y="3685699"/>
            <a:ext cx="3064978"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SUBSCRIBE channel | PUBLISH channel message</a:t>
            </a:r>
          </a:p>
        </p:txBody>
      </p:sp>
      <p:sp>
        <p:nvSpPr>
          <p:cNvPr id="31" name="Freeform 31"/>
          <p:cNvSpPr/>
          <p:nvPr/>
        </p:nvSpPr>
        <p:spPr>
          <a:xfrm>
            <a:off x="6286500" y="3810000"/>
            <a:ext cx="5334000" cy="666750"/>
          </a:xfrm>
          <a:custGeom>
            <a:avLst/>
            <a:gdLst/>
            <a:ahLst/>
            <a:cxnLst/>
            <a:rect l="l" t="t" r="r" b="b"/>
            <a:pathLst>
              <a:path w="5334000" h="666750">
                <a:moveTo>
                  <a:pt x="76200" y="0"/>
                </a:moveTo>
                <a:lnTo>
                  <a:pt x="5257800" y="0"/>
                </a:lnTo>
                <a:cubicBezTo>
                  <a:pt x="5299884" y="0"/>
                  <a:pt x="5334000" y="34116"/>
                  <a:pt x="5334000" y="76200"/>
                </a:cubicBezTo>
                <a:lnTo>
                  <a:pt x="5334000" y="590550"/>
                </a:lnTo>
                <a:cubicBezTo>
                  <a:pt x="5334000" y="632634"/>
                  <a:pt x="5299884" y="666750"/>
                  <a:pt x="5257800" y="666750"/>
                </a:cubicBezTo>
                <a:lnTo>
                  <a:pt x="76200" y="666750"/>
                </a:lnTo>
                <a:cubicBezTo>
                  <a:pt x="34116" y="666750"/>
                  <a:pt x="0" y="632634"/>
                  <a:pt x="0" y="590550"/>
                </a:cubicBezTo>
                <a:lnTo>
                  <a:pt x="0" y="76200"/>
                </a:lnTo>
                <a:cubicBezTo>
                  <a:pt x="0" y="34116"/>
                  <a:pt x="34116" y="0"/>
                  <a:pt x="76200" y="0"/>
                </a:cubicBezTo>
                <a:close/>
              </a:path>
            </a:pathLst>
          </a:custGeom>
          <a:solidFill>
            <a:srgbClr val="D12B1F">
              <a:alpha val="5000"/>
            </a:srgbClr>
          </a:solidFill>
          <a:ln>
            <a:noFill/>
          </a:ln>
        </p:spPr>
      </p:sp>
      <p:sp>
        <p:nvSpPr>
          <p:cNvPr id="32" name="TextBox 32"/>
          <p:cNvSpPr txBox="1"/>
          <p:nvPr/>
        </p:nvSpPr>
        <p:spPr>
          <a:xfrm>
            <a:off x="6558915" y="3982402"/>
            <a:ext cx="1049148" cy="213360"/>
          </a:xfrm>
          <a:prstGeom prst="rect">
            <a:avLst/>
          </a:prstGeom>
          <a:noFill/>
          <a:ln>
            <a:noFill/>
          </a:ln>
        </p:spPr>
        <p:txBody>
          <a:bodyPr wrap="none" lIns="0" tIns="0" rIns="0" bIns="0" anchor="t" anchorCtr="0">
            <a:spAutoFit/>
          </a:bodyPr>
          <a:lstStyle/>
          <a:p>
            <a:pPr algn="l"/>
            <a:r>
              <a:rPr lang="zh-CN" sz="1050" b="1" dirty="0">
                <a:solidFill>
                  <a:srgbClr val="D12B1F"/>
                </a:solidFill>
                <a:latin typeface="Arial"/>
                <a:ea typeface="Microsoft YaHei"/>
                <a:cs typeface="Arial"/>
              </a:rPr>
              <a:t>Transaction:</a:t>
            </a:r>
          </a:p>
        </p:txBody>
      </p:sp>
      <p:sp>
        <p:nvSpPr>
          <p:cNvPr id="33" name="TextBox 33"/>
          <p:cNvSpPr txBox="1"/>
          <p:nvPr/>
        </p:nvSpPr>
        <p:spPr>
          <a:xfrm>
            <a:off x="7701915" y="3982402"/>
            <a:ext cx="3461766"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Thực thi nhóm lệnh atomic (tất cả hoặc không)</a:t>
            </a:r>
          </a:p>
        </p:txBody>
      </p:sp>
      <p:sp>
        <p:nvSpPr>
          <p:cNvPr id="34" name="TextBox 34"/>
          <p:cNvSpPr txBox="1"/>
          <p:nvPr/>
        </p:nvSpPr>
        <p:spPr>
          <a:xfrm>
            <a:off x="6559868" y="4209574"/>
            <a:ext cx="2374344"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MULTI → commands → EXEC | DISCARD</a:t>
            </a:r>
          </a:p>
        </p:txBody>
      </p:sp>
      <p:sp>
        <p:nvSpPr>
          <p:cNvPr id="35" name="TextBox 35"/>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22 / 25</a:t>
            </a:r>
          </a:p>
        </p:txBody>
      </p:sp>
    </p:spTree>
  </p:cSld>
  <p:clrMapOvr>
    <a:masterClrMapping/>
  </p:clrMapOvr>
  <p:transition dur="400">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12B1F"/>
          </a:solidFill>
          <a:ln>
            <a:noFill/>
          </a:ln>
        </p:spPr>
      </p:sp>
      <p:sp>
        <p:nvSpPr>
          <p:cNvPr id="4" name="TextBox 4"/>
          <p:cNvSpPr txBox="1"/>
          <p:nvPr/>
        </p:nvSpPr>
        <p:spPr>
          <a:xfrm>
            <a:off x="541020" y="264795"/>
            <a:ext cx="5287213"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3 Use Cases thực tế của Redis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sp>
      <p:grpSp>
        <p:nvGrpSpPr>
          <p:cNvPr id="11" name="Group 11"/>
          <p:cNvGrpSpPr/>
          <p:nvPr/>
        </p:nvGrpSpPr>
        <p:grpSpPr>
          <a:xfrm>
            <a:off x="571500" y="952500"/>
            <a:ext cx="3524250" cy="5048250"/>
            <a:chOff x="571500" y="952500"/>
            <a:chExt cx="3524250" cy="5048250"/>
          </a:xfrm>
          <a:effectLst>
            <a:outerShdw blurRad="190500" dist="38100" dir="10799140" algn="tl" rotWithShape="0">
              <a:srgbClr val="000000">
                <a:alpha val="12000"/>
              </a:srgbClr>
            </a:outerShdw>
          </a:effectLst>
        </p:grpSpPr>
        <p:sp>
          <p:nvSpPr>
            <p:cNvPr id="6" name="Freeform 6"/>
            <p:cNvSpPr/>
            <p:nvPr/>
          </p:nvSpPr>
          <p:spPr>
            <a:xfrm>
              <a:off x="57150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952500"/>
              <a:ext cx="3524250" cy="523875"/>
            </a:xfrm>
            <a:custGeom>
              <a:avLst/>
              <a:gdLst/>
              <a:ahLst/>
              <a:cxnLst/>
              <a:rect l="l" t="t" r="r" b="b"/>
              <a:pathLst>
                <a:path w="3524250" h="523875">
                  <a:moveTo>
                    <a:pt x="114300" y="0"/>
                  </a:moveTo>
                  <a:lnTo>
                    <a:pt x="3409950" y="0"/>
                  </a:lnTo>
                  <a:cubicBezTo>
                    <a:pt x="3473076" y="0"/>
                    <a:pt x="3524250" y="51174"/>
                    <a:pt x="3524250" y="114300"/>
                  </a:cubicBezTo>
                  <a:lnTo>
                    <a:pt x="3524250" y="409575"/>
                  </a:lnTo>
                  <a:cubicBezTo>
                    <a:pt x="3524250" y="472701"/>
                    <a:pt x="3473076" y="523875"/>
                    <a:pt x="3409950" y="523875"/>
                  </a:cubicBezTo>
                  <a:lnTo>
                    <a:pt x="114300" y="523875"/>
                  </a:lnTo>
                  <a:cubicBezTo>
                    <a:pt x="51174" y="523875"/>
                    <a:pt x="0" y="472701"/>
                    <a:pt x="0" y="409575"/>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sp>
        <p:sp>
          <p:nvSpPr>
            <p:cNvPr id="8" name="Rectangle 8"/>
            <p:cNvSpPr/>
            <p:nvPr/>
          </p:nvSpPr>
          <p:spPr>
            <a:xfrm>
              <a:off x="571500" y="1362075"/>
              <a:ext cx="3524250" cy="114300"/>
            </a:xfrm>
            <a:prstGeom prst="rect">
              <a:avLst/>
            </a:prstGeom>
            <a:solidFill>
              <a:srgbClr val="D12B1F"/>
            </a:solidFill>
            <a:ln>
              <a:noFill/>
            </a:ln>
            <a:effectLst>
              <a:outerShdw blurRad="190500" dist="38100" dir="10799140" algn="tl" rotWithShape="0">
                <a:srgbClr val="000000">
                  <a:alpha val="12000"/>
                </a:srgbClr>
              </a:outerShdw>
            </a:effectLst>
          </p:spPr>
        </p:sp>
        <p:sp>
          <p:nvSpPr>
            <p:cNvPr id="9" name="Freeform 9"/>
            <p:cNvSpPr/>
            <p:nvPr/>
          </p:nvSpPr>
          <p:spPr>
            <a:xfrm>
              <a:off x="790575" y="1095375"/>
              <a:ext cx="171450" cy="228600"/>
            </a:xfrm>
            <a:custGeom>
              <a:avLst/>
              <a:gdLst/>
              <a:ahLst/>
              <a:cxnLst/>
              <a:rect l="l" t="t" r="r" b="b"/>
              <a:pathLst>
                <a:path w="171450" h="228600">
                  <a:moveTo>
                    <a:pt x="28575" y="85725"/>
                  </a:moveTo>
                  <a:lnTo>
                    <a:pt x="28575" y="57150"/>
                  </a:lnTo>
                  <a:cubicBezTo>
                    <a:pt x="28575" y="25587"/>
                    <a:pt x="54162" y="0"/>
                    <a:pt x="85725" y="0"/>
                  </a:cubicBezTo>
                  <a:cubicBezTo>
                    <a:pt x="117288" y="0"/>
                    <a:pt x="142875" y="25587"/>
                    <a:pt x="142875" y="57150"/>
                  </a:cubicBezTo>
                  <a:lnTo>
                    <a:pt x="142875" y="85725"/>
                  </a:lnTo>
                  <a:lnTo>
                    <a:pt x="171450" y="85725"/>
                  </a:lnTo>
                  <a:lnTo>
                    <a:pt x="171450" y="228600"/>
                  </a:lnTo>
                  <a:lnTo>
                    <a:pt x="0" y="228600"/>
                  </a:lnTo>
                  <a:lnTo>
                    <a:pt x="0" y="85725"/>
                  </a:lnTo>
                  <a:lnTo>
                    <a:pt x="28575" y="85725"/>
                  </a:lnTo>
                  <a:close/>
                  <a:moveTo>
                    <a:pt x="57150" y="57150"/>
                  </a:moveTo>
                  <a:cubicBezTo>
                    <a:pt x="57150" y="41368"/>
                    <a:pt x="69943" y="28575"/>
                    <a:pt x="85725" y="28575"/>
                  </a:cubicBezTo>
                  <a:cubicBezTo>
                    <a:pt x="101507" y="28575"/>
                    <a:pt x="114300" y="41368"/>
                    <a:pt x="114300" y="57150"/>
                  </a:cubicBezTo>
                  <a:lnTo>
                    <a:pt x="114300" y="85725"/>
                  </a:lnTo>
                  <a:lnTo>
                    <a:pt x="57150" y="85725"/>
                  </a:lnTo>
                  <a:lnTo>
                    <a:pt x="57150" y="57150"/>
                  </a:lnTo>
                  <a:close/>
                  <a:moveTo>
                    <a:pt x="71438" y="185738"/>
                  </a:moveTo>
                  <a:lnTo>
                    <a:pt x="71438" y="128588"/>
                  </a:lnTo>
                  <a:lnTo>
                    <a:pt x="100012" y="128588"/>
                  </a:lnTo>
                  <a:lnTo>
                    <a:pt x="100012" y="185738"/>
                  </a:lnTo>
                  <a:lnTo>
                    <a:pt x="71438" y="185738"/>
                  </a:lnTo>
                  <a:close/>
                </a:path>
              </a:pathLst>
            </a:custGeom>
            <a:solidFill>
              <a:srgbClr val="FFFFFF"/>
            </a:solidFill>
            <a:ln>
              <a:noFill/>
            </a:ln>
            <a:effectLst>
              <a:outerShdw blurRad="190500" dist="38100" dir="10799140" algn="tl" rotWithShape="0">
                <a:srgbClr val="000000">
                  <a:alpha val="12000"/>
                </a:srgbClr>
              </a:outerShdw>
            </a:effectLst>
          </p:spPr>
        </p:sp>
        <p:sp>
          <p:nvSpPr>
            <p:cNvPr id="10" name="TextBox 10"/>
            <p:cNvSpPr txBox="1"/>
            <p:nvPr/>
          </p:nvSpPr>
          <p:spPr>
            <a:xfrm>
              <a:off x="1078230" y="1140142"/>
              <a:ext cx="1411012"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FFFFFF"/>
                  </a:solidFill>
                  <a:latin typeface="Arial"/>
                  <a:ea typeface="Microsoft YaHei"/>
                  <a:cs typeface="Arial"/>
                </a:rPr>
                <a:t>Session Store</a:t>
              </a:r>
            </a:p>
          </p:txBody>
        </p:sp>
      </p:grpSp>
      <p:sp>
        <p:nvSpPr>
          <p:cNvPr id="12" name="TextBox 12"/>
          <p:cNvSpPr txBox="1"/>
          <p:nvPr/>
        </p:nvSpPr>
        <p:spPr>
          <a:xfrm>
            <a:off x="842962" y="1688306"/>
            <a:ext cx="2452092"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Lưu session khi user đăng nhập</a:t>
            </a:r>
          </a:p>
        </p:txBody>
      </p:sp>
      <p:sp>
        <p:nvSpPr>
          <p:cNvPr id="13" name="TextBox 13"/>
          <p:cNvSpPr txBox="1"/>
          <p:nvPr/>
        </p:nvSpPr>
        <p:spPr>
          <a:xfrm>
            <a:off x="843915" y="1934528"/>
            <a:ext cx="2073926"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Tự động hết hạn sau 30 phút</a:t>
            </a:r>
          </a:p>
        </p:txBody>
      </p:sp>
      <p:sp>
        <p:nvSpPr>
          <p:cNvPr id="14" name="Freeform 14"/>
          <p:cNvSpPr/>
          <p:nvPr/>
        </p:nvSpPr>
        <p:spPr>
          <a:xfrm>
            <a:off x="857250" y="2286000"/>
            <a:ext cx="2952750" cy="1143000"/>
          </a:xfrm>
          <a:custGeom>
            <a:avLst/>
            <a:gdLst/>
            <a:ahLst/>
            <a:cxnLst/>
            <a:rect l="l" t="t" r="r" b="b"/>
            <a:pathLst>
              <a:path w="2952750" h="1143000">
                <a:moveTo>
                  <a:pt x="76200" y="0"/>
                </a:moveTo>
                <a:lnTo>
                  <a:pt x="2876550" y="0"/>
                </a:lnTo>
                <a:cubicBezTo>
                  <a:pt x="2918634" y="0"/>
                  <a:pt x="2952750" y="34116"/>
                  <a:pt x="2952750" y="76200"/>
                </a:cubicBezTo>
                <a:lnTo>
                  <a:pt x="2952750" y="1066800"/>
                </a:lnTo>
                <a:cubicBezTo>
                  <a:pt x="2952750" y="1108884"/>
                  <a:pt x="2918634" y="1143000"/>
                  <a:pt x="2876550" y="1143000"/>
                </a:cubicBezTo>
                <a:lnTo>
                  <a:pt x="76200" y="1143000"/>
                </a:lnTo>
                <a:cubicBezTo>
                  <a:pt x="34116" y="1143000"/>
                  <a:pt x="0" y="1108884"/>
                  <a:pt x="0" y="1066800"/>
                </a:cubicBezTo>
                <a:lnTo>
                  <a:pt x="0" y="76200"/>
                </a:lnTo>
                <a:cubicBezTo>
                  <a:pt x="0" y="34116"/>
                  <a:pt x="34116" y="0"/>
                  <a:pt x="76200" y="0"/>
                </a:cubicBezTo>
                <a:close/>
              </a:path>
            </a:pathLst>
          </a:custGeom>
          <a:solidFill>
            <a:srgbClr val="1E293B"/>
          </a:solidFill>
          <a:ln>
            <a:noFill/>
          </a:ln>
        </p:spPr>
      </p:sp>
      <p:sp>
        <p:nvSpPr>
          <p:cNvPr id="15" name="TextBox 15"/>
          <p:cNvSpPr txBox="1"/>
          <p:nvPr/>
        </p:nvSpPr>
        <p:spPr>
          <a:xfrm>
            <a:off x="988695" y="2455545"/>
            <a:ext cx="1225582"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SET session:abc123</a:t>
            </a:r>
          </a:p>
        </p:txBody>
      </p:sp>
      <p:sp>
        <p:nvSpPr>
          <p:cNvPr id="16" name="TextBox 16"/>
          <p:cNvSpPr txBox="1"/>
          <p:nvPr/>
        </p:nvSpPr>
        <p:spPr>
          <a:xfrm>
            <a:off x="1083945" y="2646045"/>
            <a:ext cx="969264" cy="182880"/>
          </a:xfrm>
          <a:prstGeom prst="rect">
            <a:avLst/>
          </a:prstGeom>
          <a:noFill/>
          <a:ln>
            <a:noFill/>
          </a:ln>
        </p:spPr>
        <p:txBody>
          <a:bodyPr wrap="none" lIns="0" tIns="0" rIns="0" bIns="0" anchor="t" anchorCtr="0">
            <a:spAutoFit/>
          </a:bodyPr>
          <a:lstStyle/>
          <a:p>
            <a:pPr algn="l"/>
            <a:r>
              <a:rPr lang="zh-CN" sz="900" dirty="0">
                <a:solidFill>
                  <a:srgbClr val="FF6B35"/>
                </a:solidFill>
                <a:latin typeface="Consolas"/>
                <a:ea typeface="Microsoft YaHei"/>
                <a:cs typeface="Consolas"/>
              </a:rPr>
              <a:t>'{"user_id":1,</a:t>
            </a:r>
          </a:p>
        </p:txBody>
      </p:sp>
      <p:sp>
        <p:nvSpPr>
          <p:cNvPr id="17" name="TextBox 17"/>
          <p:cNvSpPr txBox="1"/>
          <p:nvPr/>
        </p:nvSpPr>
        <p:spPr>
          <a:xfrm>
            <a:off x="1131570" y="2836545"/>
            <a:ext cx="1199293" cy="182880"/>
          </a:xfrm>
          <a:prstGeom prst="rect">
            <a:avLst/>
          </a:prstGeom>
          <a:noFill/>
          <a:ln>
            <a:noFill/>
          </a:ln>
        </p:spPr>
        <p:txBody>
          <a:bodyPr wrap="none" lIns="0" tIns="0" rIns="0" bIns="0" anchor="t" anchorCtr="0">
            <a:spAutoFit/>
          </a:bodyPr>
          <a:lstStyle/>
          <a:p>
            <a:pPr algn="l"/>
            <a:r>
              <a:rPr lang="zh-CN" sz="900" dirty="0">
                <a:solidFill>
                  <a:srgbClr val="FF6B35"/>
                </a:solidFill>
                <a:latin typeface="Consolas"/>
                <a:ea typeface="Microsoft YaHei"/>
                <a:cs typeface="Consolas"/>
              </a:rPr>
              <a:t>"name":"Admin"}'</a:t>
            </a:r>
          </a:p>
        </p:txBody>
      </p:sp>
      <p:sp>
        <p:nvSpPr>
          <p:cNvPr id="18" name="TextBox 18"/>
          <p:cNvSpPr txBox="1"/>
          <p:nvPr/>
        </p:nvSpPr>
        <p:spPr>
          <a:xfrm>
            <a:off x="1083945" y="3027045"/>
            <a:ext cx="463201"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EX 1800</a:t>
            </a:r>
          </a:p>
        </p:txBody>
      </p:sp>
      <p:sp>
        <p:nvSpPr>
          <p:cNvPr id="19" name="TextBox 19"/>
          <p:cNvSpPr txBox="1"/>
          <p:nvPr/>
        </p:nvSpPr>
        <p:spPr>
          <a:xfrm>
            <a:off x="988695" y="3217545"/>
            <a:ext cx="193739" cy="182880"/>
          </a:xfrm>
          <a:prstGeom prst="rect">
            <a:avLst/>
          </a:prstGeom>
          <a:noFill/>
          <a:ln>
            <a:noFill/>
          </a:ln>
        </p:spPr>
        <p:txBody>
          <a:bodyPr wrap="none" lIns="0" tIns="0" rIns="0" bIns="0" anchor="t" anchorCtr="0">
            <a:spAutoFit/>
          </a:bodyPr>
          <a:lstStyle/>
          <a:p>
            <a:pPr algn="l"/>
            <a:r>
              <a:rPr lang="zh-CN" sz="900" dirty="0">
                <a:solidFill>
                  <a:srgbClr val="2E7D32"/>
                </a:solidFill>
                <a:latin typeface="Consolas"/>
                <a:ea typeface="Microsoft YaHei"/>
                <a:cs typeface="Consolas"/>
              </a:rPr>
              <a:t>OK</a:t>
            </a:r>
          </a:p>
        </p:txBody>
      </p:sp>
      <p:grpSp>
        <p:nvGrpSpPr>
          <p:cNvPr id="25" name="Group 25"/>
          <p:cNvGrpSpPr/>
          <p:nvPr/>
        </p:nvGrpSpPr>
        <p:grpSpPr>
          <a:xfrm>
            <a:off x="4333875" y="952500"/>
            <a:ext cx="3524250" cy="5048250"/>
            <a:chOff x="4333875" y="952500"/>
            <a:chExt cx="3524250" cy="5048250"/>
          </a:xfrm>
          <a:effectLst>
            <a:outerShdw blurRad="190500" dist="38100" dir="10799140" algn="tl" rotWithShape="0">
              <a:srgbClr val="000000">
                <a:alpha val="12000"/>
              </a:srgbClr>
            </a:outerShdw>
          </a:effectLst>
        </p:grpSpPr>
        <p:sp>
          <p:nvSpPr>
            <p:cNvPr id="20" name="Freeform 20"/>
            <p:cNvSpPr/>
            <p:nvPr/>
          </p:nvSpPr>
          <p:spPr>
            <a:xfrm>
              <a:off x="4333875"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21" name="Freeform 21"/>
            <p:cNvSpPr/>
            <p:nvPr/>
          </p:nvSpPr>
          <p:spPr>
            <a:xfrm>
              <a:off x="4333875" y="952500"/>
              <a:ext cx="3524250" cy="523875"/>
            </a:xfrm>
            <a:custGeom>
              <a:avLst/>
              <a:gdLst/>
              <a:ahLst/>
              <a:cxnLst/>
              <a:rect l="l" t="t" r="r" b="b"/>
              <a:pathLst>
                <a:path w="3524250" h="523875">
                  <a:moveTo>
                    <a:pt x="114300" y="0"/>
                  </a:moveTo>
                  <a:lnTo>
                    <a:pt x="3409950" y="0"/>
                  </a:lnTo>
                  <a:cubicBezTo>
                    <a:pt x="3473076" y="0"/>
                    <a:pt x="3524250" y="51174"/>
                    <a:pt x="3524250" y="114300"/>
                  </a:cubicBezTo>
                  <a:lnTo>
                    <a:pt x="3524250" y="409575"/>
                  </a:lnTo>
                  <a:cubicBezTo>
                    <a:pt x="3524250" y="472701"/>
                    <a:pt x="3473076" y="523875"/>
                    <a:pt x="3409950" y="523875"/>
                  </a:cubicBezTo>
                  <a:lnTo>
                    <a:pt x="114300" y="523875"/>
                  </a:lnTo>
                  <a:cubicBezTo>
                    <a:pt x="51174" y="523875"/>
                    <a:pt x="0" y="472701"/>
                    <a:pt x="0" y="409575"/>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sp>
        <p:sp>
          <p:nvSpPr>
            <p:cNvPr id="22" name="Rectangle 22"/>
            <p:cNvSpPr/>
            <p:nvPr/>
          </p:nvSpPr>
          <p:spPr>
            <a:xfrm>
              <a:off x="4333875" y="1362075"/>
              <a:ext cx="3524250" cy="114300"/>
            </a:xfrm>
            <a:prstGeom prst="rect">
              <a:avLst/>
            </a:prstGeom>
            <a:solidFill>
              <a:srgbClr val="0B4DA2"/>
            </a:solidFill>
            <a:ln>
              <a:noFill/>
            </a:ln>
            <a:effectLst>
              <a:outerShdw blurRad="190500" dist="38100" dir="10799140" algn="tl" rotWithShape="0">
                <a:srgbClr val="000000">
                  <a:alpha val="12000"/>
                </a:srgbClr>
              </a:outerShdw>
            </a:effectLst>
          </p:spPr>
        </p:sp>
        <p:sp>
          <p:nvSpPr>
            <p:cNvPr id="23" name="Freeform 23"/>
            <p:cNvSpPr/>
            <p:nvPr/>
          </p:nvSpPr>
          <p:spPr>
            <a:xfrm>
              <a:off x="4538662" y="1095375"/>
              <a:ext cx="200025" cy="228600"/>
            </a:xfrm>
            <a:custGeom>
              <a:avLst/>
              <a:gdLst/>
              <a:ahLst/>
              <a:cxnLst/>
              <a:rect l="l" t="t" r="r" b="b"/>
              <a:pathLst>
                <a:path w="200025" h="228600">
                  <a:moveTo>
                    <a:pt x="100012" y="228600"/>
                  </a:moveTo>
                  <a:lnTo>
                    <a:pt x="47864" y="191351"/>
                  </a:lnTo>
                  <a:cubicBezTo>
                    <a:pt x="17827" y="169896"/>
                    <a:pt x="0" y="135255"/>
                    <a:pt x="0" y="98342"/>
                  </a:cubicBezTo>
                  <a:lnTo>
                    <a:pt x="0" y="42862"/>
                  </a:lnTo>
                  <a:lnTo>
                    <a:pt x="100012" y="0"/>
                  </a:lnTo>
                  <a:lnTo>
                    <a:pt x="200025" y="42862"/>
                  </a:lnTo>
                  <a:lnTo>
                    <a:pt x="200025" y="98342"/>
                  </a:lnTo>
                  <a:cubicBezTo>
                    <a:pt x="200025" y="135255"/>
                    <a:pt x="182198" y="169896"/>
                    <a:pt x="152160" y="191351"/>
                  </a:cubicBezTo>
                  <a:lnTo>
                    <a:pt x="100012" y="228600"/>
                  </a:lnTo>
                  <a:close/>
                  <a:moveTo>
                    <a:pt x="160121" y="81540"/>
                  </a:moveTo>
                  <a:lnTo>
                    <a:pt x="139916" y="61335"/>
                  </a:lnTo>
                  <a:lnTo>
                    <a:pt x="85725" y="115526"/>
                  </a:lnTo>
                  <a:lnTo>
                    <a:pt x="60109" y="89910"/>
                  </a:lnTo>
                  <a:lnTo>
                    <a:pt x="39903" y="110115"/>
                  </a:lnTo>
                  <a:lnTo>
                    <a:pt x="85725" y="155937"/>
                  </a:lnTo>
                  <a:lnTo>
                    <a:pt x="160121" y="81540"/>
                  </a:lnTo>
                  <a:close/>
                </a:path>
              </a:pathLst>
            </a:custGeom>
            <a:solidFill>
              <a:srgbClr val="FFFFFF"/>
            </a:solidFill>
            <a:ln>
              <a:noFill/>
            </a:ln>
            <a:effectLst>
              <a:outerShdw blurRad="190500" dist="38100" dir="10799140" algn="tl" rotWithShape="0">
                <a:srgbClr val="000000">
                  <a:alpha val="12000"/>
                </a:srgbClr>
              </a:outerShdw>
            </a:effectLst>
          </p:spPr>
        </p:sp>
        <p:sp>
          <p:nvSpPr>
            <p:cNvPr id="24" name="TextBox 24"/>
            <p:cNvSpPr txBox="1"/>
            <p:nvPr/>
          </p:nvSpPr>
          <p:spPr>
            <a:xfrm>
              <a:off x="4840605" y="1140142"/>
              <a:ext cx="1348904"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FFFFFF"/>
                  </a:solidFill>
                  <a:latin typeface="Arial"/>
                  <a:ea typeface="Microsoft YaHei"/>
                  <a:cs typeface="Arial"/>
                </a:rPr>
                <a:t>Rate Limiting</a:t>
              </a:r>
            </a:p>
          </p:txBody>
        </p:sp>
      </p:grpSp>
      <p:sp>
        <p:nvSpPr>
          <p:cNvPr id="26" name="TextBox 26"/>
          <p:cNvSpPr txBox="1"/>
          <p:nvPr/>
        </p:nvSpPr>
        <p:spPr>
          <a:xfrm>
            <a:off x="4605338" y="1688306"/>
            <a:ext cx="1589484"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Giới hạn request API</a:t>
            </a:r>
          </a:p>
        </p:txBody>
      </p:sp>
      <p:sp>
        <p:nvSpPr>
          <p:cNvPr id="27" name="TextBox 27"/>
          <p:cNvSpPr txBox="1"/>
          <p:nvPr/>
        </p:nvSpPr>
        <p:spPr>
          <a:xfrm>
            <a:off x="4606290" y="1934528"/>
            <a:ext cx="1966579"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Max 100 req/phút mỗi user</a:t>
            </a:r>
          </a:p>
        </p:txBody>
      </p:sp>
      <p:sp>
        <p:nvSpPr>
          <p:cNvPr id="28" name="Freeform 28"/>
          <p:cNvSpPr/>
          <p:nvPr/>
        </p:nvSpPr>
        <p:spPr>
          <a:xfrm>
            <a:off x="4619625" y="2286000"/>
            <a:ext cx="2952750" cy="952500"/>
          </a:xfrm>
          <a:custGeom>
            <a:avLst/>
            <a:gdLst/>
            <a:ahLst/>
            <a:cxnLst/>
            <a:rect l="l" t="t" r="r" b="b"/>
            <a:pathLst>
              <a:path w="2952750" h="952500">
                <a:moveTo>
                  <a:pt x="76200" y="0"/>
                </a:moveTo>
                <a:lnTo>
                  <a:pt x="2876550" y="0"/>
                </a:lnTo>
                <a:cubicBezTo>
                  <a:pt x="2918634" y="0"/>
                  <a:pt x="2952750" y="34116"/>
                  <a:pt x="2952750" y="76200"/>
                </a:cubicBezTo>
                <a:lnTo>
                  <a:pt x="2952750" y="876300"/>
                </a:lnTo>
                <a:cubicBezTo>
                  <a:pt x="2952750" y="918384"/>
                  <a:pt x="2918634" y="952500"/>
                  <a:pt x="2876550" y="952500"/>
                </a:cubicBezTo>
                <a:lnTo>
                  <a:pt x="76200" y="952500"/>
                </a:lnTo>
                <a:cubicBezTo>
                  <a:pt x="34116" y="952500"/>
                  <a:pt x="0" y="918384"/>
                  <a:pt x="0" y="876300"/>
                </a:cubicBezTo>
                <a:lnTo>
                  <a:pt x="0" y="76200"/>
                </a:lnTo>
                <a:cubicBezTo>
                  <a:pt x="0" y="34116"/>
                  <a:pt x="34116" y="0"/>
                  <a:pt x="76200" y="0"/>
                </a:cubicBezTo>
                <a:close/>
              </a:path>
            </a:pathLst>
          </a:custGeom>
          <a:solidFill>
            <a:srgbClr val="1E293B"/>
          </a:solidFill>
          <a:ln>
            <a:noFill/>
          </a:ln>
        </p:spPr>
      </p:sp>
      <p:sp>
        <p:nvSpPr>
          <p:cNvPr id="29" name="TextBox 29"/>
          <p:cNvSpPr txBox="1"/>
          <p:nvPr/>
        </p:nvSpPr>
        <p:spPr>
          <a:xfrm>
            <a:off x="4751070" y="2455545"/>
            <a:ext cx="1008697"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INCR rate:user1</a:t>
            </a:r>
          </a:p>
        </p:txBody>
      </p:sp>
      <p:sp>
        <p:nvSpPr>
          <p:cNvPr id="30" name="TextBox 30"/>
          <p:cNvSpPr txBox="1"/>
          <p:nvPr/>
        </p:nvSpPr>
        <p:spPr>
          <a:xfrm>
            <a:off x="4751070" y="2646045"/>
            <a:ext cx="1337310"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EXPIRE rate:user1 60</a:t>
            </a:r>
          </a:p>
        </p:txBody>
      </p:sp>
      <p:sp>
        <p:nvSpPr>
          <p:cNvPr id="31" name="TextBox 31"/>
          <p:cNvSpPr txBox="1"/>
          <p:nvPr/>
        </p:nvSpPr>
        <p:spPr>
          <a:xfrm>
            <a:off x="4751070" y="2931795"/>
            <a:ext cx="1495044" cy="182880"/>
          </a:xfrm>
          <a:prstGeom prst="rect">
            <a:avLst/>
          </a:prstGeom>
          <a:noFill/>
          <a:ln>
            <a:noFill/>
          </a:ln>
        </p:spPr>
        <p:txBody>
          <a:bodyPr wrap="none" lIns="0" tIns="0" rIns="0" bIns="0" anchor="t" anchorCtr="0">
            <a:spAutoFit/>
          </a:bodyPr>
          <a:lstStyle/>
          <a:p>
            <a:pPr algn="l"/>
            <a:r>
              <a:rPr lang="zh-CN" sz="900" dirty="0">
                <a:solidFill>
                  <a:srgbClr val="718096"/>
                </a:solidFill>
                <a:latin typeface="Consolas"/>
                <a:ea typeface="Microsoft YaHei"/>
                <a:cs typeface="Consolas"/>
              </a:rPr>
              <a:t># Nếu GET &gt; 100 → reject</a:t>
            </a:r>
          </a:p>
        </p:txBody>
      </p:sp>
      <p:grpSp>
        <p:nvGrpSpPr>
          <p:cNvPr id="39" name="Group 39"/>
          <p:cNvGrpSpPr/>
          <p:nvPr/>
        </p:nvGrpSpPr>
        <p:grpSpPr>
          <a:xfrm>
            <a:off x="8096250" y="952500"/>
            <a:ext cx="3524250" cy="5048250"/>
            <a:chOff x="8096250" y="952500"/>
            <a:chExt cx="3524250" cy="5048250"/>
          </a:xfrm>
          <a:effectLst>
            <a:outerShdw blurRad="190500" dist="38100" dir="10799140" algn="tl" rotWithShape="0">
              <a:srgbClr val="000000">
                <a:alpha val="12000"/>
              </a:srgbClr>
            </a:outerShdw>
          </a:effectLst>
        </p:grpSpPr>
        <p:sp>
          <p:nvSpPr>
            <p:cNvPr id="32" name="Freeform 32"/>
            <p:cNvSpPr/>
            <p:nvPr/>
          </p:nvSpPr>
          <p:spPr>
            <a:xfrm>
              <a:off x="809625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3" name="Freeform 33"/>
            <p:cNvSpPr/>
            <p:nvPr/>
          </p:nvSpPr>
          <p:spPr>
            <a:xfrm>
              <a:off x="8096250" y="952500"/>
              <a:ext cx="3524250" cy="523875"/>
            </a:xfrm>
            <a:custGeom>
              <a:avLst/>
              <a:gdLst/>
              <a:ahLst/>
              <a:cxnLst/>
              <a:rect l="l" t="t" r="r" b="b"/>
              <a:pathLst>
                <a:path w="3524250" h="523875">
                  <a:moveTo>
                    <a:pt x="114300" y="0"/>
                  </a:moveTo>
                  <a:lnTo>
                    <a:pt x="3409950" y="0"/>
                  </a:lnTo>
                  <a:cubicBezTo>
                    <a:pt x="3473076" y="0"/>
                    <a:pt x="3524250" y="51174"/>
                    <a:pt x="3524250" y="114300"/>
                  </a:cubicBezTo>
                  <a:lnTo>
                    <a:pt x="3524250" y="409575"/>
                  </a:lnTo>
                  <a:cubicBezTo>
                    <a:pt x="3524250" y="472701"/>
                    <a:pt x="3473076" y="523875"/>
                    <a:pt x="3409950" y="523875"/>
                  </a:cubicBezTo>
                  <a:lnTo>
                    <a:pt x="114300" y="523875"/>
                  </a:lnTo>
                  <a:cubicBezTo>
                    <a:pt x="51174" y="523875"/>
                    <a:pt x="0" y="472701"/>
                    <a:pt x="0" y="409575"/>
                  </a:cubicBezTo>
                  <a:lnTo>
                    <a:pt x="0" y="114300"/>
                  </a:lnTo>
                  <a:cubicBezTo>
                    <a:pt x="0" y="51174"/>
                    <a:pt x="51174" y="0"/>
                    <a:pt x="114300" y="0"/>
                  </a:cubicBezTo>
                  <a:close/>
                </a:path>
              </a:pathLst>
            </a:custGeom>
            <a:solidFill>
              <a:srgbClr val="2E7D32"/>
            </a:solidFill>
            <a:ln>
              <a:noFill/>
            </a:ln>
            <a:effectLst>
              <a:outerShdw blurRad="190500" dist="38100" dir="10799140" algn="tl" rotWithShape="0">
                <a:srgbClr val="000000">
                  <a:alpha val="12000"/>
                </a:srgbClr>
              </a:outerShdw>
            </a:effectLst>
          </p:spPr>
        </p:sp>
        <p:sp>
          <p:nvSpPr>
            <p:cNvPr id="34" name="Rectangle 34"/>
            <p:cNvSpPr/>
            <p:nvPr/>
          </p:nvSpPr>
          <p:spPr>
            <a:xfrm>
              <a:off x="8096250" y="1362075"/>
              <a:ext cx="3524250" cy="114300"/>
            </a:xfrm>
            <a:prstGeom prst="rect">
              <a:avLst/>
            </a:prstGeom>
            <a:solidFill>
              <a:srgbClr val="2E7D32"/>
            </a:solidFill>
            <a:ln>
              <a:noFill/>
            </a:ln>
            <a:effectLst>
              <a:outerShdw blurRad="190500" dist="38100" dir="10799140" algn="tl" rotWithShape="0">
                <a:srgbClr val="000000">
                  <a:alpha val="12000"/>
                </a:srgbClr>
              </a:outerShdw>
            </a:effectLst>
          </p:spPr>
        </p:sp>
        <p:grpSp>
          <p:nvGrpSpPr>
            <p:cNvPr id="37" name="Group 37"/>
            <p:cNvGrpSpPr/>
            <p:nvPr/>
          </p:nvGrpSpPr>
          <p:grpSpPr>
            <a:xfrm>
              <a:off x="8286750" y="1095375"/>
              <a:ext cx="228600" cy="228601"/>
              <a:chOff x="8286750" y="1095375"/>
              <a:chExt cx="228600" cy="228601"/>
            </a:xfrm>
          </p:grpSpPr>
          <p:sp>
            <p:nvSpPr>
              <p:cNvPr id="35" name="Freeform 35"/>
              <p:cNvSpPr/>
              <p:nvPr/>
            </p:nvSpPr>
            <p:spPr>
              <a:xfrm>
                <a:off x="8286750" y="1095375"/>
                <a:ext cx="228600" cy="128588"/>
              </a:xfrm>
              <a:custGeom>
                <a:avLst/>
                <a:gdLst/>
                <a:ahLst/>
                <a:cxnLst/>
                <a:rect l="l" t="t" r="r" b="b"/>
                <a:pathLst>
                  <a:path w="228600" h="128588">
                    <a:moveTo>
                      <a:pt x="114300" y="0"/>
                    </a:moveTo>
                    <a:cubicBezTo>
                      <a:pt x="145863" y="0"/>
                      <a:pt x="171450" y="25587"/>
                      <a:pt x="171450" y="57150"/>
                    </a:cubicBezTo>
                    <a:lnTo>
                      <a:pt x="171450" y="71438"/>
                    </a:lnTo>
                    <a:cubicBezTo>
                      <a:pt x="203013" y="71438"/>
                      <a:pt x="228600" y="97024"/>
                      <a:pt x="228600" y="128588"/>
                    </a:cubicBezTo>
                    <a:lnTo>
                      <a:pt x="0" y="128588"/>
                    </a:lnTo>
                    <a:lnTo>
                      <a:pt x="0" y="114300"/>
                    </a:lnTo>
                    <a:cubicBezTo>
                      <a:pt x="0" y="82737"/>
                      <a:pt x="25587" y="57150"/>
                      <a:pt x="57150" y="57150"/>
                    </a:cubicBezTo>
                    <a:cubicBezTo>
                      <a:pt x="57150" y="25587"/>
                      <a:pt x="82737"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36" name="Freeform 36"/>
              <p:cNvSpPr/>
              <p:nvPr/>
            </p:nvSpPr>
            <p:spPr>
              <a:xfrm>
                <a:off x="8343900" y="1252538"/>
                <a:ext cx="100012" cy="71438"/>
              </a:xfrm>
              <a:custGeom>
                <a:avLst/>
                <a:gdLst/>
                <a:ahLst/>
                <a:cxnLst/>
                <a:rect l="l" t="t" r="r" b="b"/>
                <a:pathLst>
                  <a:path w="100012" h="71438">
                    <a:moveTo>
                      <a:pt x="100012" y="0"/>
                    </a:moveTo>
                    <a:lnTo>
                      <a:pt x="57150" y="71438"/>
                    </a:lnTo>
                    <a:lnTo>
                      <a:pt x="28575" y="71438"/>
                    </a:lnTo>
                    <a:lnTo>
                      <a:pt x="42862" y="28575"/>
                    </a:lnTo>
                    <a:lnTo>
                      <a:pt x="0" y="28575"/>
                    </a:lnTo>
                    <a:lnTo>
                      <a:pt x="7144" y="0"/>
                    </a:lnTo>
                    <a:lnTo>
                      <a:pt x="100012" y="0"/>
                    </a:lnTo>
                    <a:close/>
                  </a:path>
                </a:pathLst>
              </a:custGeom>
              <a:solidFill>
                <a:srgbClr val="FFFFFF"/>
              </a:solidFill>
              <a:ln>
                <a:noFill/>
              </a:ln>
              <a:effectLst>
                <a:outerShdw blurRad="190500" dist="38100" dir="10799140" algn="tl" rotWithShape="0">
                  <a:srgbClr val="000000">
                    <a:alpha val="12000"/>
                  </a:srgbClr>
                </a:outerShdw>
              </a:effectLst>
            </p:spPr>
          </p:sp>
        </p:grpSp>
        <p:sp>
          <p:nvSpPr>
            <p:cNvPr id="38" name="TextBox 38"/>
            <p:cNvSpPr txBox="1"/>
            <p:nvPr/>
          </p:nvSpPr>
          <p:spPr>
            <a:xfrm>
              <a:off x="8602980" y="1140142"/>
              <a:ext cx="1276445"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FFFFFF"/>
                  </a:solidFill>
                  <a:latin typeface="Arial"/>
                  <a:ea typeface="Microsoft YaHei"/>
                  <a:cs typeface="Arial"/>
                </a:rPr>
                <a:t>Cache Query</a:t>
              </a:r>
            </a:p>
          </p:txBody>
        </p:sp>
      </p:grpSp>
      <p:sp>
        <p:nvSpPr>
          <p:cNvPr id="40" name="TextBox 40"/>
          <p:cNvSpPr txBox="1"/>
          <p:nvPr/>
        </p:nvSpPr>
        <p:spPr>
          <a:xfrm>
            <a:off x="8367712" y="1688306"/>
            <a:ext cx="2394585"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Cache kết quả database query</a:t>
            </a:r>
          </a:p>
        </p:txBody>
      </p:sp>
      <p:sp>
        <p:nvSpPr>
          <p:cNvPr id="41" name="TextBox 41"/>
          <p:cNvSpPr txBox="1"/>
          <p:nvPr/>
        </p:nvSpPr>
        <p:spPr>
          <a:xfrm>
            <a:off x="8368665" y="1934528"/>
            <a:ext cx="2319290"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Giảm tải DB, tăng tốc response</a:t>
            </a:r>
          </a:p>
        </p:txBody>
      </p:sp>
      <p:sp>
        <p:nvSpPr>
          <p:cNvPr id="42" name="Freeform 42"/>
          <p:cNvSpPr/>
          <p:nvPr/>
        </p:nvSpPr>
        <p:spPr>
          <a:xfrm>
            <a:off x="8382000" y="2286000"/>
            <a:ext cx="2952750" cy="1333500"/>
          </a:xfrm>
          <a:custGeom>
            <a:avLst/>
            <a:gdLst/>
            <a:ahLst/>
            <a:cxnLst/>
            <a:rect l="l" t="t" r="r" b="b"/>
            <a:pathLst>
              <a:path w="2952750" h="1333500">
                <a:moveTo>
                  <a:pt x="76200" y="0"/>
                </a:moveTo>
                <a:lnTo>
                  <a:pt x="2876550" y="0"/>
                </a:lnTo>
                <a:cubicBezTo>
                  <a:pt x="2918634" y="0"/>
                  <a:pt x="2952750" y="34116"/>
                  <a:pt x="2952750" y="76200"/>
                </a:cubicBezTo>
                <a:lnTo>
                  <a:pt x="2952750" y="1257300"/>
                </a:lnTo>
                <a:cubicBezTo>
                  <a:pt x="2952750" y="1299384"/>
                  <a:pt x="2918634" y="1333500"/>
                  <a:pt x="2876550" y="1333500"/>
                </a:cubicBezTo>
                <a:lnTo>
                  <a:pt x="76200" y="1333500"/>
                </a:lnTo>
                <a:cubicBezTo>
                  <a:pt x="34116" y="1333500"/>
                  <a:pt x="0" y="1299384"/>
                  <a:pt x="0" y="1257300"/>
                </a:cubicBezTo>
                <a:lnTo>
                  <a:pt x="0" y="76200"/>
                </a:lnTo>
                <a:cubicBezTo>
                  <a:pt x="0" y="34116"/>
                  <a:pt x="34116" y="0"/>
                  <a:pt x="76200" y="0"/>
                </a:cubicBezTo>
                <a:close/>
              </a:path>
            </a:pathLst>
          </a:custGeom>
          <a:solidFill>
            <a:srgbClr val="1E293B"/>
          </a:solidFill>
          <a:ln>
            <a:noFill/>
          </a:ln>
        </p:spPr>
      </p:sp>
      <p:sp>
        <p:nvSpPr>
          <p:cNvPr id="43" name="TextBox 43"/>
          <p:cNvSpPr txBox="1"/>
          <p:nvPr/>
        </p:nvSpPr>
        <p:spPr>
          <a:xfrm>
            <a:off x="8513445" y="2455545"/>
            <a:ext cx="1297876" cy="182880"/>
          </a:xfrm>
          <a:prstGeom prst="rect">
            <a:avLst/>
          </a:prstGeom>
          <a:noFill/>
          <a:ln>
            <a:noFill/>
          </a:ln>
        </p:spPr>
        <p:txBody>
          <a:bodyPr wrap="none" lIns="0" tIns="0" rIns="0" bIns="0" anchor="t" anchorCtr="0">
            <a:spAutoFit/>
          </a:bodyPr>
          <a:lstStyle/>
          <a:p>
            <a:pPr algn="l"/>
            <a:r>
              <a:rPr lang="zh-CN" sz="900" dirty="0">
                <a:solidFill>
                  <a:srgbClr val="718096"/>
                </a:solidFill>
                <a:latin typeface="Consolas"/>
                <a:ea typeface="Microsoft YaHei"/>
                <a:cs typeface="Consolas"/>
              </a:rPr>
              <a:t># Check cache trước</a:t>
            </a:r>
          </a:p>
        </p:txBody>
      </p:sp>
      <p:sp>
        <p:nvSpPr>
          <p:cNvPr id="44" name="TextBox 44"/>
          <p:cNvSpPr txBox="1"/>
          <p:nvPr/>
        </p:nvSpPr>
        <p:spPr>
          <a:xfrm>
            <a:off x="8513445" y="2646045"/>
            <a:ext cx="1291304"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GET cache:products</a:t>
            </a:r>
          </a:p>
        </p:txBody>
      </p:sp>
      <p:sp>
        <p:nvSpPr>
          <p:cNvPr id="45" name="TextBox 45"/>
          <p:cNvSpPr txBox="1"/>
          <p:nvPr/>
        </p:nvSpPr>
        <p:spPr>
          <a:xfrm>
            <a:off x="8513445" y="2836545"/>
            <a:ext cx="1015270" cy="182880"/>
          </a:xfrm>
          <a:prstGeom prst="rect">
            <a:avLst/>
          </a:prstGeom>
          <a:noFill/>
          <a:ln>
            <a:noFill/>
          </a:ln>
        </p:spPr>
        <p:txBody>
          <a:bodyPr wrap="none" lIns="0" tIns="0" rIns="0" bIns="0" anchor="t" anchorCtr="0">
            <a:spAutoFit/>
          </a:bodyPr>
          <a:lstStyle/>
          <a:p>
            <a:pPr algn="l"/>
            <a:r>
              <a:rPr lang="zh-CN" sz="900" dirty="0">
                <a:solidFill>
                  <a:srgbClr val="FF6B35"/>
                </a:solidFill>
                <a:latin typeface="Consolas"/>
                <a:ea typeface="Microsoft YaHei"/>
                <a:cs typeface="Consolas"/>
              </a:rPr>
              <a:t>(nil) → query DB</a:t>
            </a:r>
          </a:p>
        </p:txBody>
      </p:sp>
      <p:sp>
        <p:nvSpPr>
          <p:cNvPr id="46" name="TextBox 46"/>
          <p:cNvSpPr txBox="1"/>
          <p:nvPr/>
        </p:nvSpPr>
        <p:spPr>
          <a:xfrm>
            <a:off x="8513445" y="3122295"/>
            <a:ext cx="1449038" cy="182880"/>
          </a:xfrm>
          <a:prstGeom prst="rect">
            <a:avLst/>
          </a:prstGeom>
          <a:noFill/>
          <a:ln>
            <a:noFill/>
          </a:ln>
        </p:spPr>
        <p:txBody>
          <a:bodyPr wrap="none" lIns="0" tIns="0" rIns="0" bIns="0" anchor="t" anchorCtr="0">
            <a:spAutoFit/>
          </a:bodyPr>
          <a:lstStyle/>
          <a:p>
            <a:pPr algn="l"/>
            <a:r>
              <a:rPr lang="zh-CN" sz="900" dirty="0">
                <a:solidFill>
                  <a:srgbClr val="718096"/>
                </a:solidFill>
                <a:latin typeface="Consolas"/>
                <a:ea typeface="Microsoft YaHei"/>
                <a:cs typeface="Consolas"/>
              </a:rPr>
              <a:t># Lưu vào cache 5 phút</a:t>
            </a:r>
          </a:p>
        </p:txBody>
      </p:sp>
      <p:sp>
        <p:nvSpPr>
          <p:cNvPr id="47" name="TextBox 47"/>
          <p:cNvSpPr txBox="1"/>
          <p:nvPr/>
        </p:nvSpPr>
        <p:spPr>
          <a:xfrm>
            <a:off x="8513445" y="3312795"/>
            <a:ext cx="1291304"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SET cache:products</a:t>
            </a:r>
          </a:p>
        </p:txBody>
      </p:sp>
      <p:sp>
        <p:nvSpPr>
          <p:cNvPr id="48" name="TextBox 48"/>
          <p:cNvSpPr txBox="1"/>
          <p:nvPr/>
        </p:nvSpPr>
        <p:spPr>
          <a:xfrm>
            <a:off x="8703945" y="3474720"/>
            <a:ext cx="969264"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 EX 300</a:t>
            </a:r>
          </a:p>
        </p:txBody>
      </p:sp>
      <p:sp>
        <p:nvSpPr>
          <p:cNvPr id="49" name="TextBox 49"/>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23 / 25</a:t>
            </a:r>
          </a:p>
        </p:txBody>
      </p:sp>
    </p:spTree>
  </p:cSld>
  <p:clrMapOvr>
    <a:masterClrMapping/>
  </p:clrMapOvr>
  <p:transition dur="400">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12B1F"/>
          </a:solidFill>
          <a:ln>
            <a:noFill/>
          </a:ln>
        </p:spPr>
      </p:sp>
      <p:sp>
        <p:nvSpPr>
          <p:cNvPr id="4" name="TextBox 4"/>
          <p:cNvSpPr txBox="1"/>
          <p:nvPr/>
        </p:nvSpPr>
        <p:spPr>
          <a:xfrm>
            <a:off x="541020" y="264795"/>
            <a:ext cx="6207328"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Tổng kết các lệnh Redis quan trọng</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sp>
      <p:sp>
        <p:nvSpPr>
          <p:cNvPr id="6" name="Freeform 6"/>
          <p:cNvSpPr/>
          <p:nvPr/>
        </p:nvSpPr>
        <p:spPr>
          <a:xfrm>
            <a:off x="571500" y="857250"/>
            <a:ext cx="11049000" cy="5334000"/>
          </a:xfrm>
          <a:custGeom>
            <a:avLst/>
            <a:gdLst/>
            <a:ahLst/>
            <a:cxnLst/>
            <a:rect l="l" t="t" r="r" b="b"/>
            <a:pathLst>
              <a:path w="11049000" h="5334000">
                <a:moveTo>
                  <a:pt x="114300" y="0"/>
                </a:moveTo>
                <a:lnTo>
                  <a:pt x="10934700" y="0"/>
                </a:lnTo>
                <a:cubicBezTo>
                  <a:pt x="10997826" y="0"/>
                  <a:pt x="11049000" y="51174"/>
                  <a:pt x="11049000" y="114300"/>
                </a:cubicBezTo>
                <a:lnTo>
                  <a:pt x="11049000" y="5219700"/>
                </a:lnTo>
                <a:cubicBezTo>
                  <a:pt x="11049000" y="5282826"/>
                  <a:pt x="10997826" y="5334000"/>
                  <a:pt x="10934700" y="5334000"/>
                </a:cubicBezTo>
                <a:lnTo>
                  <a:pt x="114300" y="5334000"/>
                </a:lnTo>
                <a:cubicBezTo>
                  <a:pt x="51174" y="5334000"/>
                  <a:pt x="0" y="5282826"/>
                  <a:pt x="0" y="5219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sp>
      <p:sp>
        <p:nvSpPr>
          <p:cNvPr id="7" name="Freeform 7"/>
          <p:cNvSpPr/>
          <p:nvPr/>
        </p:nvSpPr>
        <p:spPr>
          <a:xfrm>
            <a:off x="571500" y="857250"/>
            <a:ext cx="11049000" cy="428625"/>
          </a:xfrm>
          <a:custGeom>
            <a:avLst/>
            <a:gdLst/>
            <a:ahLst/>
            <a:cxnLst/>
            <a:rect l="l" t="t" r="r" b="b"/>
            <a:pathLst>
              <a:path w="11049000" h="428625">
                <a:moveTo>
                  <a:pt x="114300" y="0"/>
                </a:moveTo>
                <a:lnTo>
                  <a:pt x="10934700" y="0"/>
                </a:lnTo>
                <a:cubicBezTo>
                  <a:pt x="10997826" y="0"/>
                  <a:pt x="11049000" y="51174"/>
                  <a:pt x="11049000" y="114300"/>
                </a:cubicBezTo>
                <a:lnTo>
                  <a:pt x="11049000" y="314325"/>
                </a:lnTo>
                <a:cubicBezTo>
                  <a:pt x="11049000" y="377451"/>
                  <a:pt x="10997826" y="428625"/>
                  <a:pt x="10934700" y="428625"/>
                </a:cubicBezTo>
                <a:lnTo>
                  <a:pt x="114300" y="428625"/>
                </a:lnTo>
                <a:cubicBezTo>
                  <a:pt x="51174" y="428625"/>
                  <a:pt x="0" y="377451"/>
                  <a:pt x="0" y="314325"/>
                </a:cubicBezTo>
                <a:lnTo>
                  <a:pt x="0" y="114300"/>
                </a:lnTo>
                <a:cubicBezTo>
                  <a:pt x="0" y="51174"/>
                  <a:pt x="51174" y="0"/>
                  <a:pt x="114300" y="0"/>
                </a:cubicBezTo>
                <a:close/>
              </a:path>
            </a:pathLst>
          </a:custGeom>
          <a:solidFill>
            <a:srgbClr val="0B4DA2"/>
          </a:solidFill>
          <a:ln>
            <a:noFill/>
          </a:ln>
        </p:spPr>
      </p:sp>
      <p:sp>
        <p:nvSpPr>
          <p:cNvPr id="8" name="Rectangle 8"/>
          <p:cNvSpPr/>
          <p:nvPr/>
        </p:nvSpPr>
        <p:spPr>
          <a:xfrm>
            <a:off x="571500" y="1171575"/>
            <a:ext cx="11049000" cy="114300"/>
          </a:xfrm>
          <a:prstGeom prst="rect">
            <a:avLst/>
          </a:prstGeom>
          <a:solidFill>
            <a:srgbClr val="0B4DA2"/>
          </a:solidFill>
          <a:ln>
            <a:noFill/>
          </a:ln>
        </p:spPr>
      </p:sp>
      <p:sp>
        <p:nvSpPr>
          <p:cNvPr id="9" name="TextBox 9"/>
          <p:cNvSpPr txBox="1"/>
          <p:nvPr/>
        </p:nvSpPr>
        <p:spPr>
          <a:xfrm>
            <a:off x="1302687" y="1021556"/>
            <a:ext cx="44262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Nhóm</a:t>
            </a:r>
          </a:p>
        </p:txBody>
      </p:sp>
      <p:sp>
        <p:nvSpPr>
          <p:cNvPr id="10" name="TextBox 10"/>
          <p:cNvSpPr txBox="1"/>
          <p:nvPr/>
        </p:nvSpPr>
        <p:spPr>
          <a:xfrm>
            <a:off x="4367939" y="1021556"/>
            <a:ext cx="40812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Lệnh</a:t>
            </a:r>
          </a:p>
        </p:txBody>
      </p:sp>
      <p:sp>
        <p:nvSpPr>
          <p:cNvPr id="11" name="TextBox 11"/>
          <p:cNvSpPr txBox="1"/>
          <p:nvPr/>
        </p:nvSpPr>
        <p:spPr>
          <a:xfrm>
            <a:off x="8152787" y="1021556"/>
            <a:ext cx="83942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Chức năng</a:t>
            </a:r>
          </a:p>
        </p:txBody>
      </p:sp>
      <p:sp>
        <p:nvSpPr>
          <p:cNvPr id="12" name="Freeform 12"/>
          <p:cNvSpPr/>
          <p:nvPr/>
        </p:nvSpPr>
        <p:spPr>
          <a:xfrm>
            <a:off x="762000" y="138112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D12B1F">
              <a:alpha val="8000"/>
            </a:srgbClr>
          </a:solidFill>
          <a:ln>
            <a:noFill/>
          </a:ln>
        </p:spPr>
      </p:sp>
      <p:sp>
        <p:nvSpPr>
          <p:cNvPr id="13" name="TextBox 13"/>
          <p:cNvSpPr txBox="1"/>
          <p:nvPr/>
        </p:nvSpPr>
        <p:spPr>
          <a:xfrm>
            <a:off x="1265109" y="1553528"/>
            <a:ext cx="517781" cy="213360"/>
          </a:xfrm>
          <a:prstGeom prst="rect">
            <a:avLst/>
          </a:prstGeom>
          <a:noFill/>
          <a:ln>
            <a:noFill/>
          </a:ln>
        </p:spPr>
        <p:txBody>
          <a:bodyPr wrap="none" lIns="0" tIns="0" rIns="0" bIns="0" anchor="t" anchorCtr="0">
            <a:spAutoFit/>
          </a:bodyPr>
          <a:lstStyle/>
          <a:p>
            <a:pPr algn="ctr"/>
            <a:r>
              <a:rPr lang="zh-CN" sz="1050" b="1" dirty="0">
                <a:solidFill>
                  <a:srgbClr val="D12B1F"/>
                </a:solidFill>
                <a:latin typeface="Arial"/>
                <a:ea typeface="Microsoft YaHei"/>
                <a:cs typeface="Arial"/>
              </a:rPr>
              <a:t>String</a:t>
            </a:r>
          </a:p>
        </p:txBody>
      </p:sp>
      <p:sp>
        <p:nvSpPr>
          <p:cNvPr id="14" name="TextBox 14"/>
          <p:cNvSpPr txBox="1"/>
          <p:nvPr/>
        </p:nvSpPr>
        <p:spPr>
          <a:xfrm>
            <a:off x="3384828" y="1561624"/>
            <a:ext cx="2374344"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SET, GET, INCR, DECR, MSET, MGET</a:t>
            </a:r>
          </a:p>
        </p:txBody>
      </p:sp>
      <p:sp>
        <p:nvSpPr>
          <p:cNvPr id="15" name="TextBox 15"/>
          <p:cNvSpPr txBox="1"/>
          <p:nvPr/>
        </p:nvSpPr>
        <p:spPr>
          <a:xfrm>
            <a:off x="7887283" y="1561624"/>
            <a:ext cx="1370433"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Lưu/đọc chuỗi và số</a:t>
            </a:r>
          </a:p>
        </p:txBody>
      </p:sp>
      <p:sp>
        <p:nvSpPr>
          <p:cNvPr id="16" name="Freeform 16"/>
          <p:cNvSpPr/>
          <p:nvPr/>
        </p:nvSpPr>
        <p:spPr>
          <a:xfrm>
            <a:off x="762000" y="1905000"/>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0B4DA2">
              <a:alpha val="8000"/>
            </a:srgbClr>
          </a:solidFill>
          <a:ln>
            <a:noFill/>
          </a:ln>
        </p:spPr>
      </p:sp>
      <p:sp>
        <p:nvSpPr>
          <p:cNvPr id="17" name="TextBox 17"/>
          <p:cNvSpPr txBox="1"/>
          <p:nvPr/>
        </p:nvSpPr>
        <p:spPr>
          <a:xfrm>
            <a:off x="1333543" y="2077402"/>
            <a:ext cx="380914" cy="213360"/>
          </a:xfrm>
          <a:prstGeom prst="rect">
            <a:avLst/>
          </a:prstGeom>
          <a:noFill/>
          <a:ln>
            <a:noFill/>
          </a:ln>
        </p:spPr>
        <p:txBody>
          <a:bodyPr wrap="none" lIns="0" tIns="0" rIns="0" bIns="0" anchor="t" anchorCtr="0">
            <a:spAutoFit/>
          </a:bodyPr>
          <a:lstStyle/>
          <a:p>
            <a:pPr algn="ctr"/>
            <a:r>
              <a:rPr lang="zh-CN" sz="1050" b="1" dirty="0">
                <a:solidFill>
                  <a:srgbClr val="0B4DA2"/>
                </a:solidFill>
                <a:latin typeface="Arial"/>
                <a:ea typeface="Microsoft YaHei"/>
                <a:cs typeface="Arial"/>
              </a:rPr>
              <a:t>Hash</a:t>
            </a:r>
          </a:p>
        </p:txBody>
      </p:sp>
      <p:sp>
        <p:nvSpPr>
          <p:cNvPr id="18" name="TextBox 18"/>
          <p:cNvSpPr txBox="1"/>
          <p:nvPr/>
        </p:nvSpPr>
        <p:spPr>
          <a:xfrm>
            <a:off x="3317188" y="2085499"/>
            <a:ext cx="2509623"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HSET, HGET, HGETALL, HDEL, HINCRBY</a:t>
            </a:r>
          </a:p>
        </p:txBody>
      </p:sp>
      <p:sp>
        <p:nvSpPr>
          <p:cNvPr id="19" name="TextBox 19"/>
          <p:cNvSpPr txBox="1"/>
          <p:nvPr/>
        </p:nvSpPr>
        <p:spPr>
          <a:xfrm>
            <a:off x="8047482" y="2085499"/>
            <a:ext cx="1050036"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Lưu/đọc object</a:t>
            </a:r>
          </a:p>
        </p:txBody>
      </p:sp>
      <p:sp>
        <p:nvSpPr>
          <p:cNvPr id="20" name="Freeform 20"/>
          <p:cNvSpPr/>
          <p:nvPr/>
        </p:nvSpPr>
        <p:spPr>
          <a:xfrm>
            <a:off x="762000" y="242887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006AF9">
              <a:alpha val="8000"/>
            </a:srgbClr>
          </a:solidFill>
          <a:ln>
            <a:noFill/>
          </a:ln>
        </p:spPr>
      </p:sp>
      <p:sp>
        <p:nvSpPr>
          <p:cNvPr id="21" name="TextBox 21"/>
          <p:cNvSpPr txBox="1"/>
          <p:nvPr/>
        </p:nvSpPr>
        <p:spPr>
          <a:xfrm>
            <a:off x="1353670" y="2601278"/>
            <a:ext cx="340659" cy="213360"/>
          </a:xfrm>
          <a:prstGeom prst="rect">
            <a:avLst/>
          </a:prstGeom>
          <a:noFill/>
          <a:ln>
            <a:noFill/>
          </a:ln>
        </p:spPr>
        <p:txBody>
          <a:bodyPr wrap="none" lIns="0" tIns="0" rIns="0" bIns="0" anchor="t" anchorCtr="0">
            <a:spAutoFit/>
          </a:bodyPr>
          <a:lstStyle/>
          <a:p>
            <a:pPr algn="ctr"/>
            <a:r>
              <a:rPr lang="zh-CN" sz="1050" b="1" dirty="0">
                <a:solidFill>
                  <a:srgbClr val="006AF9"/>
                </a:solidFill>
                <a:latin typeface="Arial"/>
                <a:ea typeface="Microsoft YaHei"/>
                <a:cs typeface="Arial"/>
              </a:rPr>
              <a:t>List</a:t>
            </a:r>
          </a:p>
        </p:txBody>
      </p:sp>
      <p:sp>
        <p:nvSpPr>
          <p:cNvPr id="22" name="TextBox 22"/>
          <p:cNvSpPr txBox="1"/>
          <p:nvPr/>
        </p:nvSpPr>
        <p:spPr>
          <a:xfrm>
            <a:off x="3349228" y="2609374"/>
            <a:ext cx="2445544"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LPUSH, RPUSH, LPOP, RPOP, LRANGE</a:t>
            </a:r>
          </a:p>
        </p:txBody>
      </p:sp>
      <p:sp>
        <p:nvSpPr>
          <p:cNvPr id="23" name="TextBox 23"/>
          <p:cNvSpPr txBox="1"/>
          <p:nvPr/>
        </p:nvSpPr>
        <p:spPr>
          <a:xfrm>
            <a:off x="7933563" y="2609374"/>
            <a:ext cx="1277874"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Danh sách / Queue</a:t>
            </a:r>
          </a:p>
        </p:txBody>
      </p:sp>
      <p:sp>
        <p:nvSpPr>
          <p:cNvPr id="24" name="Freeform 24"/>
          <p:cNvSpPr/>
          <p:nvPr/>
        </p:nvSpPr>
        <p:spPr>
          <a:xfrm>
            <a:off x="762000" y="2952750"/>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2E7D32">
              <a:alpha val="8000"/>
            </a:srgbClr>
          </a:solidFill>
          <a:ln>
            <a:noFill/>
          </a:ln>
        </p:spPr>
      </p:sp>
      <p:sp>
        <p:nvSpPr>
          <p:cNvPr id="25" name="TextBox 25"/>
          <p:cNvSpPr txBox="1"/>
          <p:nvPr/>
        </p:nvSpPr>
        <p:spPr>
          <a:xfrm>
            <a:off x="1377823" y="3125152"/>
            <a:ext cx="292353"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Set</a:t>
            </a:r>
          </a:p>
        </p:txBody>
      </p:sp>
      <p:sp>
        <p:nvSpPr>
          <p:cNvPr id="26" name="TextBox 26"/>
          <p:cNvSpPr txBox="1"/>
          <p:nvPr/>
        </p:nvSpPr>
        <p:spPr>
          <a:xfrm>
            <a:off x="3192589" y="3133249"/>
            <a:ext cx="2758821"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SADD, SMEMBERS, SINTER, SUNION, SDIFF</a:t>
            </a:r>
          </a:p>
        </p:txBody>
      </p:sp>
      <p:sp>
        <p:nvSpPr>
          <p:cNvPr id="27" name="TextBox 27"/>
          <p:cNvSpPr txBox="1"/>
          <p:nvPr/>
        </p:nvSpPr>
        <p:spPr>
          <a:xfrm>
            <a:off x="8303800" y="3133249"/>
            <a:ext cx="53740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Tập hợp</a:t>
            </a:r>
          </a:p>
        </p:txBody>
      </p:sp>
      <p:sp>
        <p:nvSpPr>
          <p:cNvPr id="28" name="Freeform 28"/>
          <p:cNvSpPr/>
          <p:nvPr/>
        </p:nvSpPr>
        <p:spPr>
          <a:xfrm>
            <a:off x="762000" y="347662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FF6B35">
              <a:alpha val="8000"/>
            </a:srgbClr>
          </a:solidFill>
          <a:ln>
            <a:noFill/>
          </a:ln>
        </p:spPr>
      </p:sp>
      <p:sp>
        <p:nvSpPr>
          <p:cNvPr id="29" name="TextBox 29"/>
          <p:cNvSpPr txBox="1"/>
          <p:nvPr/>
        </p:nvSpPr>
        <p:spPr>
          <a:xfrm>
            <a:off x="1087987" y="3649028"/>
            <a:ext cx="872026" cy="213360"/>
          </a:xfrm>
          <a:prstGeom prst="rect">
            <a:avLst/>
          </a:prstGeom>
          <a:noFill/>
          <a:ln>
            <a:noFill/>
          </a:ln>
        </p:spPr>
        <p:txBody>
          <a:bodyPr wrap="none" lIns="0" tIns="0" rIns="0" bIns="0" anchor="t" anchorCtr="0">
            <a:spAutoFit/>
          </a:bodyPr>
          <a:lstStyle/>
          <a:p>
            <a:pPr algn="ctr"/>
            <a:r>
              <a:rPr lang="zh-CN" sz="1050" b="1" dirty="0">
                <a:solidFill>
                  <a:srgbClr val="FF6B35"/>
                </a:solidFill>
                <a:latin typeface="Arial"/>
                <a:ea typeface="Microsoft YaHei"/>
                <a:cs typeface="Arial"/>
              </a:rPr>
              <a:t>Sorted Set</a:t>
            </a:r>
          </a:p>
        </p:txBody>
      </p:sp>
      <p:sp>
        <p:nvSpPr>
          <p:cNvPr id="30" name="TextBox 30"/>
          <p:cNvSpPr txBox="1"/>
          <p:nvPr/>
        </p:nvSpPr>
        <p:spPr>
          <a:xfrm>
            <a:off x="3423987" y="3657124"/>
            <a:ext cx="2296025"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ZADD, ZREVRANGE, ZRANK, ZCOUNT</a:t>
            </a:r>
          </a:p>
        </p:txBody>
      </p:sp>
      <p:sp>
        <p:nvSpPr>
          <p:cNvPr id="31" name="TextBox 31"/>
          <p:cNvSpPr txBox="1"/>
          <p:nvPr/>
        </p:nvSpPr>
        <p:spPr>
          <a:xfrm>
            <a:off x="8303800" y="3657124"/>
            <a:ext cx="53740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Ranking</a:t>
            </a:r>
          </a:p>
        </p:txBody>
      </p:sp>
      <p:sp>
        <p:nvSpPr>
          <p:cNvPr id="32" name="Freeform 32"/>
          <p:cNvSpPr/>
          <p:nvPr/>
        </p:nvSpPr>
        <p:spPr>
          <a:xfrm>
            <a:off x="762000" y="4000500"/>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E5F4F9"/>
          </a:solidFill>
          <a:ln>
            <a:noFill/>
          </a:ln>
        </p:spPr>
      </p:sp>
      <p:sp>
        <p:nvSpPr>
          <p:cNvPr id="33" name="TextBox 33"/>
          <p:cNvSpPr txBox="1"/>
          <p:nvPr/>
        </p:nvSpPr>
        <p:spPr>
          <a:xfrm>
            <a:off x="1377823" y="4172902"/>
            <a:ext cx="292353" cy="213360"/>
          </a:xfrm>
          <a:prstGeom prst="rect">
            <a:avLst/>
          </a:prstGeom>
          <a:noFill/>
          <a:ln>
            <a:noFill/>
          </a:ln>
        </p:spPr>
        <p:txBody>
          <a:bodyPr wrap="none" lIns="0" tIns="0" rIns="0" bIns="0" anchor="t" anchorCtr="0">
            <a:spAutoFit/>
          </a:bodyPr>
          <a:lstStyle/>
          <a:p>
            <a:pPr algn="ctr"/>
            <a:r>
              <a:rPr lang="zh-CN" sz="1050" b="1" dirty="0">
                <a:solidFill>
                  <a:srgbClr val="0B4DA2"/>
                </a:solidFill>
                <a:latin typeface="Arial"/>
                <a:ea typeface="Microsoft YaHei"/>
                <a:cs typeface="Arial"/>
              </a:rPr>
              <a:t>Key</a:t>
            </a:r>
          </a:p>
        </p:txBody>
      </p:sp>
      <p:sp>
        <p:nvSpPr>
          <p:cNvPr id="34" name="TextBox 34"/>
          <p:cNvSpPr txBox="1"/>
          <p:nvPr/>
        </p:nvSpPr>
        <p:spPr>
          <a:xfrm>
            <a:off x="3274469" y="4180999"/>
            <a:ext cx="2595062"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DEL, EXISTS, EXPIRE, TTL, TYPE, KEYS</a:t>
            </a:r>
          </a:p>
        </p:txBody>
      </p:sp>
      <p:sp>
        <p:nvSpPr>
          <p:cNvPr id="35" name="TextBox 35"/>
          <p:cNvSpPr txBox="1"/>
          <p:nvPr/>
        </p:nvSpPr>
        <p:spPr>
          <a:xfrm>
            <a:off x="8168521" y="4180999"/>
            <a:ext cx="807958"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Quản lý key</a:t>
            </a:r>
          </a:p>
        </p:txBody>
      </p:sp>
      <p:sp>
        <p:nvSpPr>
          <p:cNvPr id="36" name="Freeform 36"/>
          <p:cNvSpPr/>
          <p:nvPr/>
        </p:nvSpPr>
        <p:spPr>
          <a:xfrm>
            <a:off x="762000" y="452437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F5F7FA"/>
          </a:solidFill>
          <a:ln>
            <a:noFill/>
          </a:ln>
        </p:spPr>
      </p:sp>
      <p:sp>
        <p:nvSpPr>
          <p:cNvPr id="37" name="TextBox 37"/>
          <p:cNvSpPr txBox="1"/>
          <p:nvPr/>
        </p:nvSpPr>
        <p:spPr>
          <a:xfrm>
            <a:off x="1200701" y="4696778"/>
            <a:ext cx="646597" cy="213360"/>
          </a:xfrm>
          <a:prstGeom prst="rect">
            <a:avLst/>
          </a:prstGeom>
          <a:noFill/>
          <a:ln>
            <a:noFill/>
          </a:ln>
        </p:spPr>
        <p:txBody>
          <a:bodyPr wrap="none" lIns="0" tIns="0" rIns="0" bIns="0" anchor="t" anchorCtr="0">
            <a:spAutoFit/>
          </a:bodyPr>
          <a:lstStyle/>
          <a:p>
            <a:pPr algn="ctr"/>
            <a:r>
              <a:rPr lang="zh-CN" sz="1050" b="1" dirty="0">
                <a:solidFill>
                  <a:srgbClr val="006AF9"/>
                </a:solidFill>
                <a:latin typeface="Arial"/>
                <a:ea typeface="Microsoft YaHei"/>
                <a:cs typeface="Arial"/>
              </a:rPr>
              <a:t>Pub/Sub</a:t>
            </a:r>
          </a:p>
        </p:txBody>
      </p:sp>
      <p:sp>
        <p:nvSpPr>
          <p:cNvPr id="38" name="TextBox 38"/>
          <p:cNvSpPr txBox="1"/>
          <p:nvPr/>
        </p:nvSpPr>
        <p:spPr>
          <a:xfrm>
            <a:off x="3434667" y="4704874"/>
            <a:ext cx="2274665"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SUBSCRIBE, PUBLISH, UNSUBSCRIBE</a:t>
            </a:r>
          </a:p>
        </p:txBody>
      </p:sp>
      <p:sp>
        <p:nvSpPr>
          <p:cNvPr id="39" name="TextBox 39"/>
          <p:cNvSpPr txBox="1"/>
          <p:nvPr/>
        </p:nvSpPr>
        <p:spPr>
          <a:xfrm>
            <a:off x="8211241" y="4704874"/>
            <a:ext cx="722519"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Messaging</a:t>
            </a:r>
          </a:p>
        </p:txBody>
      </p:sp>
      <p:sp>
        <p:nvSpPr>
          <p:cNvPr id="40" name="Freeform 40"/>
          <p:cNvSpPr/>
          <p:nvPr/>
        </p:nvSpPr>
        <p:spPr>
          <a:xfrm>
            <a:off x="762000" y="5048250"/>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E5F4F9"/>
          </a:solidFill>
          <a:ln>
            <a:noFill/>
          </a:ln>
        </p:spPr>
      </p:sp>
      <p:sp>
        <p:nvSpPr>
          <p:cNvPr id="41" name="TextBox 41"/>
          <p:cNvSpPr txBox="1"/>
          <p:nvPr/>
        </p:nvSpPr>
        <p:spPr>
          <a:xfrm>
            <a:off x="1043707" y="5220652"/>
            <a:ext cx="960587" cy="213360"/>
          </a:xfrm>
          <a:prstGeom prst="rect">
            <a:avLst/>
          </a:prstGeom>
          <a:noFill/>
          <a:ln>
            <a:noFill/>
          </a:ln>
        </p:spPr>
        <p:txBody>
          <a:bodyPr wrap="none" lIns="0" tIns="0" rIns="0" bIns="0" anchor="t" anchorCtr="0">
            <a:spAutoFit/>
          </a:bodyPr>
          <a:lstStyle/>
          <a:p>
            <a:pPr algn="ctr"/>
            <a:r>
              <a:rPr lang="zh-CN" sz="1050" b="1" dirty="0">
                <a:solidFill>
                  <a:srgbClr val="D12B1F"/>
                </a:solidFill>
                <a:latin typeface="Arial"/>
                <a:ea typeface="Microsoft YaHei"/>
                <a:cs typeface="Arial"/>
              </a:rPr>
              <a:t>Transaction</a:t>
            </a:r>
          </a:p>
        </p:txBody>
      </p:sp>
      <p:sp>
        <p:nvSpPr>
          <p:cNvPr id="42" name="TextBox 42"/>
          <p:cNvSpPr txBox="1"/>
          <p:nvPr/>
        </p:nvSpPr>
        <p:spPr>
          <a:xfrm>
            <a:off x="3562826" y="5228749"/>
            <a:ext cx="2018348"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MULTI, EXEC, DISCARD, WATCH</a:t>
            </a:r>
          </a:p>
        </p:txBody>
      </p:sp>
      <p:sp>
        <p:nvSpPr>
          <p:cNvPr id="43" name="TextBox 43"/>
          <p:cNvSpPr txBox="1"/>
          <p:nvPr/>
        </p:nvSpPr>
        <p:spPr>
          <a:xfrm>
            <a:off x="8243280" y="5228749"/>
            <a:ext cx="658439"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Giao dịch</a:t>
            </a:r>
          </a:p>
        </p:txBody>
      </p:sp>
      <p:sp>
        <p:nvSpPr>
          <p:cNvPr id="44" name="Freeform 44"/>
          <p:cNvSpPr/>
          <p:nvPr/>
        </p:nvSpPr>
        <p:spPr>
          <a:xfrm>
            <a:off x="762000" y="557212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F5F7FA"/>
          </a:solidFill>
          <a:ln>
            <a:noFill/>
          </a:ln>
        </p:spPr>
      </p:sp>
      <p:sp>
        <p:nvSpPr>
          <p:cNvPr id="45" name="TextBox 45"/>
          <p:cNvSpPr txBox="1"/>
          <p:nvPr/>
        </p:nvSpPr>
        <p:spPr>
          <a:xfrm>
            <a:off x="1244982" y="5744528"/>
            <a:ext cx="558036" cy="213360"/>
          </a:xfrm>
          <a:prstGeom prst="rect">
            <a:avLst/>
          </a:prstGeom>
          <a:noFill/>
          <a:ln>
            <a:noFill/>
          </a:ln>
        </p:spPr>
        <p:txBody>
          <a:bodyPr wrap="none" lIns="0" tIns="0" rIns="0" bIns="0" anchor="t" anchorCtr="0">
            <a:spAutoFit/>
          </a:bodyPr>
          <a:lstStyle/>
          <a:p>
            <a:pPr algn="ctr"/>
            <a:r>
              <a:rPr lang="zh-CN" sz="1050" b="1" dirty="0">
                <a:solidFill>
                  <a:srgbClr val="0B4DA2"/>
                </a:solidFill>
                <a:latin typeface="Arial"/>
                <a:ea typeface="Microsoft YaHei"/>
                <a:cs typeface="Arial"/>
              </a:rPr>
              <a:t>Server</a:t>
            </a:r>
          </a:p>
        </p:txBody>
      </p:sp>
      <p:sp>
        <p:nvSpPr>
          <p:cNvPr id="46" name="TextBox 46"/>
          <p:cNvSpPr txBox="1"/>
          <p:nvPr/>
        </p:nvSpPr>
        <p:spPr>
          <a:xfrm>
            <a:off x="3594866" y="5752624"/>
            <a:ext cx="1954268"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PING, INFO, DBSIZE, FLUSHDB</a:t>
            </a:r>
          </a:p>
        </p:txBody>
      </p:sp>
      <p:sp>
        <p:nvSpPr>
          <p:cNvPr id="47" name="TextBox 47"/>
          <p:cNvSpPr txBox="1"/>
          <p:nvPr/>
        </p:nvSpPr>
        <p:spPr>
          <a:xfrm>
            <a:off x="8051042" y="5752624"/>
            <a:ext cx="1042916"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Quản lý server</a:t>
            </a:r>
          </a:p>
        </p:txBody>
      </p:sp>
      <p:sp>
        <p:nvSpPr>
          <p:cNvPr id="48" name="TextBox 48"/>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24 / 25</a:t>
            </a:r>
          </a:p>
        </p:txBody>
      </p:sp>
    </p:spTree>
  </p:cSld>
  <p:clrMapOvr>
    <a:masterClrMapping/>
  </p:clrMapOvr>
  <p:transition dur="400">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B4DA2"/>
              </a:gs>
              <a:gs pos="100000">
                <a:srgbClr val="071F4A"/>
              </a:gs>
            </a:gsLst>
            <a:lin ang="2700000" scaled="1"/>
          </a:gradFill>
          <a:ln>
            <a:noFill/>
          </a:ln>
        </p:spPr>
      </p:sp>
      <p:sp>
        <p:nvSpPr>
          <p:cNvPr id="3" name="Ellipse 3"/>
          <p:cNvSpPr/>
          <p:nvPr/>
        </p:nvSpPr>
        <p:spPr>
          <a:xfrm>
            <a:off x="8572500" y="-476250"/>
            <a:ext cx="3810000" cy="3810000"/>
          </a:xfrm>
          <a:prstGeom prst="ellipse">
            <a:avLst/>
          </a:prstGeom>
          <a:solidFill>
            <a:srgbClr val="006AF9">
              <a:alpha val="8000"/>
            </a:srgbClr>
          </a:solidFill>
          <a:ln>
            <a:noFill/>
          </a:ln>
        </p:spPr>
      </p:sp>
      <p:sp>
        <p:nvSpPr>
          <p:cNvPr id="4" name="Ellipse 4"/>
          <p:cNvSpPr/>
          <p:nvPr/>
        </p:nvSpPr>
        <p:spPr>
          <a:xfrm>
            <a:off x="190500" y="4191000"/>
            <a:ext cx="3048000" cy="3048000"/>
          </a:xfrm>
          <a:prstGeom prst="ellipse">
            <a:avLst/>
          </a:prstGeom>
          <a:solidFill>
            <a:srgbClr val="D12B1F">
              <a:alpha val="6000"/>
            </a:srgbClr>
          </a:solidFill>
          <a:ln>
            <a:noFill/>
          </a:ln>
        </p:spPr>
      </p:sp>
      <p:sp>
        <p:nvSpPr>
          <p:cNvPr id="5" name="TextBox 5"/>
          <p:cNvSpPr txBox="1"/>
          <p:nvPr/>
        </p:nvSpPr>
        <p:spPr>
          <a:xfrm>
            <a:off x="4516707" y="1104900"/>
            <a:ext cx="3158585" cy="609600"/>
          </a:xfrm>
          <a:prstGeom prst="rect">
            <a:avLst/>
          </a:prstGeom>
          <a:noFill/>
          <a:ln>
            <a:noFill/>
          </a:ln>
        </p:spPr>
        <p:txBody>
          <a:bodyPr wrap="none" lIns="0" tIns="0" rIns="0" bIns="0" anchor="t" anchorCtr="0">
            <a:spAutoFit/>
          </a:bodyPr>
          <a:lstStyle/>
          <a:p>
            <a:pPr algn="ctr"/>
            <a:r>
              <a:rPr lang="zh-CN" sz="3000" b="1" dirty="0">
                <a:solidFill>
                  <a:srgbClr val="FFFFFF"/>
                </a:solidFill>
                <a:latin typeface="Arial"/>
                <a:ea typeface="Microsoft YaHei"/>
                <a:cs typeface="Arial"/>
              </a:rPr>
              <a:t>Câu hỏi ôn tập</a:t>
            </a:r>
          </a:p>
        </p:txBody>
      </p:sp>
      <p:sp>
        <p:nvSpPr>
          <p:cNvPr id="6" name="Freeform 6"/>
          <p:cNvSpPr/>
          <p:nvPr/>
        </p:nvSpPr>
        <p:spPr>
          <a:xfrm>
            <a:off x="5334000" y="1571625"/>
            <a:ext cx="1524000" cy="28575"/>
          </a:xfrm>
          <a:custGeom>
            <a:avLst/>
            <a:gdLst/>
            <a:ahLst/>
            <a:cxnLst/>
            <a:rect l="l" t="t" r="r" b="b"/>
            <a:pathLst>
              <a:path w="1524000" h="28575">
                <a:moveTo>
                  <a:pt x="14288" y="0"/>
                </a:moveTo>
                <a:lnTo>
                  <a:pt x="1509712" y="0"/>
                </a:lnTo>
                <a:cubicBezTo>
                  <a:pt x="1517603" y="0"/>
                  <a:pt x="1524000" y="6397"/>
                  <a:pt x="1524000" y="14288"/>
                </a:cubicBezTo>
                <a:lnTo>
                  <a:pt x="1524000" y="14288"/>
                </a:lnTo>
                <a:cubicBezTo>
                  <a:pt x="1524000" y="22178"/>
                  <a:pt x="1517603" y="28575"/>
                  <a:pt x="15097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sp>
      <p:sp>
        <p:nvSpPr>
          <p:cNvPr id="7" name="Freeform 7"/>
          <p:cNvSpPr/>
          <p:nvPr/>
        </p:nvSpPr>
        <p:spPr>
          <a:xfrm>
            <a:off x="1905000" y="1905000"/>
            <a:ext cx="8382000" cy="2952750"/>
          </a:xfrm>
          <a:custGeom>
            <a:avLst/>
            <a:gdLst/>
            <a:ahLst/>
            <a:cxnLst/>
            <a:rect l="l" t="t" r="r" b="b"/>
            <a:pathLst>
              <a:path w="8382000" h="2952750">
                <a:moveTo>
                  <a:pt x="152400" y="0"/>
                </a:moveTo>
                <a:lnTo>
                  <a:pt x="8229600" y="0"/>
                </a:lnTo>
                <a:cubicBezTo>
                  <a:pt x="8313768" y="0"/>
                  <a:pt x="8382000" y="68232"/>
                  <a:pt x="8382000" y="152400"/>
                </a:cubicBezTo>
                <a:lnTo>
                  <a:pt x="8382000" y="2800350"/>
                </a:lnTo>
                <a:cubicBezTo>
                  <a:pt x="8382000" y="2884518"/>
                  <a:pt x="8313768" y="2952750"/>
                  <a:pt x="8229600" y="2952750"/>
                </a:cubicBezTo>
                <a:lnTo>
                  <a:pt x="152400" y="2952750"/>
                </a:lnTo>
                <a:cubicBezTo>
                  <a:pt x="68232" y="2952750"/>
                  <a:pt x="0" y="2884518"/>
                  <a:pt x="0" y="2800350"/>
                </a:cubicBezTo>
                <a:lnTo>
                  <a:pt x="0" y="152400"/>
                </a:lnTo>
                <a:cubicBezTo>
                  <a:pt x="0" y="68232"/>
                  <a:pt x="68232" y="0"/>
                  <a:pt x="152400" y="0"/>
                </a:cubicBezTo>
                <a:close/>
              </a:path>
            </a:pathLst>
          </a:custGeom>
          <a:solidFill>
            <a:srgbClr val="FFFFFF">
              <a:alpha val="8000"/>
            </a:srgbClr>
          </a:solidFill>
          <a:ln>
            <a:noFill/>
          </a:ln>
        </p:spPr>
      </p:sp>
      <p:sp>
        <p:nvSpPr>
          <p:cNvPr id="8" name="TextBox 8"/>
          <p:cNvSpPr txBox="1"/>
          <p:nvPr/>
        </p:nvSpPr>
        <p:spPr>
          <a:xfrm>
            <a:off x="2459355" y="2187892"/>
            <a:ext cx="5278945"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1. NoSQL database là gì? Kể tên 4 loại NoSQL database.</a:t>
            </a:r>
          </a:p>
        </p:txBody>
      </p:sp>
      <p:sp>
        <p:nvSpPr>
          <p:cNvPr id="9" name="TextBox 9"/>
          <p:cNvSpPr txBox="1"/>
          <p:nvPr/>
        </p:nvSpPr>
        <p:spPr>
          <a:xfrm>
            <a:off x="2459355" y="2568892"/>
            <a:ext cx="5545122"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2. Redis thuộc loại NoSQL nào? Thuộc nhóm nào trong CAP?</a:t>
            </a:r>
          </a:p>
        </p:txBody>
      </p:sp>
      <p:sp>
        <p:nvSpPr>
          <p:cNvPr id="10" name="TextBox 10"/>
          <p:cNvSpPr txBox="1"/>
          <p:nvPr/>
        </p:nvSpPr>
        <p:spPr>
          <a:xfrm>
            <a:off x="2459355" y="2949892"/>
            <a:ext cx="4125516"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3. Trình bày 3 tính chất của CAP Theorem.</a:t>
            </a:r>
          </a:p>
        </p:txBody>
      </p:sp>
      <p:sp>
        <p:nvSpPr>
          <p:cNvPr id="11" name="TextBox 11"/>
          <p:cNvSpPr txBox="1"/>
          <p:nvPr/>
        </p:nvSpPr>
        <p:spPr>
          <a:xfrm>
            <a:off x="2459355" y="3330892"/>
            <a:ext cx="3386138"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4. So sánh ACID và BASE. Cho ví dụ.</a:t>
            </a:r>
          </a:p>
        </p:txBody>
      </p:sp>
      <p:sp>
        <p:nvSpPr>
          <p:cNvPr id="12" name="TextBox 12"/>
          <p:cNvSpPr txBox="1"/>
          <p:nvPr/>
        </p:nvSpPr>
        <p:spPr>
          <a:xfrm>
            <a:off x="2459355" y="3711892"/>
            <a:ext cx="4608576"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5. Kể tên 5 kiểu dữ liệu trong Redis và ứng dụng.</a:t>
            </a:r>
          </a:p>
        </p:txBody>
      </p:sp>
      <p:sp>
        <p:nvSpPr>
          <p:cNvPr id="13" name="TextBox 13"/>
          <p:cNvSpPr txBox="1"/>
          <p:nvPr/>
        </p:nvSpPr>
        <p:spPr>
          <a:xfrm>
            <a:off x="2459355" y="4092892"/>
            <a:ext cx="5131070"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6. Khi nào nên dùng Redis thay vì RDBMS? Cho 3 ví dụ.</a:t>
            </a:r>
          </a:p>
        </p:txBody>
      </p:sp>
      <p:sp>
        <p:nvSpPr>
          <p:cNvPr id="14" name="TextBox 14"/>
          <p:cNvSpPr txBox="1"/>
          <p:nvPr/>
        </p:nvSpPr>
        <p:spPr>
          <a:xfrm>
            <a:off x="2459355" y="4473892"/>
            <a:ext cx="4440984"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7. Viết lệnh Redis tạo bảng xếp hạng sinh viên.</a:t>
            </a:r>
          </a:p>
        </p:txBody>
      </p:sp>
      <p:sp>
        <p:nvSpPr>
          <p:cNvPr id="15" name="TextBox 15"/>
          <p:cNvSpPr txBox="1"/>
          <p:nvPr/>
        </p:nvSpPr>
        <p:spPr>
          <a:xfrm>
            <a:off x="5070358" y="5040630"/>
            <a:ext cx="2051285"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Cảm ơn!</a:t>
            </a:r>
          </a:p>
        </p:txBody>
      </p:sp>
      <p:sp>
        <p:nvSpPr>
          <p:cNvPr id="16" name="TextBox 16"/>
          <p:cNvSpPr txBox="1"/>
          <p:nvPr/>
        </p:nvSpPr>
        <p:spPr>
          <a:xfrm>
            <a:off x="5808583" y="5648325"/>
            <a:ext cx="574834" cy="304800"/>
          </a:xfrm>
          <a:prstGeom prst="rect">
            <a:avLst/>
          </a:prstGeom>
          <a:noFill/>
          <a:ln>
            <a:noFill/>
          </a:ln>
        </p:spPr>
        <p:txBody>
          <a:bodyPr wrap="none" lIns="0" tIns="0" rIns="0" bIns="0" anchor="t" anchorCtr="0">
            <a:spAutoFit/>
          </a:bodyPr>
          <a:lstStyle/>
          <a:p>
            <a:pPr algn="ctr"/>
            <a:r>
              <a:rPr lang="zh-CN" sz="1500" dirty="0">
                <a:solidFill>
                  <a:srgbClr val="FFFFFF">
                    <a:alpha val="60000"/>
                  </a:srgbClr>
                </a:solidFill>
                <a:latin typeface="Arial"/>
                <a:ea typeface="Microsoft YaHei"/>
                <a:cs typeface="Arial"/>
              </a:rPr>
              <a:t>Q &amp; A</a:t>
            </a:r>
          </a:p>
        </p:txBody>
      </p:sp>
      <p:sp>
        <p:nvSpPr>
          <p:cNvPr id="17" name="TextBox 17"/>
          <p:cNvSpPr txBox="1"/>
          <p:nvPr/>
        </p:nvSpPr>
        <p:spPr>
          <a:xfrm>
            <a:off x="4135088" y="6458902"/>
            <a:ext cx="3921823" cy="213360"/>
          </a:xfrm>
          <a:prstGeom prst="rect">
            <a:avLst/>
          </a:prstGeom>
          <a:noFill/>
          <a:ln>
            <a:noFill/>
          </a:ln>
        </p:spPr>
        <p:txBody>
          <a:bodyPr wrap="none" lIns="0" tIns="0" rIns="0" bIns="0" anchor="t" anchorCtr="0">
            <a:spAutoFit/>
          </a:bodyPr>
          <a:lstStyle/>
          <a:p>
            <a:pPr algn="ctr"/>
            <a:r>
              <a:rPr lang="zh-CN" sz="1050" dirty="0">
                <a:solidFill>
                  <a:srgbClr val="FFFFFF">
                    <a:alpha val="40000"/>
                  </a:srgbClr>
                </a:solidFill>
                <a:latin typeface="Arial"/>
                <a:ea typeface="Microsoft YaHei"/>
                <a:cs typeface="Arial"/>
              </a:rPr>
              <a:t>ĐH Giao thông Vận tải (UTC) — Cao học Big Data — 2026</a:t>
            </a:r>
          </a:p>
        </p:txBody>
      </p:sp>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